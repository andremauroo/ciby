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3fc0a3f7224917" /><Relationship Type="http://schemas.openxmlformats.org/officeDocument/2006/relationships/extended-properties" Target="/docProps/app.xml" Id="Rc3e5edb632314a7d" /><Relationship Type="http://schemas.openxmlformats.org/officeDocument/2006/relationships/officeDocument" Target="/ppt/presentation.xml" Id="R9bf367e7d65c40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17acb8ab3442f0"/>
  </p:sldMasterIdLst>
  <p:notesMasterIdLst>
    <p:notesMasterId xmlns:r="http://schemas.openxmlformats.org/officeDocument/2006/relationships" r:id="R4031c18654a34432"/>
  </p:notesMasterIdLst>
  <p:sldIdLst>
    <p:sldId xmlns:r="http://schemas.openxmlformats.org/officeDocument/2006/relationships" id="256" r:id="R6f6b0f60023b4d9b"/>
    <p:sldId xmlns:r="http://schemas.openxmlformats.org/officeDocument/2006/relationships" id="257" r:id="Ra08d7850c86642b3"/>
    <p:sldId xmlns:r="http://schemas.openxmlformats.org/officeDocument/2006/relationships" id="258" r:id="R528d3eebec5e4bdc"/>
    <p:sldId xmlns:r="http://schemas.openxmlformats.org/officeDocument/2006/relationships" id="259" r:id="R2c563eae4d764cad"/>
    <p:sldId xmlns:r="http://schemas.openxmlformats.org/officeDocument/2006/relationships" id="260" r:id="R62abc30c56264785"/>
    <p:sldId xmlns:r="http://schemas.openxmlformats.org/officeDocument/2006/relationships" id="261" r:id="R7dbf631dc36e4e0c"/>
    <p:sldId xmlns:r="http://schemas.openxmlformats.org/officeDocument/2006/relationships" id="262" r:id="Rd165192b81af4b1b"/>
    <p:sldId xmlns:r="http://schemas.openxmlformats.org/officeDocument/2006/relationships" id="263" r:id="R802eef1a99794512"/>
    <p:sldId xmlns:r="http://schemas.openxmlformats.org/officeDocument/2006/relationships" id="264" r:id="Ra4be9f6dedf4459b"/>
    <p:sldId xmlns:r="http://schemas.openxmlformats.org/officeDocument/2006/relationships" id="265" r:id="R7bbdf125dd53492f"/>
    <p:sldId xmlns:r="http://schemas.openxmlformats.org/officeDocument/2006/relationships" id="266" r:id="Re2430fd4c0b24d83"/>
    <p:sldId xmlns:r="http://schemas.openxmlformats.org/officeDocument/2006/relationships" id="267" r:id="R5f778705eb9349d9"/>
    <p:sldId xmlns:r="http://schemas.openxmlformats.org/officeDocument/2006/relationships" id="268" r:id="R6578951e51cf454b"/>
    <p:sldId xmlns:r="http://schemas.openxmlformats.org/officeDocument/2006/relationships" id="269" r:id="Re865698dd89e48e4"/>
    <p:sldId xmlns:r="http://schemas.openxmlformats.org/officeDocument/2006/relationships" id="270" r:id="R37fbb155d88844cb"/>
    <p:sldId xmlns:r="http://schemas.openxmlformats.org/officeDocument/2006/relationships" id="271" r:id="R159b370bd39542e2"/>
    <p:sldId xmlns:r="http://schemas.openxmlformats.org/officeDocument/2006/relationships" id="272" r:id="Rfd219573cdd54a26"/>
    <p:sldId xmlns:r="http://schemas.openxmlformats.org/officeDocument/2006/relationships" id="273" r:id="R31976c0f2b96459f"/>
    <p:sldId xmlns:r="http://schemas.openxmlformats.org/officeDocument/2006/relationships" id="274" r:id="Rc316d1c70be940fc"/>
    <p:sldId xmlns:r="http://schemas.openxmlformats.org/officeDocument/2006/relationships" id="275" r:id="R76d09924eca7489b"/>
    <p:sldId xmlns:r="http://schemas.openxmlformats.org/officeDocument/2006/relationships" id="276" r:id="R9a3b4cd243684330"/>
    <p:sldId xmlns:r="http://schemas.openxmlformats.org/officeDocument/2006/relationships" id="277" r:id="R313413d58c884f12"/>
    <p:sldId xmlns:r="http://schemas.openxmlformats.org/officeDocument/2006/relationships" id="278" r:id="Raf93a48b83984ddb"/>
    <p:sldId xmlns:r="http://schemas.openxmlformats.org/officeDocument/2006/relationships" id="279" r:id="Ra43a90f57f764301"/>
    <p:sldId xmlns:r="http://schemas.openxmlformats.org/officeDocument/2006/relationships" id="280" r:id="R5d92641d8ec54b36"/>
    <p:sldId xmlns:r="http://schemas.openxmlformats.org/officeDocument/2006/relationships" id="281" r:id="Rde40c427016a42bd"/>
    <p:sldId xmlns:r="http://schemas.openxmlformats.org/officeDocument/2006/relationships" id="282" r:id="Ra130fe6e88aa43d8"/>
    <p:sldId xmlns:r="http://schemas.openxmlformats.org/officeDocument/2006/relationships" id="283" r:id="R70193fb3127a454b"/>
    <p:sldId xmlns:r="http://schemas.openxmlformats.org/officeDocument/2006/relationships" id="284" r:id="Rc649595fe4084d33"/>
    <p:sldId xmlns:r="http://schemas.openxmlformats.org/officeDocument/2006/relationships" id="285" r:id="R06cae484e2524d34"/>
    <p:sldId xmlns:r="http://schemas.openxmlformats.org/officeDocument/2006/relationships" id="286" r:id="R92d268f2b57e46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73089a33d648cf" /><Relationship Type="http://schemas.openxmlformats.org/officeDocument/2006/relationships/slideMaster" Target="/ppt/slideMasters/slideMaster1.xml" Id="R6c17acb8ab3442f0" /><Relationship Type="http://schemas.openxmlformats.org/officeDocument/2006/relationships/notesMaster" Target="/ppt/notesMasters/notesMaster1.xml" Id="R4031c18654a34432" /><Relationship Type="http://schemas.openxmlformats.org/officeDocument/2006/relationships/presProps" Target="/ppt/presProps.xml" Id="R38db39c8273a483e" /><Relationship Type="http://schemas.openxmlformats.org/officeDocument/2006/relationships/tableStyles" Target="/ppt/tableStyles.xml" Id="R390cecb27f434509" /><Relationship Type="http://schemas.openxmlformats.org/officeDocument/2006/relationships/slide" Target="/ppt/slides/slide1.xml" Id="R6f6b0f60023b4d9b" /><Relationship Type="http://schemas.openxmlformats.org/officeDocument/2006/relationships/slide" Target="/ppt/slides/slide2.xml" Id="Ra08d7850c86642b3" /><Relationship Type="http://schemas.openxmlformats.org/officeDocument/2006/relationships/slide" Target="/ppt/slides/slide3.xml" Id="R528d3eebec5e4bdc" /><Relationship Type="http://schemas.openxmlformats.org/officeDocument/2006/relationships/slide" Target="/ppt/slides/slide4.xml" Id="R2c563eae4d764cad" /><Relationship Type="http://schemas.openxmlformats.org/officeDocument/2006/relationships/slide" Target="/ppt/slides/slide5.xml" Id="R62abc30c56264785" /><Relationship Type="http://schemas.openxmlformats.org/officeDocument/2006/relationships/slide" Target="/ppt/slides/slide6.xml" Id="R7dbf631dc36e4e0c" /><Relationship Type="http://schemas.openxmlformats.org/officeDocument/2006/relationships/slide" Target="/ppt/slides/slide7.xml" Id="Rd165192b81af4b1b" /><Relationship Type="http://schemas.openxmlformats.org/officeDocument/2006/relationships/slide" Target="/ppt/slides/slide8.xml" Id="R802eef1a99794512" /><Relationship Type="http://schemas.openxmlformats.org/officeDocument/2006/relationships/slide" Target="/ppt/slides/slide9.xml" Id="Ra4be9f6dedf4459b" /><Relationship Type="http://schemas.openxmlformats.org/officeDocument/2006/relationships/slide" Target="/ppt/slides/slide10.xml" Id="R7bbdf125dd53492f" /><Relationship Type="http://schemas.openxmlformats.org/officeDocument/2006/relationships/slide" Target="/ppt/slides/slide11.xml" Id="Re2430fd4c0b24d83" /><Relationship Type="http://schemas.openxmlformats.org/officeDocument/2006/relationships/slide" Target="/ppt/slides/slide12.xml" Id="R5f778705eb9349d9" /><Relationship Type="http://schemas.openxmlformats.org/officeDocument/2006/relationships/slide" Target="/ppt/slides/slide13.xml" Id="R6578951e51cf454b" /><Relationship Type="http://schemas.openxmlformats.org/officeDocument/2006/relationships/slide" Target="/ppt/slides/slide14.xml" Id="Re865698dd89e48e4" /><Relationship Type="http://schemas.openxmlformats.org/officeDocument/2006/relationships/slide" Target="/ppt/slides/slide15.xml" Id="R37fbb155d88844cb" /><Relationship Type="http://schemas.openxmlformats.org/officeDocument/2006/relationships/slide" Target="/ppt/slides/slide16.xml" Id="R159b370bd39542e2" /><Relationship Type="http://schemas.openxmlformats.org/officeDocument/2006/relationships/slide" Target="/ppt/slides/slide17.xml" Id="Rfd219573cdd54a26" /><Relationship Type="http://schemas.openxmlformats.org/officeDocument/2006/relationships/slide" Target="/ppt/slides/slide18.xml" Id="R31976c0f2b96459f" /><Relationship Type="http://schemas.openxmlformats.org/officeDocument/2006/relationships/slide" Target="/ppt/slides/slide19.xml" Id="Rc316d1c70be940fc" /><Relationship Type="http://schemas.openxmlformats.org/officeDocument/2006/relationships/slide" Target="/ppt/slides/slide20.xml" Id="R76d09924eca7489b" /><Relationship Type="http://schemas.openxmlformats.org/officeDocument/2006/relationships/slide" Target="/ppt/slides/slide21.xml" Id="R9a3b4cd243684330" /><Relationship Type="http://schemas.openxmlformats.org/officeDocument/2006/relationships/slide" Target="/ppt/slides/slide22.xml" Id="R313413d58c884f12" /><Relationship Type="http://schemas.openxmlformats.org/officeDocument/2006/relationships/slide" Target="/ppt/slides/slide23.xml" Id="Raf93a48b83984ddb" /><Relationship Type="http://schemas.openxmlformats.org/officeDocument/2006/relationships/slide" Target="/ppt/slides/slide24.xml" Id="Ra43a90f57f764301" /><Relationship Type="http://schemas.openxmlformats.org/officeDocument/2006/relationships/slide" Target="/ppt/slides/slide25.xml" Id="R5d92641d8ec54b36" /><Relationship Type="http://schemas.openxmlformats.org/officeDocument/2006/relationships/slide" Target="/ppt/slides/slide26.xml" Id="Rde40c427016a42bd" /><Relationship Type="http://schemas.openxmlformats.org/officeDocument/2006/relationships/slide" Target="/ppt/slides/slide27.xml" Id="Ra130fe6e88aa43d8" /><Relationship Type="http://schemas.openxmlformats.org/officeDocument/2006/relationships/slide" Target="/ppt/slides/slide28.xml" Id="R70193fb3127a454b" /><Relationship Type="http://schemas.openxmlformats.org/officeDocument/2006/relationships/slide" Target="/ppt/slides/slide29.xml" Id="Rc649595fe4084d33" /><Relationship Type="http://schemas.openxmlformats.org/officeDocument/2006/relationships/slide" Target="/ppt/slides/slide30.xml" Id="R06cae484e2524d34" /><Relationship Type="http://schemas.openxmlformats.org/officeDocument/2006/relationships/slide" Target="/ppt/slides/slide31.xml" Id="R92d268f2b57e46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68b4e376cd42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627eb745664f67" /><Relationship Type="http://schemas.openxmlformats.org/officeDocument/2006/relationships/notesMaster" Target="/ppt/notesMasters/notesMaster1.xml" Id="Rc33f5d9017224e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b3617aeff74ca3" /><Relationship Type="http://schemas.openxmlformats.org/officeDocument/2006/relationships/notesMaster" Target="/ppt/notesMasters/notesMaster1.xml" Id="R4a7291ec86f741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f9f44cf6c944d6" /><Relationship Type="http://schemas.openxmlformats.org/officeDocument/2006/relationships/notesMaster" Target="/ppt/notesMasters/notesMaster1.xml" Id="R945cb155822546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f637afe3a84237" /><Relationship Type="http://schemas.openxmlformats.org/officeDocument/2006/relationships/notesMaster" Target="/ppt/notesMasters/notesMaster1.xml" Id="R796d2b3fda8640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8d0ebd94144383" /><Relationship Type="http://schemas.openxmlformats.org/officeDocument/2006/relationships/notesMaster" Target="/ppt/notesMasters/notesMaster1.xml" Id="R702a066be1c642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de886180364c98" /><Relationship Type="http://schemas.openxmlformats.org/officeDocument/2006/relationships/notesMaster" Target="/ppt/notesMasters/notesMaster1.xml" Id="R27b615a9685d41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0b858d03264a66" /><Relationship Type="http://schemas.openxmlformats.org/officeDocument/2006/relationships/notesMaster" Target="/ppt/notesMasters/notesMaster1.xml" Id="R86516fa3d6ad44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17f46b4ba44f7b" /><Relationship Type="http://schemas.openxmlformats.org/officeDocument/2006/relationships/notesMaster" Target="/ppt/notesMasters/notesMaster1.xml" Id="R5fb5cc3641da48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710c5fcf104da0" /><Relationship Type="http://schemas.openxmlformats.org/officeDocument/2006/relationships/notesMaster" Target="/ppt/notesMasters/notesMaster1.xml" Id="R02b951e8f1444e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ad389dae8849f1" /><Relationship Type="http://schemas.openxmlformats.org/officeDocument/2006/relationships/notesMaster" Target="/ppt/notesMasters/notesMaster1.xml" Id="R2115582b90174e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9d2d6ccbdf49ff" /><Relationship Type="http://schemas.openxmlformats.org/officeDocument/2006/relationships/notesMaster" Target="/ppt/notesMasters/notesMaster1.xml" Id="R20fe5566fee34c9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52d06fa19546b7" /><Relationship Type="http://schemas.openxmlformats.org/officeDocument/2006/relationships/notesMaster" Target="/ppt/notesMasters/notesMaster1.xml" Id="Rcea477e9249440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3bfe665f7a4408" /><Relationship Type="http://schemas.openxmlformats.org/officeDocument/2006/relationships/notesMaster" Target="/ppt/notesMasters/notesMaster1.xml" Id="Rf02d17457db141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7313747f65463a" /><Relationship Type="http://schemas.openxmlformats.org/officeDocument/2006/relationships/notesMaster" Target="/ppt/notesMasters/notesMaster1.xml" Id="R9b07a37c249b41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daaf55ba9a4cc3" /><Relationship Type="http://schemas.openxmlformats.org/officeDocument/2006/relationships/notesMaster" Target="/ppt/notesMasters/notesMaster1.xml" Id="Rd435b57b4b2d4b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375ad86ebb4080" /><Relationship Type="http://schemas.openxmlformats.org/officeDocument/2006/relationships/notesMaster" Target="/ppt/notesMasters/notesMaster1.xml" Id="Rea0414aa152e4f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760af22e3d4703" /><Relationship Type="http://schemas.openxmlformats.org/officeDocument/2006/relationships/notesMaster" Target="/ppt/notesMasters/notesMaster1.xml" Id="R210ff013335a4a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54fe6aa5154f6d" /><Relationship Type="http://schemas.openxmlformats.org/officeDocument/2006/relationships/notesMaster" Target="/ppt/notesMasters/notesMaster1.xml" Id="R8593f01581724c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2774970777b4643" /><Relationship Type="http://schemas.openxmlformats.org/officeDocument/2006/relationships/notesMaster" Target="/ppt/notesMasters/notesMaster1.xml" Id="R15e62df8dd7d49f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d5953430c7484c" /><Relationship Type="http://schemas.openxmlformats.org/officeDocument/2006/relationships/notesMaster" Target="/ppt/notesMasters/notesMaster1.xml" Id="R1f36534666a7479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f1ecd7939fd406e" /><Relationship Type="http://schemas.openxmlformats.org/officeDocument/2006/relationships/notesMaster" Target="/ppt/notesMasters/notesMaster1.xml" Id="R9f648fef6b6a482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a45ed407b9749ca" /><Relationship Type="http://schemas.openxmlformats.org/officeDocument/2006/relationships/notesMaster" Target="/ppt/notesMasters/notesMaster1.xml" Id="R13022a68dcc54f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9b1810e0b0547a5" /><Relationship Type="http://schemas.openxmlformats.org/officeDocument/2006/relationships/notesMaster" Target="/ppt/notesMasters/notesMaster1.xml" Id="R1de5511a08ba44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30859e285cf4c94" /><Relationship Type="http://schemas.openxmlformats.org/officeDocument/2006/relationships/notesMaster" Target="/ppt/notesMasters/notesMaster1.xml" Id="R55e50e12b623453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76b3ac497eb432a" /><Relationship Type="http://schemas.openxmlformats.org/officeDocument/2006/relationships/notesMaster" Target="/ppt/notesMasters/notesMaster1.xml" Id="R19532ea0bf8f4e4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ec096a42e9d4986" /><Relationship Type="http://schemas.openxmlformats.org/officeDocument/2006/relationships/notesMaster" Target="/ppt/notesMasters/notesMaster1.xml" Id="R4f911b8cc36a4ec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d0e99b7b9664de4" /><Relationship Type="http://schemas.openxmlformats.org/officeDocument/2006/relationships/notesMaster" Target="/ppt/notesMasters/notesMaster1.xml" Id="R32aa64cd96dc489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8170c4457ca404d" /><Relationship Type="http://schemas.openxmlformats.org/officeDocument/2006/relationships/notesMaster" Target="/ppt/notesMasters/notesMaster1.xml" Id="Rc4b2c7c4e97c4e9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8c1c79d6dea4560" /><Relationship Type="http://schemas.openxmlformats.org/officeDocument/2006/relationships/notesMaster" Target="/ppt/notesMasters/notesMaster1.xml" Id="R61f04bccecf749e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396e01d73d4ea0" /><Relationship Type="http://schemas.openxmlformats.org/officeDocument/2006/relationships/notesMaster" Target="/ppt/notesMasters/notesMaster1.xml" Id="Rdddc67a5de82447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73383211c6a48e5" /><Relationship Type="http://schemas.openxmlformats.org/officeDocument/2006/relationships/notesMaster" Target="/ppt/notesMasters/notesMaster1.xml" Id="Rced638e9b6474f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Gruppo MAGGICAL. Nome e motivazione: https://github.com/andremauroo/CIBY/blob/main/C2/preparazione/value-proposition.md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Membri e fotografie già usati nella C1: https://github.com/andremauroo/CIBY/blob/main/C1/presentazione/CIBY-C1.pdf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https://github.com/andremauroo/CIBY/blob/main/C2/preparazione/focus-e-decisioni.md</a:t>
            </a:r>
          </a:p>
          <a:p xmlns:a="http://schemas.openxmlformats.org/drawingml/2006/main">
            <a:r>
              <a:t>Report C1 P01–P05 e nuova attività P02-C2-D01. Il dominio anticipa l’ambito; le evidenze e le ragioni della scelta sono presentate prima della soluzione.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https://github.com/andremauroo/CIBY/blob/main/C2/report/P02-diario.md</a:t>
            </a:r>
          </a:p>
          <a:p xmlns:a="http://schemas.openxmlformats.org/drawingml/2006/main">
            <a:r>
              <a:t>https://github.com/andremauroo/CIBY/blob/main/C2/report/P02-diario-originale.md</a:t>
            </a:r>
          </a:p>
          <a:p xmlns:a="http://schemas.openxmlformats.org/drawingml/2006/main">
            <a:r>
              <a:t>P02-C2-D01, 21–26 ottobre 2026. Sei giorni di appunti giornalieri sul telefono, raccolta asincrona, stesso partecipante C1 e utente immediato. Dodici voci: undici di pranzo/cena, una delle quali soltanto prevista e rinviata, e una di dopocena. Mensa universitaria esplicita il 26; altri luoghi non annotati. M02 descrive spesa giorno per giorno, non prodotti, quantità o numero di acquisti giornalieri.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https://github.com/andremauroo/CIBY/blob/main/C2/report/P02-diario-originale.md</a:t>
            </a:r>
          </a:p>
          <a:p xmlns:a="http://schemas.openxmlformats.org/drawingml/2006/main">
            <a:r>
              <a:t>P02-D01-E05/E07 e C01: preparazione prevista venerdì 23, consumata sabato 24. Non due consumi della bowl. Cena effettiva di venerdì e motivo del rinvio non annotati. Il testo originale è conservato; il chiarimento è separato.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https://github.com/andremauroo/CIBY/blob/main/C2/report/analisi-tematica.md</a:t>
            </a:r>
          </a:p>
          <a:p xmlns:a="http://schemas.openxmlformats.org/drawingml/2006/main">
            <a:r>
              <a:t>Il diario concretizza B02/C07 e un rinvio riuscito per B03. Non aggiunge prove dirette su dimenticanze B01 o quantità B04. Ricorrenze di ingredienti non provano stesso lotto, avanzi o preparazione congiunta.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https://github.com/andremauroo/CIBY/blob/main/C2/preparazione/brainstorming-bisogni.md</a:t>
            </a:r>
          </a:p>
          <a:p xmlns:a="http://schemas.openxmlformats.org/drawingml/2006/main">
            <a:r>
              <a:t>https://www.figma.com/board/Aa9cVd9wI6ifqZyzO30I9m/Compito-2?node-id=121-236</a:t>
            </a:r>
          </a:p>
          <a:p xmlns:a="http://schemas.openxmlformats.org/drawingml/2006/main">
            <a:r>
              <a:t>Tutti gli otto candidati e i commenti sono presenti. In appendice i due gruppi sono ingranditi. Le bozze rimangono distinguibili.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https://github.com/andremauroo/CIBY/blob/main/C2/preparazione/brainstorming-bisogni.md</a:t>
            </a:r>
          </a:p>
          <a:p xmlns:a="http://schemas.openxmlformats.org/drawingml/2006/main">
            <a:r>
              <a:t>C05 in B02, C06 trasversale, C07 contesto, C08 rinviato. Conservate ragioni e risposte specifiche C1.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https://github.com/andremauroo/CIBY/blob/main/C2/preparazione/evidenze-e-bisogni.md</a:t>
            </a:r>
          </a:p>
          <a:p xmlns:a="http://schemas.openxmlformats.org/drawingml/2006/main">
            <a:r>
              <a:t>B01: P01-E05; P03-E06/E07; P05-E03/E04/E11. B02: P01-E01/E09; P02-E03/E10/E12; P03-E12/E13; P05-E06.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https://github.com/andremauroo/CIBY/blob/main/C2/preparazione/evidenze-e-bisogni.md</a:t>
            </a:r>
          </a:p>
          <a:p xmlns:a="http://schemas.openxmlformats.org/drawingml/2006/main">
            <a:r>
              <a:t>https://github.com/andremauroo/CIBY/blob/main/C2/report/analisi-tematica.md</a:t>
            </a:r>
          </a:p>
          <a:p xmlns:a="http://schemas.openxmlformats.org/drawingml/2006/main">
            <a:r>
              <a:t>B03: P02-E07/E08/C01, P03-E04/E08; diario E05/E07 e C01 come rinvio riuscito. B04: P02-E06/E07, P03-E05/E07. Il diario non contiene quantità o formati.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</a:t>
            </a:r>
          </a:p>
          <a:p xmlns:a="http://schemas.openxmlformats.org/drawingml/2006/main">
            <a:r>
              <a:t>Marta è primaria per B01, priorità nei commenti e punto di partenza del percorso D1. È una scelta progettuale, non una votazione separata o un risultato di validazione. Gianfranco copre B02, Luca B03/B04. Nomi, età e dettagli sono archetipi e non nuovi partecipanti.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https://github.com/andremauroo/CIBY/blob/main/C2/preparazione/personas-e-scenari.md#scenario-m---cena-e-pranzo-del-giorno-dopo</a:t>
            </a:r>
          </a:p>
          <a:p xmlns:a="http://schemas.openxmlformats.org/drawingml/2006/main">
            <a:r>
              <a:t>Scenario concettuale. P01-E05/E08/E09; P05-E03/E04/E11. Preparazione anticipata P01-E03/E09. Prodotto, supporto ed esito narrativo sono ipotetici.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https://github.com/andremauroo/CIBY/blob/main/C2/preparazione/personas-e-scenari.md#scenario-g---la-cena-dopo-le-lezioni</a:t>
            </a:r>
          </a:p>
          <a:p xmlns:a="http://schemas.openxmlformats.org/drawingml/2006/main">
            <a:r>
              <a:t>Scenario concettuale. P01-E01/E09; P02-E03/E10/E12; P03-E12/E13; P05-E06. Serata ed esito non osservati come nuova attività.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https://github.com/andremauroo/CIBY/blob/main/C2/preparazione/personas-e-scenari.md#scenario-l---manca-un-ingrediente</a:t>
            </a:r>
          </a:p>
          <a:p xmlns:a="http://schemas.openxmlformats.org/drawingml/2006/main">
            <a:r>
              <a:t>Scenario concettuale. P02-E07/E08/C01; P03-E04/E08. Il diario sostiene un rinvio senza causa nota, non l’ingrediente mancante. Eliminazione della panna non accertata.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https://github.com/andremauroo/CIBY/blob/main/C2/preparazione/personas-e-scenari.md#scenario-a---la-confezione-e-i-pasti-previsti</a:t>
            </a:r>
          </a:p>
          <a:p xmlns:a="http://schemas.openxmlformats.org/drawingml/2006/main">
            <a:r>
              <a:t>Scenario concettuale. P02-E06/E07; P03-E05/E07. Formati, invito e decisione sono dettagli narrativi, non episodio osservato.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https://github.com/andremauroo/CIBY/blob/main/C2/preparazione/brainstorming-e-scelta.md#idee-individuali</a:t>
            </a:r>
          </a:p>
          <a:p xmlns:a="http://schemas.openxmlformats.org/drawingml/2006/main">
            <a:r>
              <a:t>https://www.figma.com/board/Aa9cVd9wI6ifqZyzO30I9m/Compito-2?node-id=101-238</a:t>
            </a:r>
          </a:p>
          <a:p xmlns:a="http://schemas.openxmlformats.org/drawingml/2006/main">
            <a:r>
              <a:t>Screenshot del 27 ottobre 2026: tre post-it rossi originali di Andrea. L’area è stata aggiornata dal gruppo prima della cattura. Sport e AI rimangono proposte progettuali.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https://github.com/andremauroo/CIBY/blob/main/C2/preparazione/brainstorming-e-scelta.md#idee-individuali</a:t>
            </a:r>
          </a:p>
          <a:p xmlns:a="http://schemas.openxmlformats.org/drawingml/2006/main">
            <a:r>
              <a:t>FigJam 101:244 e 101:247</a:t>
            </a:r>
          </a:p>
          <a:p xmlns:a="http://schemas.openxmlformats.org/drawingml/2006/main">
            <a:r>
              <a:t>Gli screenshot conservano le proposte dei componenti. Benefici e scelte tecniche rimangono ipotesi.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https://github.com/andremauroo/CIBY/blob/main/C2/preparazione/brainstorming-e-scelta.md#idee-individuali</a:t>
            </a:r>
          </a:p>
          <a:p xmlns:a="http://schemas.openxmlformats.org/drawingml/2006/main">
            <a:r>
              <a:t>FigJam 101:250 e 101:253</a:t>
            </a:r>
          </a:p>
          <a:p xmlns:a="http://schemas.openxmlformats.org/drawingml/2006/main">
            <a:r>
              <a:t>Gli screenshot conservano le proposte dei componenti. Benefici e scelte tecniche rimangono ipotesi.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https://github.com/andremauroo/CIBY/blob/main/C2/preparazione/alternative-soluzione.md</a:t>
            </a:r>
          </a:p>
          <a:p xmlns:a="http://schemas.openxmlformats.org/drawingml/2006/main">
            <a:r>
              <a:t>Otto spunti preparatori per i quattro scenari. D1, D2 e D3 hanno punti di partenza diversi; l’esito è presentato dopo il confronto documentale e le preferenze.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https://github.com/andremauroo/CIBY/blob/main/C2/preparazione/confronto-soluzioni-esistenti.md</a:t>
            </a:r>
          </a:p>
          <a:p xmlns:a="http://schemas.openxmlformats.org/drawingml/2006/main">
            <a:r>
              <a:t>Fonti ufficiali e collegamenti nell’appendice. Confronto documentale del 26 ottobre 2026, senza prove dirette delle app. Ricette, priorità e sostituzioni sono già supportate. Differenziazione ed efficacia CIBY non dimostrate.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https://github.com/andremauroo/CIBY/blob/main/C2/report/confronto-gruppo.md</a:t>
            </a:r>
          </a:p>
          <a:p xmlns:a="http://schemas.openxmlformats.org/drawingml/2006/main">
            <a:r>
              <a:t>Confronto asincrono con preferenze motivate. Nessuna quota di tre voti e nessuna categoria formale assegnata. D1 raccoglie convergenza; Rime valorizza anche D3; Edoardo la considera più utile come integrazione. Immagine della disposizione originale in appendice. Sintesi progettuale: B04 distinto per la decisione prima dell’acquisto, Marta primaria coerente con B01/D1.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https://github.com/andremauroo/CIBY/blob/main/C2/preparazione/soluzione-concettuale.md</a:t>
            </a:r>
          </a:p>
          <a:p xmlns:a="http://schemas.openxmlformats.org/drawingml/2006/main">
            <a:r>
              <a:t>Descrizione in due frasi. La scelta D1 parte dall’alimento; D2 contribuisce alla fattibilità e D3 alla revisione. Sport come contesto organizzativo simulato, non nuovo needfinding. Mascotte e AI rimangono possibilità successive.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https://github.com/andremauroo/CIBY/blob/main/C2/preparazione/value-proposition.md</a:t>
            </a:r>
          </a:p>
          <a:p xmlns:a="http://schemas.openxmlformats.org/drawingml/2006/main">
            <a:r>
              <a:t>Nome CIBY dal cibo, centro dell’esperienza. Suono amichevole legato all’idea di una futura mascotte o di un elemento caratteristico con lo stesso nome. La mascotte non è realizzata o validata.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https://github.com/andremauroo/CIBY/blob/main/C2/preparazione/personas-e-scenari.md#luca</a:t>
            </a:r>
          </a:p>
          <a:p xmlns:a="http://schemas.openxmlformats.org/drawingml/2006/main">
            <a:r>
              <a:t>P02/P03. Complementare per B03/B04. Diario E05/E07 e C01: rinvio riuscito, non incapacità di adattarsi.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https://github.com/andremauroo/CIBY/blob/main/C2/preparazione/personas-e-scenari.md#gianfranco</a:t>
            </a:r>
          </a:p>
          <a:p xmlns:a="http://schemas.openxmlformats.org/drawingml/2006/main">
            <a:r>
              <a:t>Archetipo complementare B02. Preparazioni semplici efficaci di P05 conservate; poco tempo non implica automaticamente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https://github.com/andremauroo/CIBY/blob/main/C2/preparazione/personas-e-scenari.md#marta</a:t>
            </a:r>
          </a:p>
          <a:p xmlns:a="http://schemas.openxmlformats.org/drawingml/2006/main">
            <a:r>
              <a:t>Archetipo primario B01. Preparazione anticipata è strategia efficace; riconoscimento di alimenti fuori routine da C1 P01/P05.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https://github.com/andremauroo/CIBY/blob/main/C2/preparazione/brainstorming-bisogni.md</a:t>
            </a:r>
          </a:p>
          <a:p xmlns:a="http://schemas.openxmlformats.org/drawingml/2006/main">
            <a:r>
              <a:t>https://www.figma.com/board/Aa9cVd9wI6ifqZyzO30I9m/Compito-2?node-id=121-236</a:t>
            </a:r>
          </a:p>
          <a:p xmlns:a="http://schemas.openxmlformats.org/drawingml/2006/main">
            <a:r>
              <a:t>Immagine dal 26 ottobre. I post-it originali sono conservati. Il ritaglio mantiene la disposizione originale, senza ricomposizione dei contributi.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https://github.com/andremauroo/CIBY/blob/main/C2/preparazione/brainstorming-bisogni.md</a:t>
            </a:r>
          </a:p>
          <a:p xmlns:a="http://schemas.openxmlformats.org/drawingml/2006/main">
            <a:r>
              <a:t>https://www.figma.com/board/Aa9cVd9wI6ifqZyzO30I9m/Compito-2?node-id=121-236</a:t>
            </a:r>
          </a:p>
          <a:p xmlns:a="http://schemas.openxmlformats.org/drawingml/2006/main">
            <a:r>
              <a:t>Immagine dal 26 ottobre. I post-it originali sono conservati. Il ritaglio mantiene la disposizione originale, senza ricomposizione dei contributi.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https://github.com/andremauroo/CIBY/blob/main/C2/report/confronto-gruppo.md</a:t>
            </a:r>
          </a:p>
          <a:p xmlns:a="http://schemas.openxmlformats.org/drawingml/2006/main">
            <a:r>
              <a:t>https://www.figma.com/board/Aa9cVd9wI6ifqZyzO30I9m/Compito-2?node-id=101-228</a:t>
            </a:r>
          </a:p>
          <a:p xmlns:a="http://schemas.openxmlformats.org/drawingml/2006/main">
            <a:r>
              <a:t>Immagine dal 26 ottobre. I post-it originali sono conservati. Il ritaglio mantiene la disposizione originale, senza ricomposizione dei contributi.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Compito2-focus.pdf, pp. 1–2. Dispense 3 Requisiti-Personas-Scenari.pdf, pp. 5, 15–17, 21, 27, 29.</a:t>
            </a:r>
          </a:p>
          <a:p xmlns:a="http://schemas.openxmlformats.org/drawingml/2006/main">
            <a:r>
              <a:t>https://github.com/andremauroo/CIBY/blob/main/C2/preparazione/requisiti-e-piano.md</a:t>
            </a:r>
          </a:p>
          <a:p xmlns:a="http://schemas.openxmlformats.org/drawingml/2006/main">
            <a:r>
              <a:t>https://github.com/andremauroo/CIBY/blob/main/C2/report/confronto-gruppo.md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https://apps.apple.com/us/app/supercook-recipe-by-ingredient/id1477747816</a:t>
            </a:r>
          </a:p>
          <a:p xmlns:a="http://schemas.openxmlformats.org/drawingml/2006/main">
            <a:r>
              <a:t>https://samsungfood.com/foodplus-promo/uk/</a:t>
            </a:r>
          </a:p>
          <a:p xmlns:a="http://schemas.openxmlformats.org/drawingml/2006/main">
            <a:r>
              <a:t>https://support.samsungfood.com/hc/en-us/articles/30025317487508-Getting-Started-with-Food-List</a:t>
            </a:r>
          </a:p>
          <a:p xmlns:a="http://schemas.openxmlformats.org/drawingml/2006/main">
            <a:r>
              <a:t>https://support.samsungfood.com/hc/en-us/articles/35369657798548-Getting-Started-with-Meal-Planner</a:t>
            </a:r>
          </a:p>
          <a:p xmlns:a="http://schemas.openxmlformats.org/drawingml/2006/main">
            <a:r>
              <a:t>https://www.sously.app/help/substitute-ingredients/</a:t>
            </a:r>
          </a:p>
          <a:p xmlns:a="http://schemas.openxmlformats.org/drawingml/2006/main">
            <a:r>
              <a:t>https://www.sously.app/help/plan-your-week/</a:t>
            </a:r>
          </a:p>
          <a:p xmlns:a="http://schemas.openxmlformats.org/drawingml/2006/main">
            <a:r>
              <a:t>Confronto documentale: nessuna prova delle app o misurazione dei risultati. Dettagli in https://github.com/andremauroo/CIBY/blob/main/C2/preparazione/confronto-soluzioni-esistenti.md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042d985c84a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5787b032848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9364c08b4140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8269bdf9345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e6cec1de045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4c6cf1f7640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E3F3BF-098F-4DD5-AF2E-8F6B6D022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FA611A-E9E0-4BCF-A7F8-1967938B93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923FBF-9B39-4906-BC00-096E80A0E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6032C5-EFC6-4F68-A3C5-6DF24D929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403EEBA-FA9D-40A9-A9E5-DCFEA281B1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9B5CD9-55EF-4C93-9565-5746FBF8BC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894EAF-3419-48D8-84BF-7C3A66F809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508579-D56F-4AFF-B253-EA0C71DC59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F153BA-FBAE-4A84-84C8-BFE7713B21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2A00A2-90F4-4746-8E45-D53233CD1A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29350aadb44e60" /><Relationship Type="http://schemas.openxmlformats.org/officeDocument/2006/relationships/slideLayout" Target="/ppt/slideLayouts/slideLayout1.xml" Id="R193d089a19ca49f4" /><Relationship Type="http://schemas.openxmlformats.org/officeDocument/2006/relationships/slideLayout" Target="/ppt/slideLayouts/slideLayout2.xml" Id="R2c71195f0a374e6e" /><Relationship Type="http://schemas.openxmlformats.org/officeDocument/2006/relationships/slideLayout" Target="/ppt/slideLayouts/slideLayout3.xml" Id="R1e045cc07cbe49dc" /><Relationship Type="http://schemas.openxmlformats.org/officeDocument/2006/relationships/slideLayout" Target="/ppt/slideLayouts/slideLayout4.xml" Id="R60c4bb51589845ff" /><Relationship Type="http://schemas.openxmlformats.org/officeDocument/2006/relationships/slideLayout" Target="/ppt/slideLayouts/slideLayout5.xml" Id="Rb947f0a93a344269" /><Relationship Type="http://schemas.openxmlformats.org/officeDocument/2006/relationships/slideLayout" Target="/ppt/slideLayouts/slideLayout6.xml" Id="Ra839ca673e1e44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3d089a19ca49f4"/>
    <p:sldLayoutId xmlns:r="http://schemas.openxmlformats.org/officeDocument/2006/relationships" id="2147483650" r:id="R2c71195f0a374e6e"/>
    <p:sldLayoutId xmlns:r="http://schemas.openxmlformats.org/officeDocument/2006/relationships" id="2147483651" r:id="R1e045cc07cbe49dc"/>
    <p:sldLayoutId xmlns:r="http://schemas.openxmlformats.org/officeDocument/2006/relationships" id="2147483652" r:id="R60c4bb51589845ff"/>
    <p:sldLayoutId xmlns:r="http://schemas.openxmlformats.org/officeDocument/2006/relationships" id="2147483653" r:id="Rb947f0a93a344269"/>
    <p:sldLayoutId xmlns:r="http://schemas.openxmlformats.org/officeDocument/2006/relationships" id="2147483654" r:id="Ra839ca673e1e44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258e2e5dd14471" /><Relationship Type="http://schemas.openxmlformats.org/officeDocument/2006/relationships/notesSlide" Target="/ppt/notesSlides/notesSlide1.xml" Id="Rc92799c1592842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157d310044c25" /><Relationship Type="http://schemas.openxmlformats.org/officeDocument/2006/relationships/image" Target="/ppt/media/image.jpeg" Id="Ra38fd105e70143e4" /><Relationship Type="http://schemas.openxmlformats.org/officeDocument/2006/relationships/image" Target="/ppt/media/image2.jpeg" Id="R1e460418df2d4d4f" /><Relationship Type="http://schemas.openxmlformats.org/officeDocument/2006/relationships/image" Target="/ppt/media/image3.jpeg" Id="Rc843a2033a434dcb" /><Relationship Type="http://schemas.openxmlformats.org/officeDocument/2006/relationships/image" Target="/ppt/media/image4.jpeg" Id="Rae53b26f12634f62" /><Relationship Type="http://schemas.openxmlformats.org/officeDocument/2006/relationships/image" Target="/ppt/media/image5.jpeg" Id="Re9eeadb7d78f4325" /><Relationship Type="http://schemas.openxmlformats.org/officeDocument/2006/relationships/image" Target="/ppt/media/image6.jpeg" Id="Rfa749e92e961482e" /><Relationship Type="http://schemas.openxmlformats.org/officeDocument/2006/relationships/notesSlide" Target="/ppt/notesSlides/notesSlide2.xml" Id="Rbc7463e0355443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30203e9e4644f5" /><Relationship Type="http://schemas.openxmlformats.org/officeDocument/2006/relationships/notesSlide" Target="/ppt/notesSlides/notesSlide3.xml" Id="Rc134543a7c3445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b92036ef134d7d" /><Relationship Type="http://schemas.openxmlformats.org/officeDocument/2006/relationships/notesSlide" Target="/ppt/notesSlides/notesSlide4.xml" Id="Rcf358d45cbaf47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7ce0281db47cb" /><Relationship Type="http://schemas.openxmlformats.org/officeDocument/2006/relationships/notesSlide" Target="/ppt/notesSlides/notesSlide5.xml" Id="Re0f0572aa6e346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0f6294bdd473c" /><Relationship Type="http://schemas.openxmlformats.org/officeDocument/2006/relationships/notesSlide" Target="/ppt/notesSlides/notesSlide6.xml" Id="Rd9a7d377282d4a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123e0c7bc14aba" /><Relationship Type="http://schemas.openxmlformats.org/officeDocument/2006/relationships/image" Target="/ppt/media/image.png" Id="Rdb7069747f9e48bc" /><Relationship Type="http://schemas.openxmlformats.org/officeDocument/2006/relationships/notesSlide" Target="/ppt/notesSlides/notesSlide7.xml" Id="Ra7107a3e42be44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8a0f9be06b4ca4" /><Relationship Type="http://schemas.openxmlformats.org/officeDocument/2006/relationships/notesSlide" Target="/ppt/notesSlides/notesSlide8.xml" Id="Ree63451ba4124c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b5a02118a4735" /><Relationship Type="http://schemas.openxmlformats.org/officeDocument/2006/relationships/notesSlide" Target="/ppt/notesSlides/notesSlide9.xml" Id="R09270b7882bc48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65edc87ff948b7" /><Relationship Type="http://schemas.openxmlformats.org/officeDocument/2006/relationships/notesSlide" Target="/ppt/notesSlides/notesSlide10.xml" Id="Rcdf7b64f41054d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a7d0229424ea4" /><Relationship Type="http://schemas.openxmlformats.org/officeDocument/2006/relationships/notesSlide" Target="/ppt/notesSlides/notesSlide11.xml" Id="Ra3cac97a24c547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5aa525bff4d87" /><Relationship Type="http://schemas.openxmlformats.org/officeDocument/2006/relationships/notesSlide" Target="/ppt/notesSlides/notesSlide12.xml" Id="R12fb53877acc4f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6c9c566404357" /><Relationship Type="http://schemas.openxmlformats.org/officeDocument/2006/relationships/notesSlide" Target="/ppt/notesSlides/notesSlide13.xml" Id="R8b82d3ec287b47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948698614d43e4" /><Relationship Type="http://schemas.openxmlformats.org/officeDocument/2006/relationships/notesSlide" Target="/ppt/notesSlides/notesSlide14.xml" Id="R67e06f2aad0048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9c465dcc94e56" /><Relationship Type="http://schemas.openxmlformats.org/officeDocument/2006/relationships/notesSlide" Target="/ppt/notesSlides/notesSlide15.xml" Id="R8ed7f98a95bd4d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4575298c340e9" /><Relationship Type="http://schemas.openxmlformats.org/officeDocument/2006/relationships/image" Target="/ppt/media/image2.png" Id="R41963d5a17df4abd" /><Relationship Type="http://schemas.openxmlformats.org/officeDocument/2006/relationships/image" Target="/ppt/media/image3.png" Id="R8d36db4daa074c9b" /><Relationship Type="http://schemas.openxmlformats.org/officeDocument/2006/relationships/notesSlide" Target="/ppt/notesSlides/notesSlide16.xml" Id="R8222d46e17f74ab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51b7baa56544e4" /><Relationship Type="http://schemas.openxmlformats.org/officeDocument/2006/relationships/image" Target="/ppt/media/image4.png" Id="R29832a1c0b94482b" /><Relationship Type="http://schemas.openxmlformats.org/officeDocument/2006/relationships/image" Target="/ppt/media/image5.png" Id="R075be692228b4842" /><Relationship Type="http://schemas.openxmlformats.org/officeDocument/2006/relationships/notesSlide" Target="/ppt/notesSlides/notesSlide17.xml" Id="R6e1e0d770c5440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f03c5563344df6" /><Relationship Type="http://schemas.openxmlformats.org/officeDocument/2006/relationships/image" Target="/ppt/media/image6.png" Id="Rfdf201cffab448d4" /><Relationship Type="http://schemas.openxmlformats.org/officeDocument/2006/relationships/image" Target="/ppt/media/image7.png" Id="R9b55fa4791714801" /><Relationship Type="http://schemas.openxmlformats.org/officeDocument/2006/relationships/notesSlide" Target="/ppt/notesSlides/notesSlide18.xml" Id="R16d41867239447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d1cb3624054707" /><Relationship Type="http://schemas.openxmlformats.org/officeDocument/2006/relationships/notesSlide" Target="/ppt/notesSlides/notesSlide19.xml" Id="Rd70df184599342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a1551f42c042cd" /><Relationship Type="http://schemas.openxmlformats.org/officeDocument/2006/relationships/notesSlide" Target="/ppt/notesSlides/notesSlide20.xml" Id="R16d7f4bef4ce42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ee24119aeb45cd" /><Relationship Type="http://schemas.openxmlformats.org/officeDocument/2006/relationships/notesSlide" Target="/ppt/notesSlides/notesSlide21.xml" Id="R6f6c5d49424945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6c8c7411246f3" /><Relationship Type="http://schemas.openxmlformats.org/officeDocument/2006/relationships/notesSlide" Target="/ppt/notesSlides/notesSlide22.xml" Id="R62efee70bd9e429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063560118c4731" /><Relationship Type="http://schemas.openxmlformats.org/officeDocument/2006/relationships/notesSlide" Target="/ppt/notesSlides/notesSlide23.xml" Id="R28e228455a6e428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997df52234898" /><Relationship Type="http://schemas.openxmlformats.org/officeDocument/2006/relationships/notesSlide" Target="/ppt/notesSlides/notesSlide24.xml" Id="Rbb44ba429188496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7d91688314c32" /><Relationship Type="http://schemas.openxmlformats.org/officeDocument/2006/relationships/notesSlide" Target="/ppt/notesSlides/notesSlide25.xml" Id="Rfa2d8bc4a6df45b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d51ff21c5e4069" /><Relationship Type="http://schemas.openxmlformats.org/officeDocument/2006/relationships/notesSlide" Target="/ppt/notesSlides/notesSlide26.xml" Id="Rda8ce2f553104d7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06fc0b58c4bf5" /><Relationship Type="http://schemas.openxmlformats.org/officeDocument/2006/relationships/image" Target="/ppt/media/image8.png" Id="R788972e2e67e4a15" /><Relationship Type="http://schemas.openxmlformats.org/officeDocument/2006/relationships/notesSlide" Target="/ppt/notesSlides/notesSlide27.xml" Id="R88226376523b492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6369dad25a449e" /><Relationship Type="http://schemas.openxmlformats.org/officeDocument/2006/relationships/image" Target="/ppt/media/image9.png" Id="R28aca679e4114186" /><Relationship Type="http://schemas.openxmlformats.org/officeDocument/2006/relationships/notesSlide" Target="/ppt/notesSlides/notesSlide28.xml" Id="Rf613869f81f849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5d9a3be0914e39" /><Relationship Type="http://schemas.openxmlformats.org/officeDocument/2006/relationships/image" Target="/ppt/media/image10.png" Id="Rae5aadf61607436c" /><Relationship Type="http://schemas.openxmlformats.org/officeDocument/2006/relationships/notesSlide" Target="/ppt/notesSlides/notesSlide29.xml" Id="Radf9d327c38c403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4271709c54a5b" /><Relationship Type="http://schemas.openxmlformats.org/officeDocument/2006/relationships/hyperlink" Target="https://www.figma.com/board/Aa9cVd9wI6ifqZyzO30I9m/Compito-2" TargetMode="External" Id="Rfe15aa804acb448b" /><Relationship Type="http://schemas.openxmlformats.org/officeDocument/2006/relationships/notesSlide" Target="/ppt/notesSlides/notesSlide30.xml" Id="Rd037f24eef6c44c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1c185a271541ce" /><Relationship Type="http://schemas.openxmlformats.org/officeDocument/2006/relationships/hyperlink" Target="https://apps.apple.com/us/app/supercook-recipe-by-ingredient/id1477747816" TargetMode="External" Id="Re8ed0934eb8043ab" /><Relationship Type="http://schemas.openxmlformats.org/officeDocument/2006/relationships/hyperlink" Target="https://samsungfood.com/foodplus-promo/uk/" TargetMode="External" Id="R94236401c9da42e9" /><Relationship Type="http://schemas.openxmlformats.org/officeDocument/2006/relationships/hyperlink" Target="https://support.samsungfood.com/hc/en-us/articles/30025317487508-Getting-Started-with-Food-List" TargetMode="External" Id="R5bb577cf1a95494e" /><Relationship Type="http://schemas.openxmlformats.org/officeDocument/2006/relationships/hyperlink" Target="https://support.samsungfood.com/hc/en-us/articles/35369657798548-Getting-Started-with-Meal-Planner" TargetMode="External" Id="Rf81d2afa417c4aa2" /><Relationship Type="http://schemas.openxmlformats.org/officeDocument/2006/relationships/hyperlink" Target="https://www.sously.app/help/substitute-ingredients/" TargetMode="External" Id="R10f17ea5c793495c" /><Relationship Type="http://schemas.openxmlformats.org/officeDocument/2006/relationships/hyperlink" Target="https://www.sously.app/help/plan-your-week/" TargetMode="External" Id="Rfb7080ac89cd423d" /><Relationship Type="http://schemas.openxmlformats.org/officeDocument/2006/relationships/notesSlide" Target="/ppt/notesSlides/notesSlide31.xml" Id="R3088cc3fa3814d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A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88C8F-A224-4A54-A20F-F8D452FA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75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CIBY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2873A-15E5-48E9-A414-AD3BF51F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Gestione flessibile dei pasti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FDFB2-7A50-4B64-A558-C3C5ECC0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C2 Raffinamento e 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53ACC-6A0D-45BC-BAC0-17A443A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rPr>
              <a:t>Fondamenti di Human-Computer Interaction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D7E5DD"/>
                </a:solidFill>
                <a:latin typeface="Noto Sans"/>
                <a:ea typeface="Noto Sans"/>
                <a:cs typeface="Noto Sans"/>
              </a:rPr>
              <a:t>Politecnico di Milano, 26 ottobre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BC36C-84A7-47AB-A3D0-98FD9DA8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77000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D7E5DD"/>
                </a:solidFill>
                <a:latin typeface="Noto Sans"/>
                <a:ea typeface="Noto Sans"/>
                <a:cs typeface="Noto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64739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ACF2C-2A09-41EE-BBF7-D59309A7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Il gruppo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CC2E1-8C37-4453-BFF1-0C07BFE4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MAGGICAL. Fotografie già utilizzate nella C1 · 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4F01F-8F5F-4859-9010-2DD6A3FC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DF7BD-0F77-413C-821A-65872EF04D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fd105e70143e4"/>
          <a:srcRect xmlns:a="http://schemas.openxmlformats.org/drawingml/2006/main" l="23500" t="26333" r="59735" b="53667"/>
          <a:stretch xmlns:a="http://schemas.openxmlformats.org/drawingml/2006/main"/>
        </p:blipFill>
        <p:spPr>
          <a:xfrm xmlns:a="http://schemas.openxmlformats.org/drawingml/2006/main">
            <a:off x="666750" y="145732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9F8DC-809B-4203-9FF7-9C030E29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2004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Andrea Mauro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9107B-AAAF-4DE2-AA22-F8A93FC069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60418df2d4d4f"/>
          <a:srcRect xmlns:a="http://schemas.openxmlformats.org/drawingml/2006/main" l="20000" t="4500" r="20000" b="61000"/>
          <a:stretch xmlns:a="http://schemas.openxmlformats.org/drawingml/2006/main"/>
        </p:blipFill>
        <p:spPr>
          <a:xfrm xmlns:a="http://schemas.openxmlformats.org/drawingml/2006/main">
            <a:off x="4419600" y="145732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A10EA-1434-42F6-8456-FEF049E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004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Marco Macherelli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A738D-D74B-4294-85C3-91E4C822A4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3a2033a434dcb"/>
          <a:srcRect xmlns:a="http://schemas.openxmlformats.org/drawingml/2006/main" l="0" t="18000" r="0" b="14000"/>
          <a:stretch xmlns:a="http://schemas.openxmlformats.org/drawingml/2006/main"/>
        </p:blipFill>
        <p:spPr>
          <a:xfrm xmlns:a="http://schemas.openxmlformats.org/drawingml/2006/main">
            <a:off x="8172450" y="145732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F841E-143F-426E-A116-350DDBC7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004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Gabriele Martignoni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6D80F-3CF8-4023-8352-F3F7AEC11A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3b26f12634f62"/>
          <a:srcRect xmlns:a="http://schemas.openxmlformats.org/drawingml/2006/main" l="0" t="0" r="0" b="19122"/>
          <a:stretch xmlns:a="http://schemas.openxmlformats.org/drawingml/2006/main"/>
        </p:blipFill>
        <p:spPr>
          <a:xfrm xmlns:a="http://schemas.openxmlformats.org/drawingml/2006/main">
            <a:off x="666750" y="372427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49512-9F50-4701-B140-94D0F831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54673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Rime Chamkar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46126-E5D0-4EFF-8AF0-82C61814FA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eadb7d78f4325"/>
          <a:srcRect xmlns:a="http://schemas.openxmlformats.org/drawingml/2006/main" l="0" t="3000" r="0" b="7500"/>
          <a:stretch xmlns:a="http://schemas.openxmlformats.org/drawingml/2006/main"/>
        </p:blipFill>
        <p:spPr>
          <a:xfrm xmlns:a="http://schemas.openxmlformats.org/drawingml/2006/main">
            <a:off x="4419600" y="372427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5A0AC-6D22-4FB4-BECE-15154832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467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Emanuele Marcantonio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C5D42-1E89-4844-9181-6C5467BA14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49e92e961482e"/>
          <a:srcRect xmlns:a="http://schemas.openxmlformats.org/drawingml/2006/main" l="37917" t="39063" r="37083" b="44188"/>
          <a:stretch xmlns:a="http://schemas.openxmlformats.org/drawingml/2006/main"/>
        </p:blipFill>
        <p:spPr>
          <a:xfrm xmlns:a="http://schemas.openxmlformats.org/drawingml/2006/main">
            <a:off x="8172450" y="3724275"/>
            <a:ext cx="1809750" cy="1619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C4DD3-CAD6-417F-8D53-C572FDE6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467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ctr"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Edoardo Ughi</a:t>
            </a:r>
          </a:p>
        </p:txBody>
      </p:sp>
    </p:spTree>
    <p:extLst>
      <p:ext uri="{BB962C8B-B14F-4D97-AF65-F5344CB8AC3E}">
        <p14:creationId xmlns:p14="http://schemas.microsoft.com/office/powerpoint/2010/main" val="9258929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F059C-7503-4EF2-9541-870E5B09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Dominio e approfondimento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46EE8-E5DE-4040-A830-3C8900B1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Giovani adulti che si occupano della propria spesa e dei pasti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6937E-D904-4B46-B62B-CB002C4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Report C1 P01-P05; diario P02 del 21–26 ottobre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583A5-1D36-435D-8C02-ABED50A8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B24D-B281-4670-9397-F5D7F9B3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Base C1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AA3B0-CEE9-4BD4-BCF1-09AD455A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000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9483E"/>
                </a:solidFill>
              </a:defRPr>
            </a:pPr>
            <a:r>
              <a: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Nella C1 abbiamo esplorato acquisti, preparazioni quotidiane e gestione degli alimenti attraverso cinque interviste.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0D97A-BF98-4B4F-9EE0-88B734AA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86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Domanda C2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8C698-5BCA-426F-966F-E53ADF97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81300"/>
            <a:ext cx="5000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9483E"/>
                </a:solidFill>
              </a:defRPr>
            </a:pPr>
            <a:r>
              <a: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Come collegano ciò che hanno già in casa ai prossimi pasti, anche quando cambiano i programmi?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FDCB6-D4D1-49C1-991E-E1CB82AB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86B62"/>
                </a:solidFill>
              </a:defRPr>
            </a:pPr>
            <a:r>
              <a: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Feedback C1: approfondire la routine con un diario di spesa e preparazioni. Nel racconto, presentare le ragioni prima delle scelte.</a:t>
            </a:r>
          </a:p>
        </p:txBody>
      </p:sp>
    </p:spTree>
    <p:extLst>
      <p:ext uri="{BB962C8B-B14F-4D97-AF65-F5344CB8AC3E}">
        <p14:creationId xmlns:p14="http://schemas.microsoft.com/office/powerpoint/2010/main" val="828709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18824-BB7C-40CA-A2DB-4D8503E2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Diario quotidiano con P02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9DAB01-FD77-4006-A7D1-404927D4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21–26 ottobre 2026 · sei giorni di appunti sul telefono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AF7DD-C892-4CE6-9B3F-31492A51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P02-C2-D01; appunti e informazioni di raccolta M01/M02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9AB75-A3D2-46DA-B485-9947A30C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B2E0D-2743-4E3A-AA9F-D54A1BF4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83D32"/>
                </a:solidFill>
              </a:defRPr>
            </a:pPr>
            <a:r>
              <a:rPr sz="24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12 annotazioni sui pasti; spesa giorno per giorno in base alle esigenze.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035C8-0A52-4523-BF35-0464F31F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Format e contesti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C5012-75E1-4A9C-BEB3-8382EF1A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958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Diario auto-compilato, raccolto in modo asincrono. Compaiono un pranzo portato da casa, la mensa universitaria e due pasti con un amico.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064FF-E03B-4861-9904-822F25B5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671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Utente immediato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ED8BA-3F22-4890-8437-C924DB81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62400"/>
            <a:ext cx="5000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P02 gestisce spesa e pasti propri e aveva partecipato alla C1. Il diario approfondisce routine e occasioni reali di consumo.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D928D-6508-4733-9FAC-9466A637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8B5D14"/>
                </a:solidFill>
              </a:defRPr>
            </a:pPr>
            <a:r>
              <a: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Quantità, tempi e acquisti per prodotto non sono annotati.</a:t>
            </a:r>
          </a:p>
        </p:txBody>
      </p:sp>
    </p:spTree>
    <p:extLst>
      <p:ext uri="{BB962C8B-B14F-4D97-AF65-F5344CB8AC3E}">
        <p14:creationId xmlns:p14="http://schemas.microsoft.com/office/powerpoint/2010/main" val="754884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E3906-0C9E-4913-8BD6-78548D8C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Un pasto rinviato al giorno dopo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483EE-D3EC-42CE-AEC1-D1BEDC2E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Bowl prevista venerdì 23, consumata sabato 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7829F-3819-422E-AEA2-25BB7831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P02-D01-E05/E07 e chiarimento C01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53300-61FC-49ED-BE67-A098B12E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03F10-9A37-4C1A-AB2E-E4CF6172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8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83D32"/>
                </a:solidFill>
              </a:defRPr>
            </a:pPr>
            <a:r>
              <a:rPr sz="24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«di nuovo la bowl di pollo, perché era slittata da venerdì»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4016D-6586-4125-8987-F4C4AC0A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382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Il chiarimento distingue la preparazione prevista venerdì dal consumo di sabato. Il motivo del rinvio e la cena effettiva di venerdì non sono specificati.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944B6-24C9-4D59-843B-2DF5DCFF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2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8B5D14"/>
                </a:solidFill>
              </a:defRPr>
            </a:pPr>
            <a:r>
              <a: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L’adattamento riesce già nella routine. Il nuovo episodio rende concreta B03, senza descrivere una difficoltà irrisolta.</a:t>
            </a:r>
          </a:p>
        </p:txBody>
      </p:sp>
    </p:spTree>
    <p:extLst>
      <p:ext uri="{BB962C8B-B14F-4D97-AF65-F5344CB8AC3E}">
        <p14:creationId xmlns:p14="http://schemas.microsoft.com/office/powerpoint/2010/main" val="3871662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D8FF2-D92C-46F7-BAB0-E226F01F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Integrazione con l’analisi C1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CFFC4-AE5F-4075-9EAE-0701DA9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Il diario approfondisce il rinvio e le occasioni di consumo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E74FC-CF0B-4D47-BD6D-104D8308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Analisi C1–C2: P02-D01 e report C1 P01-P05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1D645-C5F2-4F7E-A4B4-1B544633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A59BC-26DE-4217-BCDD-1937156382CF}"/>
              </a:ext>
            </a:extLst>
          </p:cNvPr>
          <p:cNvGraphicFramePr/>
          <p:nvPr/>
        </p:nvGraphicFramePr>
        <p:xfrm>
          <a:off xmlns:a="http://schemas.openxmlformats.org/drawingml/2006/main" x="685800" y="2076450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286250"/>
                <a:gridCol w="4438650"/>
              </a:tblGrid>
              <a:tr h="495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Tema C1</a:t>
                      </a:r>
                    </a:p>
                  </a:txBody>
                  <a:tcPr marL="76200" marR="762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Diario P02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Che cosa aggiunge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Occasioni dei pasti</a:t>
                      </a:r>
                    </a:p>
                  </a:txBody>
                  <a:tcPr marL="76200" marR="762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Pranzo da casa il 23, mensa il 26; cous cous e zucchine ricorrono in pasti diversi.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B02/C07: contesti concreti. Il riuso della stessa confezione non è accertato.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Adattamento</a:t>
                      </a:r>
                    </a:p>
                  </a:txBody>
                  <a:tcPr marL="76200" marR="762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Bowl prevista venerdì e consumata sabato, dopo il rinvio.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B03: nuova occasione di consumo e strategia già riuscita.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Spesa e scorte</a:t>
                      </a:r>
                    </a:p>
                  </a:txBody>
                  <a:tcPr marL="76200" marR="762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Acquisti giorno per giorno; quantità e inventario non annotati.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63B34"/>
                          </a:solidFill>
                        </a:rPr>
                        <a:t>B01/B04 restano fondati sulla C1: nessuna nuova prova di spreco o eccesso.</a:t>
                      </a:r>
                    </a:p>
                  </a:txBody>
                  <a:tcPr marL="76200" marR="762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7378C-D873-415D-8C78-35A475A4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8B5D14"/>
                </a:solidFill>
              </a:defRPr>
            </a:pPr>
            <a:r>
              <a:rPr sz="1875" b="1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6048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B96CC-06A0-40A4-9C1A-59695B66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Brainstorming sui bisogni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358CA-C8F9-4FD4-B959-B81F3CE2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Otto candidati, commenti del gruppo e selezione B01–B04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DF85-92DA-4C5D-8459-CC89040F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FigJam 121:236. Tutti gli otto candidati e commenti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72F18-2432-4E4D-927B-5929A14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767A9-6803-4956-94DF-CFB2169990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069747f9e48b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873031" y="1952625"/>
            <a:ext cx="4445938" cy="3762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D4CB7-B887-48A3-B1CD-46815BB8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Quattro bisogni selezionati. C05–C08 integrati, trasversali o rinviati. Dettagli in appendice.</a:t>
            </a:r>
          </a:p>
        </p:txBody>
      </p:sp>
    </p:spTree>
    <p:extLst>
      <p:ext uri="{BB962C8B-B14F-4D97-AF65-F5344CB8AC3E}">
        <p14:creationId xmlns:p14="http://schemas.microsoft.com/office/powerpoint/2010/main" val="1587702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2F49B-EAD2-48F8-BE0E-C0A1F63B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Candidati integrati, trasversali o rinviati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4C48C-79F9-42FF-A03E-097477D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Abbiamo mantenuto le ragioni anche per i bisogni non selezionati come attività autonome.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6B664-9526-43E4-A007-41C4CF2010D8}"/>
              </a:ext>
            </a:extLst>
          </p:cNvPr>
          <p:cNvGraphicFramePr/>
          <p:nvPr/>
        </p:nvGraphicFramePr>
        <p:xfrm>
          <a:off xmlns:a="http://schemas.openxmlformats.org/drawingml/2006/main" x="609600" y="2209800"/>
          <a:ext xmlns:a="http://schemas.openxmlformats.org/drawingml/2006/main" cx="109728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143375"/>
                <a:gridCol w="5162550"/>
              </a:tblGrid>
              <a:tr h="4953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Candidato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Attività</a:t>
                      </a:r>
                    </a:p>
                  </a:txBody>
                  <a:tcPr marL="114300" marR="1143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Collocazione e ragione</a:t>
                      </a:r>
                    </a:p>
                  </a:txBody>
                  <a:tcPr marL="114300" marR="1143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C05</a:t>
                      </a:r>
                    </a:p>
                  </a:txBody>
                  <a:tcPr marL="114300" marR="114300" marT="57150" marB="5715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Valutare e adattare una ricetta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Dentro B02: chiarisce fattibilità e familiarità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C06</a:t>
                      </a:r>
                    </a:p>
                  </a:txBody>
                  <a:tcPr marL="114300" marR="114300" marT="57150" marB="5715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Ottenere supporto con sforzo sostenibile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Vincolo trasversale: riscontro soprattutto in P01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C07</a:t>
                      </a:r>
                    </a:p>
                  </a:txBody>
                  <a:tcPr marL="114300" marR="114300" marT="57150" marB="5715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Organizzare il pasto fuori casa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Contesto di B02/B03, con strategie già efficaci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C08</a:t>
                      </a:r>
                    </a:p>
                  </a:txBody>
                  <a:tcPr marL="114300" marR="114300" marT="57150" marB="5715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Coordinare menu nella coppia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B34"/>
                          </a:solidFill>
                          <a:latin typeface="Noto Sans"/>
                          <a:ea typeface="Noto Sans"/>
                          <a:cs typeface="Noto Sans"/>
                        </a:rPr>
                        <a:t>Rinviato: preoccupazione futura in P01</a:t>
                      </a:r>
                    </a:p>
                  </a:txBody>
                  <a:tcPr marL="114300" marR="114300" marT="57150" marB="5715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C8839-7FEB-4995-9295-DAB258AE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B01-B04 restano quattro attività distinte, presentate nelle slide successive.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DC40C-61CE-4524-9EBC-DF8ED897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P02-E10/E12; P03-E10/E11/E12; P01-E02/E03/E04/E07/E09; P04-E02/E04 · C2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0D16F-AACF-4FFA-9954-06C2D8AC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69048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EC08C-3783-4343-B7F6-C0763BBA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Riconoscere gli alimenti e scegliere il pasto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51B03-D5E9-4342-867E-AE2DDC76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B01 e B02 sono attività distinte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328DF-4496-45EA-8720-0C8E97B8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P01-E05; P05-E03/E04/E11. P02-E03/E10/E12; P03-E12/E13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3B33F-68C5-4B38-84AA-475BF508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D1252-1FA0-4F71-A0BA-DA67396B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B01 · Disponibilità e priorità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D4EA0-0F74-41AC-BE8C-80760BFC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9483E"/>
                </a:solidFill>
              </a:defRPr>
            </a:pPr>
            <a:r>
              <a: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Riconoscere gli alimenti presenti e stabilire quali utilizzare prima.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17A12-2107-4BBA-A7FF-C792ECA9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P01-E05: yogurt non visto, riacquistato e poi eliminato.</a:t>
            </a:r>
          </a:p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P05-E03/E04/E11: prodotti trascurati e strategia di portare davanti quelli più vecchi.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410A9-BCD3-44EF-BD6B-4450A26F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526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B02 · Pasto praticabile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838AB-9B2B-47CB-AB10-2902D8FA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9483E"/>
                </a:solidFill>
              </a:defRPr>
            </a:pPr>
            <a:r>
              <a: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Scegliere una preparazione compatibile con ingredienti, tempo, impegno e preferenze.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50292-84DE-4279-A0FE-5B32C7EF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00500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P02-E03/E10/E12: valuta lo sforzo e si affida a ricette conosciute.</a:t>
            </a:r>
          </a:p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P03-E12/E13: desiderio di varietà e preparazioni semplici.</a:t>
            </a:r>
          </a:p>
        </p:txBody>
      </p:sp>
    </p:spTree>
    <p:extLst>
      <p:ext uri="{BB962C8B-B14F-4D97-AF65-F5344CB8AC3E}">
        <p14:creationId xmlns:p14="http://schemas.microsoft.com/office/powerpoint/2010/main" val="18579710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1B498-6E73-46FE-97AB-F1B6DBB8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Adattare i pasti e valutare le quantità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B1414-2D77-45BE-BE1F-6FD69047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B03 e B04 collegano ingredienti e occasioni di consumo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01935-2E09-4F01-A834-0CC7AA03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C1: P02/P03; C2: P02-D01-E05/E07, C01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4B25D-6CC9-475E-91CC-53D2ABAE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04D7C-DB06-4152-BD2D-C619D8E0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B03 · Dopo un cambiamento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1AE89-A36C-47B9-B501-6CB7225A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Riorganizzare l’utilizzo degli ingredienti quando cambia una preparazione o un pasto.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77358-D298-4064-9F06-52622270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5048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9483E"/>
                </a:solidFill>
              </a:defRPr>
            </a:pPr>
            <a:r>
              <a: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C1: P02-E07/E08, programmi cambiati; P03-E04, rinvio del pollo riuscito; P03-E08, panna inutilizzata.</a:t>
            </a:r>
          </a:p>
          <a:p xmlns:a="http://schemas.openxmlformats.org/drawingml/2006/main">
            <a:pPr>
              <a:buNone/>
              <a:defRPr sz="1875" b="0">
                <a:solidFill>
                  <a:srgbClr val="29483E"/>
                </a:solidFill>
              </a:defRPr>
            </a:pPr>
            <a:r>
              <a: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C2: bowl prevista venerdì, consumata sabato (P02-D01-E05/E07, C01).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BF678-4829-4974-A4CC-81F80B7E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145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B04 · Prima dell’acquisto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CC2D0-77EC-4379-8EC5-0A31AC79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09850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Valutare quantità compatibili con ciò che si possiede e con occasioni realistiche di consumo.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053FA-9AF8-44A2-8512-322B514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5048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C1: P02-E06/E07, confezioni grandi; P03-E05/E07, quantità e occasioni.</a:t>
            </a:r>
          </a:p>
          <a:p xmlns:a="http://schemas.openxmlformats.org/drawingml/2006/main">
            <a:pPr>
              <a:buNone/>
              <a:defRPr sz="1950" b="0">
                <a:solidFill>
                  <a:srgbClr val="29483E"/>
                </a:solidFill>
              </a:defRPr>
            </a:pPr>
            <a:r>
              <a:rPr sz="18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Il diario C2 non riporta quantità o confezioni.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70467A-F644-4A0C-BD67-AA50F7C1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A44628"/>
                </a:solidFill>
              </a:defRPr>
            </a:pPr>
            <a:r>
              <a:rPr sz="18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Il nostro focus: gestione flessibile dei pasti.</a:t>
            </a:r>
          </a:p>
        </p:txBody>
      </p:sp>
    </p:spTree>
    <p:extLst>
      <p:ext uri="{BB962C8B-B14F-4D97-AF65-F5344CB8AC3E}">
        <p14:creationId xmlns:p14="http://schemas.microsoft.com/office/powerpoint/2010/main" val="20050622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8BD2D-C131-47FE-9438-E2CD18B3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Tre personas con obiettivi distinti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10187-4120-4ED3-9432-F5EA3E81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Archetipi fondati sulla C1, riesaminati con il diario P02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A3B42-CDC9-4C26-B7EF-6B77D313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Profili C1 e riesame P02-D01. Schede in appendice (slide 24–26)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17A0F-85C6-4749-927E-8554D27D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D5A6D-B861-4D0F-AB59-FF0DED14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21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Luca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F5CD5-8D94-4D06-8986-E1341C83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21 anni, studente.</a:t>
            </a:r>
          </a:p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Riorganizza ingredienti e pasti e valuta le quantità prima dell’acquisto.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00071-6AE2-4F01-9EAC-4124230C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621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Gianfranco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823C7-FCB7-4C1B-8D5A-4C86430B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57475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21 anni, studente fuori sede.</a:t>
            </a:r>
          </a:p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Sceglie una cena praticabile tra preparazioni familiari e desiderio di variare.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28F74-CCAF-4FAE-9521-49CDEEF7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62175"/>
            <a:ext cx="321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Marta · Primaria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81681-686E-4429-970A-3ABA0858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32194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26 anni, studia e lavora.</a:t>
            </a:r>
          </a:p>
          <a:p xmlns:a="http://schemas.openxmlformats.org/drawingml/2006/main">
            <a:pPr>
              <a:buNone/>
              <a:defRPr sz="2175" b="0">
                <a:solidFill>
                  <a:srgbClr val="29483E"/>
                </a:solidFill>
              </a:defRPr>
            </a:pPr>
            <a:r>
              <a:rPr sz="21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Coordina cena per due e pranzo del giorno dopo, includendo alimenti fuori routine.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FED00-B76C-402D-AB07-E1C36454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586B62"/>
                </a:solidFill>
              </a:defRPr>
            </a:pPr>
            <a:r>
              <a: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Marta approfondisce B01, priorità nei commenti. Gianfranco copre la fattibilità B02; Luca adattamento B03 e quantità B04.</a:t>
            </a:r>
          </a:p>
        </p:txBody>
      </p:sp>
    </p:spTree>
    <p:extLst>
      <p:ext uri="{BB962C8B-B14F-4D97-AF65-F5344CB8AC3E}">
        <p14:creationId xmlns:p14="http://schemas.microsoft.com/office/powerpoint/2010/main" val="11585993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606EC-B8A8-4EF6-9E5C-93AA6242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M · Cena e pranzo del giorno dopo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ECFCC-D4C2-4BD0-A7D9-6A6BDF70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Marta · B01 · Scenario concettuale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7BFAC-2409-4A9C-A7D9-013DE9BD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P01-E03/E05/E08/E09; P05-E03/E04/E11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A4B7F-BB47-478F-9EDB-919CF86F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49E57-20B7-4ACD-97BC-8861C5A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Marta deve preparare la cena per due e il proprio pranzo da portare al lavoro. Nota un prodotto fresco fuori dalle abitudini che rischiava di restare escluso dalla scelta.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1B7FE-005A-4F87-8BF1-66171531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Decisione da sostenere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320F8-8975-4127-9761-3308AAD7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Valutare la priorità dell’alimento e decidere in quale preparazione inserirlo.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858AE-69BC-4320-8829-51F9F45B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719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Esito desiderato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E8B9F-BDD8-4C06-A053-DC706A85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Riconoscere il prodotto trascurato e assegnargli un utilizzo, mantenendo la routine.</a:t>
            </a:r>
          </a:p>
        </p:txBody>
      </p:sp>
    </p:spTree>
    <p:extLst>
      <p:ext uri="{BB962C8B-B14F-4D97-AF65-F5344CB8AC3E}">
        <p14:creationId xmlns:p14="http://schemas.microsoft.com/office/powerpoint/2010/main" val="19646112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1A25B-DF04-4BC2-BA7E-897E96A1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G · La cena dopo le lezioni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56082-49FB-4435-82F3-15D320C2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Gianfranco · B02 · Scenario concettuale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ED954-0E90-415D-B3B4-163BA972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P01-E01/E09; P02-E03/E10/E12; P03-E12/E13; P05-E06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81DD5-E192-4912-A94B-60E56008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09AC5-0002-4EA1-8F1B-DB3CDF84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Gianfranco rientra dopo le lezioni e deve cenare prima di riprendere a studiare. Una ricetta interessante richiederebbe più lavoro di quanto vuole dedicare alla serata.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53395-5926-450A-82AE-27ECB9D3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Decisione da sostenere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365C4-5E9E-47B1-8A99-5E6E5120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Confrontare alternative rispetto a ingredienti, tempo, passaggi e impegno.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8F681-0FE2-4749-B044-AC17B674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719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Esito desiderato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C7DDA-2BC9-49A7-8237-7192F890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Scegliere una preparazione e spiegare perché è compatibile con la situazione.</a:t>
            </a:r>
          </a:p>
        </p:txBody>
      </p:sp>
    </p:spTree>
    <p:extLst>
      <p:ext uri="{BB962C8B-B14F-4D97-AF65-F5344CB8AC3E}">
        <p14:creationId xmlns:p14="http://schemas.microsoft.com/office/powerpoint/2010/main" val="16345924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C7C77-3176-44B0-BE47-1399E576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L · Manca un ingrediente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512BC-72BC-42D4-A5E3-B2DF25CD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Luca · B03 · Scenario concettuale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33F5-9C58-4386-97AF-E46A7012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P02-E07/E08 e C01; P03-E04/E08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A8DD3-D03D-4490-AA68-214C6B63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B7914-6399-4D59-A3BF-037A285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Luca scopre che manca un ingrediente per la cena prevista. Gli altri acquisti sono già disponibili e uscire di nuovo cambierebbe i tempi della serata.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75EED2-C8F4-4404-83AD-BACBFEF1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Decisione da sostenere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66836-3091-4421-8403-8961D50E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Confrontare una preparazione diversa con il rinvio, chiarendo che cosa resta da utilizzare.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DEF4D-1BD1-4CD7-9D7D-5581D46E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719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Esito desiderato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11CC0-03D0-4CF3-97D0-54EFEC7B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Adattare la cena e assegnare agli ingredienti rinviati un altro pasto effettivamente previsto.</a:t>
            </a:r>
          </a:p>
        </p:txBody>
      </p:sp>
    </p:spTree>
    <p:extLst>
      <p:ext uri="{BB962C8B-B14F-4D97-AF65-F5344CB8AC3E}">
        <p14:creationId xmlns:p14="http://schemas.microsoft.com/office/powerpoint/2010/main" val="9512182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04164-53C6-480B-A965-67F453E3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A · La confezione e i pasti previsti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1CD8B-6F59-4A4E-864F-63EA0071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Luca · B04 · Scenario concettuale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A7EFE-2695-4218-BA38-608F54BC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P02-E06/E07; P03-E05/E07. Dettagli dell’acquisto narrativi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65756-31D4-444D-B46B-2198F4D5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1A6FD-37DB-46A6-B6AF-F472B5B4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Luca fa la spesa e ha già un alimento fresco a casa. Prevede poche cene certe e una ancora incerta. Confronta una confezione conveniente grande con un formato più piccolo.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90319-3668-43DA-9415-03B003BA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Decisione da sostenere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81785-D532-4A0A-9382-A094C800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Valutare quantità, scorte e occasioni confermate o incerte prima di comprare.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272DF-BCAD-4233-9B0F-BD38A70C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719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Esito desiderato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E7869E-8169-498F-9ACE-750E1766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67225"/>
            <a:ext cx="5048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29483E"/>
                </a:solidFill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Motivare una quantità che abbia un utilizzo concreto, lasciando un eventuale acquisto a quando servirà.</a:t>
            </a:r>
          </a:p>
        </p:txBody>
      </p:sp>
    </p:spTree>
    <p:extLst>
      <p:ext uri="{BB962C8B-B14F-4D97-AF65-F5344CB8AC3E}">
        <p14:creationId xmlns:p14="http://schemas.microsoft.com/office/powerpoint/2010/main" val="17898133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84DA2-833B-40B8-BA83-7C55AD6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Idee individuali: Andrea e Marco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7150E-43D9-41DE-A906-12C48F1B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Ingredienti disponibili, adattabilità e contesto sportivo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5EDC9-4A57-437A-AC17-9E51D49E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FigJam 101:238 e 101:241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E6A15-1AFE-41A8-B430-8B73C626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F1C47-3A51-4CF4-9D47-EC81F98B17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63d5a17df4ab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2252519"/>
            <a:ext cx="5257800" cy="3162586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4101B-EF37-49AE-A77B-0EC5B030E8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6db4daa074c9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24600" y="2275946"/>
            <a:ext cx="5257800" cy="31157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7F921-B8DB-442E-BF87-4CDD9FDD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Sport e AI sono spunti progettuali, distinti dalle interviste.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8C32-B91A-4FCF-B2CB-0D4C5ED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0102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725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03294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84DA2-833B-40B8-BA83-7C55AD6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Idee individuali: Gabriele e Rime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7150E-43D9-41DE-A906-12C48F1B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Consapevolezza, uso degli alimenti e alternative praticabili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5EDC9-4A57-437A-AC17-9E51D49E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FigJam 101:244 e 101:247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E6A15-1AFE-41A8-B430-8B73C626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3F4E3-FA0A-43BE-9949-FCFD0564C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32a1c0b94482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2095818"/>
            <a:ext cx="5257800" cy="347599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1299A-1A8F-4178-857E-1DA68468E9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be692228b484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24600" y="2275946"/>
            <a:ext cx="5257800" cy="31157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7F921-B8DB-442E-BF87-4CDD9FDD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Le proposte collegano tempi e ingredienti. I benefici su spreco o consapevolezza restano da verificare.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8C32-B91A-4FCF-B2CB-0D4C5ED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0102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725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03294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84DA2-833B-40B8-BA83-7C55AD60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Idee individuali: Emanuele ed Edoardo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7150E-43D9-41DE-A906-12C48F1B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Dalle poche informazioni iniziali alla revisione dei pasti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5EDC9-4A57-437A-AC17-9E51D49E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FigJam 101:250 e 101:253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E6A15-1AFE-41A8-B430-8B73C626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BCF6F-5D5F-4215-B94E-642AE3EA93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201cffab448d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2275946"/>
            <a:ext cx="5257800" cy="3115733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4479F-DB85-4E86-8706-5265C69B33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5fa47917148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24600" y="2275946"/>
            <a:ext cx="5257800" cy="311573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7F921-B8DB-442E-BF87-4CDD9FDD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Poche informazioni, occasioni vicine e revisione della parte coinvolta del programma.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8C32-B91A-4FCF-B2CB-0D4C5ED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0102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725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65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725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03294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07CF4-9E8B-47ED-8521-9513368A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Tre direzioni concettuali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AF9A2-24FE-4073-AFEC-43E89580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Alternative di supporto alle attività, prima delle scelte tecnologiche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62E3B-9881-410A-8D66-4FF08B9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Scenari M/G/L/A e proposte PRE-01-PRE-08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030CA-200A-499A-A518-C2815B2B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19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D01DD-BA4E-4B5C-A856-480BBA540DA4}"/>
              </a:ext>
            </a:extLst>
          </p:cNvPr>
          <p:cNvGraphicFramePr/>
          <p:nvPr/>
        </p:nvGraphicFramePr>
        <p:xfrm>
          <a:off xmlns:a="http://schemas.openxmlformats.org/drawingml/2006/main" x="685800" y="21145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3905250"/>
                <a:gridCol w="5153025"/>
              </a:tblGrid>
              <a:tr h="4953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Direzione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Punto di partenza</a:t>
                      </a:r>
                    </a:p>
                  </a:txBody>
                  <a:tcPr marL="114300" marR="1143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</a:rPr>
                        <a:t>Attività centrale</a:t>
                      </a:r>
                    </a:p>
                  </a:txBody>
                  <a:tcPr marL="114300" marR="1143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D1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Un alimento disponibile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Trovargli un prossimo utilizzo concreto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D2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Il tempo e l’impegno possibili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Scegliere una preparazione praticabile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D3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Un cambiamento di programma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B34"/>
                          </a:solidFill>
                        </a:rPr>
                        <a:t>Riorganizzare ingredienti, pasti successivi e acquisti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9232E-3FF6-41E6-8C1E-C11B5021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0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86B62"/>
                </a:solidFill>
              </a:defRPr>
            </a:pPr>
            <a:r>
              <a: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D1 parte dagli alimenti, D2 dal tempo, D3 da un cambiamento. Il confronto riguarda il punto di partenza del percorso.</a:t>
            </a:r>
          </a:p>
        </p:txBody>
      </p:sp>
    </p:spTree>
    <p:extLst>
      <p:ext uri="{BB962C8B-B14F-4D97-AF65-F5344CB8AC3E}">
        <p14:creationId xmlns:p14="http://schemas.microsoft.com/office/powerpoint/2010/main" val="7210948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3A093-2389-446F-9761-13F0BC8C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Il confronto con prodotti esistenti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615D7-B7AE-43E1-8DCD-1C4ED08B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Confronto documentale di fonti ufficiali, aggiornato al 26 ottobre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D04DD-745F-4A91-AEB8-10921D58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Fonti ufficiali dei prodotti. Confronto documentale, 26 ottobre 2026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4DE6B-0112-4499-B22B-42A9C988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20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5B2A1-89B6-44BA-A43C-E343266726AC}"/>
              </a:ext>
            </a:extLst>
          </p:cNvPr>
          <p:cNvGraphicFramePr/>
          <p:nvPr/>
        </p:nvGraphicFramePr>
        <p:xfrm>
          <a:off xmlns:a="http://schemas.openxmlformats.org/drawingml/2006/main" x="685800" y="2066925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962900"/>
              </a:tblGrid>
              <a:tr h="4953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</a:rPr>
                        <a:t>Prodotto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</a:rPr>
                        <a:t>Capacità descritte dalle fonti</a:t>
                      </a:r>
                    </a:p>
                  </a:txBody>
                  <a:tcPr marL="114300" marR="114300" marT="76200" marB="76200" anchor="t">
                    <a:lnR w="9525">
                      <a:solidFill>
                        <a:srgbClr val="D7DFD6"/>
                      </a:solidFill>
                      <a:prstDash val="solid"/>
                    </a:lnR>
                    <a:lnT w="9525">
                      <a:solidFill>
                        <a:srgbClr val="D7DFD6"/>
                      </a:solidFill>
                      <a:prstDash val="solid"/>
                    </a:lnT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2D655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SuperCook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Ricette dagli ingredienti indicati e aggiornamento alla loro rimozione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Samsung Food / Food+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Scorte e priorità, ricette anche senza data, assegnazione ai giorni e lista della spesa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E7EEE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Sously</a:t>
                      </a:r>
                    </a:p>
                  </a:txBody>
                  <a:tcPr marL="133350" marR="133350" marT="114300" marB="114300" anchor="t">
                    <a:lnL w="9525">
                      <a:solidFill>
                        <a:srgbClr val="D7DFD6"/>
                      </a:solidFill>
                      <a:prstDash val="solid"/>
                    </a:lnL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B34"/>
                          </a:solidFill>
                        </a:rPr>
                        <a:t>Sostituzioni con proporzioni e conseguenze, pianificazione di ricette o ingredienti</a:t>
                      </a:r>
                    </a:p>
                  </a:txBody>
                  <a:tcPr marL="133350" marR="133350" marT="114300" marB="114300" anchor="t">
                    <a:lnR w="9525">
                      <a:solidFill>
                        <a:srgbClr val="D7DFD6"/>
                      </a:solidFill>
                      <a:prstDash val="solid"/>
                    </a:lnR>
                    <a:lnB w="9525">
                      <a:solidFill>
                        <a:srgbClr val="D7DF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CB47B-4664-492B-ABA4-2B2F82E9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83D32"/>
                </a:solidFill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Ipotesi CIBY: confrontare prima della scelta le conseguenze di un cambiamento su ingredienti rimasti, pasti e acquisti.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54E02-85BB-4AB0-9D32-E2B45830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8B5D14"/>
                </a:solidFill>
              </a:defRPr>
            </a:pPr>
            <a:r>
              <a:rPr sz="172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App non provate. Il confronto non dimostra unicità o un vantaggio della soluzione.</a:t>
            </a:r>
          </a:p>
        </p:txBody>
      </p:sp>
    </p:spTree>
    <p:extLst>
      <p:ext uri="{BB962C8B-B14F-4D97-AF65-F5344CB8AC3E}">
        <p14:creationId xmlns:p14="http://schemas.microsoft.com/office/powerpoint/2010/main" val="19905135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9A97-BEDE-4377-8CA5-32D63EE0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Confronto e selezione della direzione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4840C-DE92-4152-8B65-24923460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D1: dagli alimenti disponibili al prossimo utilizzo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B930C-A708-4E3A-9F25-EF054D30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FigJam: preferenze motivate dei sei componenti, sintesi del 26 ottobre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B22AB-084D-47E0-9708-F2E11943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DD277-941D-4568-BB57-21C98D7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Perché partire da D1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BE50E-A882-4325-A359-2E5A9307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3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29483E"/>
                </a:solidFill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I pareri valorizzano l’aiuto quotidiano e gli ingredienti già presenti. D1 collega riconoscimento delle priorità e scelta di cosa preparare.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305E7-EC9C-4566-A885-53ABB60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44628"/>
                </a:solidFill>
              </a:defRPr>
            </a:pPr>
            <a:r>
              <a:rPr sz="21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Che cosa conserviamo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28D63-0F41-44A9-B0CB-E74A313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86050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9483E"/>
                </a:solidFill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D2 contribuisce a tempo e impegno. D3 sostiene la flessibilità: Rime la valorizza anche come direzione; Edoardo la vede meglio come integrazione.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4E801-4596-4DD7-93E1-3317AE8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082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8B5D14"/>
                </a:solidFill>
              </a:defRPr>
            </a:pPr>
            <a:r>
              <a: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Confronto asincrono con preferenze motivate su FigJam. Conserviamo le ragioni e le differenze di posizione. Post-it originali in appendice.</a:t>
            </a:r>
          </a:p>
        </p:txBody>
      </p:sp>
    </p:spTree>
    <p:extLst>
      <p:ext uri="{BB962C8B-B14F-4D97-AF65-F5344CB8AC3E}">
        <p14:creationId xmlns:p14="http://schemas.microsoft.com/office/powerpoint/2010/main" val="15185090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03BE5-B046-46E0-8CAF-B82C35AC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La soluzione concettuale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BD56F-513A-496E-B6C2-42E1221E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D1 · Dall’alimento al prossimo utilizzo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E896F-405E-4024-AAC5-F0ED898C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B01 come punto di partenza; B02 per fattibilità, B03/B04 per adattamento e acquisti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1C4D2-3933-4DDE-8EF4-4AE18F38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9602A-1347-4170-9B99-1F298112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5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83D32"/>
                </a:solidFill>
              </a:defRPr>
            </a:pPr>
            <a:r>
              <a:rPr sz="225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CIBY aiuta chi gestisce i propri pasti a dare agli alimenti già disponibili un utilizzo nei prossimi pasti, scegliendo preparazioni compatibili con tempo, impegno e abitudini.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B82EB-CF46-4DC9-B77D-092AB010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4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29483E"/>
                </a:solidFill>
              </a:defRPr>
            </a:pPr>
            <a:r>
              <a:rPr sz="22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Quando i programmi cambiano, sostiene il confronto fra adattare e rinviare una preparazione, chiarendo che cosa resta da usare e che cosa occorre ancora acquistare.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BF7CB-7C09-4215-9C1E-9C580E46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86B62"/>
                </a:solidFill>
              </a:defRPr>
            </a:pPr>
            <a:r>
              <a: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Sport: possibile contesto organizzativo degli allenamenti, esplorato con un caso simulato.</a:t>
            </a:r>
          </a:p>
        </p:txBody>
      </p:sp>
    </p:spTree>
    <p:extLst>
      <p:ext uri="{BB962C8B-B14F-4D97-AF65-F5344CB8AC3E}">
        <p14:creationId xmlns:p14="http://schemas.microsoft.com/office/powerpoint/2010/main" val="140811852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CF8F0-DD3B-44C3-9148-34AD2F58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2"/>
                </a:solidFill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CIBY e la value proposition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7E727-23B6-4ABD-AA6A-E98EEF11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86B62"/>
                </a:solidFill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Beneficio che vogliamo comunicare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7419C-280E-428B-9352-984EDE8D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Nome CIBY e value proposition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AE37E-6F70-45CC-AA37-9B3D56F7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86B62"/>
                </a:solidFill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9FF48-6653-4BEC-A901-1CEA8995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83D32"/>
                </a:solidFill>
              </a:defRPr>
            </a:pPr>
            <a:r>
              <a:rPr sz="345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Con CIBY scegli cosa preparare con quello che hai, anche quando cambiano i programmi.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F40D3-89FE-43C6-8735-1E8F9C16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>
              <a:buNone/>
              <a:defRPr sz="21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8B5D14"/>
                </a:solidFill>
              </a:defRPr>
            </a:pPr>
            <a:r>
              <a:rPr sz="195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Abbiamo scelto CIBY perché richiama il cibo, al centro dell’esperienza. Il suono amichevole si lega all’idea di una futura mascotte, o di un elemento caratteristico del progetto, che potrebbe chiamarsi CIBY.</a:t>
            </a:r>
          </a:p>
        </p:txBody>
      </p:sp>
    </p:spTree>
    <p:extLst>
      <p:ext uri="{BB962C8B-B14F-4D97-AF65-F5344CB8AC3E}">
        <p14:creationId xmlns:p14="http://schemas.microsoft.com/office/powerpoint/2010/main" val="19538641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92094-C149-458E-8598-E075E47C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Luca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4CCE7-81EA-4867-85BD-67EE3B58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Appendice · Persona complementare · 21 anni, studente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7E9BA-331E-47D2-BBE9-223827F2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C1: P02/P03; diario P02-D01-E05/E07 e C01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721D1-31FF-4F4E-B984-238712FB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6C5CC-2530-4841-918B-A74F33B8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Gestisce principalmente acquisti e pasti personali. Compra pensando all’utilizzo, ma un cambiamento può lasciare ingredienti senza una destinazione.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5D6E5-7754-4B5B-9D3E-45C06347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Desidera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0D7E9-62EE-4657-A1D3-9157654A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Usare gli acquisti mantenendo flessibilità.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Rivedere i pasti senza ricostruire tutto il programma.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94740-2251-4320-8974-21E14DF4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Ha bisogno 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38A68-628E-47C2-A37C-B676CA6F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105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Confrontare adattamento e rinvio.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Assegnare un uso agli ingredienti rimasti.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Valutare quantità e occasioni prima della spesa.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A47EA-11F6-452E-BD4A-977E79C4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Frustrazioni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C6135-4C85-4538-B324-7132C9B7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Rimandare senza una nuova occasione concreta.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Trovare confezioni oltre le possibilità di utilizzo.</a:t>
            </a:r>
          </a:p>
        </p:txBody>
      </p:sp>
    </p:spTree>
    <p:extLst>
      <p:ext uri="{BB962C8B-B14F-4D97-AF65-F5344CB8AC3E}">
        <p14:creationId xmlns:p14="http://schemas.microsoft.com/office/powerpoint/2010/main" val="35152595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0A7C-7665-4AA1-98B4-C7F82AA1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Gianfranco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82709-9F6C-446E-ACC4-913CD22D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Appendice · Persona complementare · 21 anni, studente fuori sede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8F7A8-877D-4FF5-A4AB-15BF47D3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P01-E01/E09; P02-E03/E10/E12; P03-E12/E13; P05-E06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E1FDF-72AA-4FD5-B70B-3A424B27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4674F-6E23-491B-B8FC-A4CEA2BF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Si occupa di acquisti e pasti propri. Usa preparazioni familiari e vorrebbe variare, ma deve valutare l’impegno possibile nella singola serata.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FAAD0-56B4-4D60-B61B-C77C0976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Desidera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EE8ED2-EA41-4D6B-9EA1-D5B768B6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Preparare una cena soddisfacente.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Variare gradualmente con un impegno sostenibile.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58D60-289C-46CC-B919-FD52C6EA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Ha bisogno 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B6678-2E5F-40FB-BDB9-3D57574D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105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Confrontare ingredienti, tempo e passaggi.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Capire l’impegno prima di scegliere.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Collegare un alimento a un pasto fattibile.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AECE4-EB29-4B86-A120-BE74E664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Frustrazioni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F61DA0-5F65-4EC4-B7B5-1ABEBEC3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Scoprire tardi che una ricetta è troppo impegnativa.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Ripetere gli stessi piatti per lo sforzo di scelta.</a:t>
            </a:r>
          </a:p>
        </p:txBody>
      </p:sp>
    </p:spTree>
    <p:extLst>
      <p:ext uri="{BB962C8B-B14F-4D97-AF65-F5344CB8AC3E}">
        <p14:creationId xmlns:p14="http://schemas.microsoft.com/office/powerpoint/2010/main" val="11520396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3BB79-D0D8-47EC-A19A-31826892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Marta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E4C71-5126-4965-823F-AB7FF0CF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Appendice · Persona primaria · 26 anni, studia e lavora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49E32-7923-4762-A2AD-ECEBFFA7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P01-E01/E03/E05/E08/E09; P05-E03/E04/E11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87D0B-05EE-4E02-82AB-B09AEA60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DCB6E-7FB6-40D1-9C12-070727B8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Vive con il partner e gestisce buona parte dei pasti per due. Prepara la sera il pranzo da portare al lavoro; gli alimenti fuori routine possono restare meno visibili.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357DF-AD6B-4281-B0E0-AC92BCD0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Desidera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8FADA-1471-4B83-B629-4E0CA668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Conciliare cena per due e pranzo anticipato.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Mantenere pratica la propria organizzazione.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CFEA8-087B-488F-BC93-F3E477A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Ha bisogno di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92D55-107B-4933-95D7-2B84E595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5105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Riconoscere prodotti fuori routine e priorità.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Assegnare gli ingredienti ai pasti effettivi.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Coordinare preparazioni e quantità.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4821D1-0D8C-402C-A835-7312C77C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Frustrazioni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77FDA-6EE8-4710-AF0F-8575BD45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Dover scegliere quando ha poche energie.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Ritrovare troppo tardi un alimento trascurato.</a:t>
            </a:r>
          </a:p>
        </p:txBody>
      </p:sp>
    </p:spTree>
    <p:extLst>
      <p:ext uri="{BB962C8B-B14F-4D97-AF65-F5344CB8AC3E}">
        <p14:creationId xmlns:p14="http://schemas.microsoft.com/office/powerpoint/2010/main" val="116955498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B96CC-06A0-40A4-9C1A-59695B66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Bisogni selezionati e commenti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358CA-C8F9-4FD4-B959-B81F3CE2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Appendice · B01–B04 con risposte specifiche e posizioni individuali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DF85-92DA-4C5D-8459-CC89040F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FigJam 121:236; ritaglio della prima riga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72F18-2432-4E4D-927B-5929A14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4356A-743E-49FC-A3E7-C81C8A61F0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972e2e67e4a1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49073" y="1905000"/>
            <a:ext cx="8493853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D4CB7-B887-48A3-B1CD-46815BB8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B04 resta distinto per la decisione prima dell’acquisto. La proposta di accorparlo è conservata.</a:t>
            </a:r>
          </a:p>
        </p:txBody>
      </p:sp>
    </p:spTree>
    <p:extLst>
      <p:ext uri="{BB962C8B-B14F-4D97-AF65-F5344CB8AC3E}">
        <p14:creationId xmlns:p14="http://schemas.microsoft.com/office/powerpoint/2010/main" val="15877026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B96CC-06A0-40A4-9C1A-59695B66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Altri candidati e ragioni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358CA-C8F9-4FD4-B959-B81F3CE2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Appendice · C05 in B02, C06 trasversale, C07 come contesto, C08 rinviato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DF85-92DA-4C5D-8459-CC89040F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FigJam 121:236; ritaglio della seconda riga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72F18-2432-4E4D-927B-5929A14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03F21-8141-4F3B-8333-A10838340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ca679e411418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28334" y="1905000"/>
            <a:ext cx="9735331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D4CB7-B887-48A3-B1CD-46815BB8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Le strategie che funzionano e i limiti delle evidenze rimangono parte dell’analisi.</a:t>
            </a:r>
          </a:p>
        </p:txBody>
      </p:sp>
    </p:spTree>
    <p:extLst>
      <p:ext uri="{BB962C8B-B14F-4D97-AF65-F5344CB8AC3E}">
        <p14:creationId xmlns:p14="http://schemas.microsoft.com/office/powerpoint/2010/main" val="158770267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B96CC-06A0-40A4-9C1A-59695B66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Preferenze sulle tre direzioni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358CA-C8F9-4FD4-B959-B81F3CE2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Appendice · Post-it dei sei componenti nella disposizione originale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DF85-92DA-4C5D-8459-CC89040F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FigJam; ritaglio della pagina intera · 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972F18-2432-4E4D-927B-5929A140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29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A263B-633A-4F3F-B454-DAF703F175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aadf6160743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7695" y="1905000"/>
            <a:ext cx="10796609" cy="3857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D4CB7-B887-48A3-B1CD-46815BB8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Il gruppo converge su D1, pur considerando promettenti anche D2 e D3.</a:t>
            </a:r>
          </a:p>
        </p:txBody>
      </p:sp>
    </p:spTree>
    <p:extLst>
      <p:ext uri="{BB962C8B-B14F-4D97-AF65-F5344CB8AC3E}">
        <p14:creationId xmlns:p14="http://schemas.microsoft.com/office/powerpoint/2010/main" val="158770267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0E03B-285D-449E-BBA3-4E3CE312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Fonti e materiali di riferimento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D7735-43DE-4EA8-A8E2-3BA98F27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Repository: github.com/andremauroo/CIBY · 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63FBE-ACF4-4A7F-BE63-6E12178B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0B4BB-F704-496F-AE08-2D9E7475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Ricerca e analisi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997F5-ECCA-4BCC-A439-E870FC24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38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Report C1 P01-P05, estratti e artefatti.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Diario P02 del 21–26 ottobre e analisi integrata.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Bisogni B01-B04 con fonti specifiche.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A2A90-2AFE-4487-8F97-04E07DA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10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Processo e progettazione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47254-1DFF-45A0-9F39-983AAAA7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51054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3B7C8E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fe15aa804acb448b"/>
              </a:rPr>
              <a:t>Board FigJam</a:t>
            </a: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 e immagini del confronto.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Tre personas e quattro scenari concettuali.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Confronto documentale con prodotti esistenti. </a:t>
            </a:r>
            <a:r>
              <a:rPr sz="2100" b="0">
                <a:solidFill>
                  <a:srgbClr val="263B34"/>
                </a:solidFill>
                <a:latin typeface="Noto Sans"/>
                <a:ea typeface="Noto Sans"/>
                <a:cs typeface="Noto Sans"/>
              </a:rPr>
              <a:t>Fonti ufficiali nella slide successiva.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E8B2C-55EC-4375-AE2F-DA6E5818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Riferimenti del corso: Compito2-focus.pdf, pp. 1-2, e dispense Requisiti, Personas e Scenari.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C0496-A37D-4AF6-9694-94B03A25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La repo conserva fonti, immagini originali e motivazioni delle scelte. Le appendici approfondiscono profili e processo.</a:t>
            </a:r>
          </a:p>
        </p:txBody>
      </p:sp>
    </p:spTree>
    <p:extLst>
      <p:ext uri="{BB962C8B-B14F-4D97-AF65-F5344CB8AC3E}">
        <p14:creationId xmlns:p14="http://schemas.microsoft.com/office/powerpoint/2010/main" val="407127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5BFCCE-AC9F-476F-B5C7-B163C053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Fonti del confronto documentale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EDD27-83F9-45A6-BB02-E0BF0941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2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Fonti ufficiali consultate il 26 ottobre 2026 · 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B40E7-02B7-411E-84D8-A7D88B31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6645D"/>
                </a:solidFill>
                <a:latin typeface="Noto Sans"/>
                <a:ea typeface="Noto Sans"/>
                <a:cs typeface="Noto Sans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D0537-1FDF-4702-8CA6-600C99A2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SuperCook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1D0AF-B04C-43CC-A82C-760D53AC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e8ed0934eb8043ab"/>
              </a:rPr>
              <a:t>Descrizione dello sviluppatore nell’App 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D1F78-4EB8-409B-A824-113834FE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Samsung Food+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86408-4AC0-49DC-A212-4224EE81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02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94236401c9da42e9"/>
              </a:rPr>
              <a:t>Food+ e priorità degli alimenti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FF802-6E52-43F6-BA98-3E7F6436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Samsung Food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539E5-316F-487B-92FC-6724361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241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5bb577cf1a95494e"/>
              </a:rPr>
              <a:t>Food List e gestione delle scorte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B90C4-733A-4815-80DA-2E2D0061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Samsung Food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DD1B5-37F4-4445-A461-43FEFE7E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480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f81d2afa417c4aa2"/>
              </a:rPr>
              <a:t>Meal Planner e ricette senza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90E39-4D6D-4F12-84AA-A2E18896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Sously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34206-5C6C-44DA-AC04-5E057A95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719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10f17ea5c793495c"/>
              </a:rPr>
              <a:t>Sostituzioni e conseguenze sulla preparazione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DADA1-09E3-443A-B94A-FFEF311E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73A30"/>
                </a:solidFill>
                <a:latin typeface="Noto Sans"/>
                <a:ea typeface="Noto Sans"/>
                <a:cs typeface="Noto Sans"/>
              </a:rPr>
              <a:t>Sously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55CE3-0709-4948-B8C7-A23D204D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8058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defPPr>
            <a:lvl1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1pPr>
            <a:lvl2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2pPr>
            <a:lvl3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3pPr>
            <a:lvl4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4pPr>
            <a:lvl5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5pPr>
            <a:lvl6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6pPr>
            <a:lvl7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7pPr>
            <a:lvl8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8pPr>
            <a:lvl9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D6551"/>
                </a:solidFill>
                <a:latin typeface="Noto Sans"/>
                <a:ea typeface="Noto Sans"/>
                <a:cs typeface="Noto Sans"/>
              </a:defRPr>
            </a:pPr>
            <a:r>
              <a:rPr sz="1950" u="sng">
                <a:solidFill>
                  <a:srgbClr val="2D6551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fb7080ac89cd423d"/>
              </a:rPr>
              <a:t>Pianificazione di ricette o ingredienti</a:t>
            </a:r>
          </a:p>
        </p:txBody>
      </p:sp>
    </p:spTree>
    <p:extLst>
      <p:ext uri="{BB962C8B-B14F-4D97-AF65-F5344CB8AC3E}">
        <p14:creationId xmlns:p14="http://schemas.microsoft.com/office/powerpoint/2010/main" val="515294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2026-10-26T23:29:17.2860000Z</dcterms:created>
  <dcterms:modified xsi:type="dcterms:W3CDTF">2026-10-26T23:29:17.2860000Z</dcterms:modified>
</coreProperties>
</file>