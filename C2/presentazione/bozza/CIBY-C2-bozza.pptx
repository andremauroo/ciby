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f7f41fca34c07" /><Relationship Type="http://schemas.openxmlformats.org/officeDocument/2006/relationships/extended-properties" Target="/docProps/app.xml" Id="R40d65a9ac3f4486f" /><Relationship Type="http://schemas.openxmlformats.org/officeDocument/2006/relationships/officeDocument" Target="/ppt/presentation.xml" Id="Rb9dc7410a6e3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71f61290a4f85"/>
  </p:sldMasterIdLst>
  <p:notesMasterIdLst>
    <p:notesMasterId xmlns:r="http://schemas.openxmlformats.org/officeDocument/2006/relationships" r:id="R99a0e3f478cf4391"/>
  </p:notesMasterIdLst>
  <p:sldIdLst>
    <p:sldId xmlns:r="http://schemas.openxmlformats.org/officeDocument/2006/relationships" id="256" r:id="R15bff159764e41ac"/>
    <p:sldId xmlns:r="http://schemas.openxmlformats.org/officeDocument/2006/relationships" id="257" r:id="Rbcbe30a1d752452e"/>
    <p:sldId xmlns:r="http://schemas.openxmlformats.org/officeDocument/2006/relationships" id="258" r:id="Rc9a4fefbdd55424b"/>
    <p:sldId xmlns:r="http://schemas.openxmlformats.org/officeDocument/2006/relationships" id="259" r:id="Rc4ac5404e6dc4a8a"/>
    <p:sldId xmlns:r="http://schemas.openxmlformats.org/officeDocument/2006/relationships" id="260" r:id="R0a406834557a4965"/>
    <p:sldId xmlns:r="http://schemas.openxmlformats.org/officeDocument/2006/relationships" id="261" r:id="R562ed214ab6d4304"/>
    <p:sldId xmlns:r="http://schemas.openxmlformats.org/officeDocument/2006/relationships" id="262" r:id="Raed29bdf79ef4d8b"/>
    <p:sldId xmlns:r="http://schemas.openxmlformats.org/officeDocument/2006/relationships" id="263" r:id="R52971885518d44f5"/>
    <p:sldId xmlns:r="http://schemas.openxmlformats.org/officeDocument/2006/relationships" id="264" r:id="Rf8c4a8ac28f443bb"/>
    <p:sldId xmlns:r="http://schemas.openxmlformats.org/officeDocument/2006/relationships" id="265" r:id="Rfde19e6871324bc9"/>
    <p:sldId xmlns:r="http://schemas.openxmlformats.org/officeDocument/2006/relationships" id="266" r:id="Rbd3e1eabcc9443c8"/>
    <p:sldId xmlns:r="http://schemas.openxmlformats.org/officeDocument/2006/relationships" id="267" r:id="Rb76f088c293b4c31"/>
    <p:sldId xmlns:r="http://schemas.openxmlformats.org/officeDocument/2006/relationships" id="268" r:id="R3b70325b7670413e"/>
    <p:sldId xmlns:r="http://schemas.openxmlformats.org/officeDocument/2006/relationships" id="269" r:id="R8812149120634511"/>
    <p:sldId xmlns:r="http://schemas.openxmlformats.org/officeDocument/2006/relationships" id="270" r:id="R9ad89267b025485f"/>
    <p:sldId xmlns:r="http://schemas.openxmlformats.org/officeDocument/2006/relationships" id="271" r:id="R913ca32190774bb4"/>
    <p:sldId xmlns:r="http://schemas.openxmlformats.org/officeDocument/2006/relationships" id="272" r:id="R415e04f3d5ac4af1"/>
    <p:sldId xmlns:r="http://schemas.openxmlformats.org/officeDocument/2006/relationships" id="273" r:id="Rb488834472ec4eb2"/>
    <p:sldId xmlns:r="http://schemas.openxmlformats.org/officeDocument/2006/relationships" id="274" r:id="Rbf176bebbbf745a9"/>
    <p:sldId xmlns:r="http://schemas.openxmlformats.org/officeDocument/2006/relationships" id="275" r:id="Rb0c448577b4649a5"/>
    <p:sldId xmlns:r="http://schemas.openxmlformats.org/officeDocument/2006/relationships" id="276" r:id="Rb1690d1961854d1a"/>
    <p:sldId xmlns:r="http://schemas.openxmlformats.org/officeDocument/2006/relationships" id="277" r:id="R65bcf1084d0743e7"/>
    <p:sldId xmlns:r="http://schemas.openxmlformats.org/officeDocument/2006/relationships" id="278" r:id="R342db71e7e904393"/>
    <p:sldId xmlns:r="http://schemas.openxmlformats.org/officeDocument/2006/relationships" id="279" r:id="R510431a70cf94d3f"/>
    <p:sldId xmlns:r="http://schemas.openxmlformats.org/officeDocument/2006/relationships" id="280" r:id="R0f7e09b91a624d77"/>
    <p:sldId xmlns:r="http://schemas.openxmlformats.org/officeDocument/2006/relationships" id="281" r:id="R93a37151fe324f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15f8873e0d4603" /><Relationship Type="http://schemas.openxmlformats.org/officeDocument/2006/relationships/slideMaster" Target="/ppt/slideMasters/slideMaster1.xml" Id="R63d71f61290a4f85" /><Relationship Type="http://schemas.openxmlformats.org/officeDocument/2006/relationships/notesMaster" Target="/ppt/notesMasters/notesMaster1.xml" Id="R99a0e3f478cf4391" /><Relationship Type="http://schemas.openxmlformats.org/officeDocument/2006/relationships/presProps" Target="/ppt/presProps.xml" Id="R5ba524d9bd5d4d37" /><Relationship Type="http://schemas.openxmlformats.org/officeDocument/2006/relationships/tableStyles" Target="/ppt/tableStyles.xml" Id="R73655224545b4937" /><Relationship Type="http://schemas.openxmlformats.org/officeDocument/2006/relationships/slide" Target="/ppt/slides/slide1.xml" Id="R15bff159764e41ac" /><Relationship Type="http://schemas.openxmlformats.org/officeDocument/2006/relationships/slide" Target="/ppt/slides/slide2.xml" Id="Rbcbe30a1d752452e" /><Relationship Type="http://schemas.openxmlformats.org/officeDocument/2006/relationships/slide" Target="/ppt/slides/slide3.xml" Id="Rc9a4fefbdd55424b" /><Relationship Type="http://schemas.openxmlformats.org/officeDocument/2006/relationships/slide" Target="/ppt/slides/slide4.xml" Id="Rc4ac5404e6dc4a8a" /><Relationship Type="http://schemas.openxmlformats.org/officeDocument/2006/relationships/slide" Target="/ppt/slides/slide5.xml" Id="R0a406834557a4965" /><Relationship Type="http://schemas.openxmlformats.org/officeDocument/2006/relationships/slide" Target="/ppt/slides/slide6.xml" Id="R562ed214ab6d4304" /><Relationship Type="http://schemas.openxmlformats.org/officeDocument/2006/relationships/slide" Target="/ppt/slides/slide7.xml" Id="Raed29bdf79ef4d8b" /><Relationship Type="http://schemas.openxmlformats.org/officeDocument/2006/relationships/slide" Target="/ppt/slides/slide8.xml" Id="R52971885518d44f5" /><Relationship Type="http://schemas.openxmlformats.org/officeDocument/2006/relationships/slide" Target="/ppt/slides/slide9.xml" Id="Rf8c4a8ac28f443bb" /><Relationship Type="http://schemas.openxmlformats.org/officeDocument/2006/relationships/slide" Target="/ppt/slides/slide10.xml" Id="Rfde19e6871324bc9" /><Relationship Type="http://schemas.openxmlformats.org/officeDocument/2006/relationships/slide" Target="/ppt/slides/slide11.xml" Id="Rbd3e1eabcc9443c8" /><Relationship Type="http://schemas.openxmlformats.org/officeDocument/2006/relationships/slide" Target="/ppt/slides/slide12.xml" Id="Rb76f088c293b4c31" /><Relationship Type="http://schemas.openxmlformats.org/officeDocument/2006/relationships/slide" Target="/ppt/slides/slide13.xml" Id="R3b70325b7670413e" /><Relationship Type="http://schemas.openxmlformats.org/officeDocument/2006/relationships/slide" Target="/ppt/slides/slide14.xml" Id="R8812149120634511" /><Relationship Type="http://schemas.openxmlformats.org/officeDocument/2006/relationships/slide" Target="/ppt/slides/slide15.xml" Id="R9ad89267b025485f" /><Relationship Type="http://schemas.openxmlformats.org/officeDocument/2006/relationships/slide" Target="/ppt/slides/slide16.xml" Id="R913ca32190774bb4" /><Relationship Type="http://schemas.openxmlformats.org/officeDocument/2006/relationships/slide" Target="/ppt/slides/slide17.xml" Id="R415e04f3d5ac4af1" /><Relationship Type="http://schemas.openxmlformats.org/officeDocument/2006/relationships/slide" Target="/ppt/slides/slide18.xml" Id="Rb488834472ec4eb2" /><Relationship Type="http://schemas.openxmlformats.org/officeDocument/2006/relationships/slide" Target="/ppt/slides/slide19.xml" Id="Rbf176bebbbf745a9" /><Relationship Type="http://schemas.openxmlformats.org/officeDocument/2006/relationships/slide" Target="/ppt/slides/slide20.xml" Id="Rb0c448577b4649a5" /><Relationship Type="http://schemas.openxmlformats.org/officeDocument/2006/relationships/slide" Target="/ppt/slides/slide21.xml" Id="Rb1690d1961854d1a" /><Relationship Type="http://schemas.openxmlformats.org/officeDocument/2006/relationships/slide" Target="/ppt/slides/slide22.xml" Id="R65bcf1084d0743e7" /><Relationship Type="http://schemas.openxmlformats.org/officeDocument/2006/relationships/slide" Target="/ppt/slides/slide23.xml" Id="R342db71e7e904393" /><Relationship Type="http://schemas.openxmlformats.org/officeDocument/2006/relationships/slide" Target="/ppt/slides/slide24.xml" Id="R510431a70cf94d3f" /><Relationship Type="http://schemas.openxmlformats.org/officeDocument/2006/relationships/slide" Target="/ppt/slides/slide25.xml" Id="R0f7e09b91a624d77" /><Relationship Type="http://schemas.openxmlformats.org/officeDocument/2006/relationships/slide" Target="/ppt/slides/slide26.xml" Id="R93a37151fe32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d48a0cd88e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50eebcd2d4084" /><Relationship Type="http://schemas.openxmlformats.org/officeDocument/2006/relationships/notesMaster" Target="/ppt/notesMasters/notesMaster1.xml" Id="Rb25e67c52029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fdc3ca0d2a4196" /><Relationship Type="http://schemas.openxmlformats.org/officeDocument/2006/relationships/notesMaster" Target="/ppt/notesMasters/notesMaster1.xml" Id="R79e6a03c590046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2cf4900e904f61" /><Relationship Type="http://schemas.openxmlformats.org/officeDocument/2006/relationships/notesMaster" Target="/ppt/notesMasters/notesMaster1.xml" Id="R3a713ba6944d42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9a7140fbf543de" /><Relationship Type="http://schemas.openxmlformats.org/officeDocument/2006/relationships/notesMaster" Target="/ppt/notesMasters/notesMaster1.xml" Id="Rf19ebdbb4afb49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8528f5780c46ab" /><Relationship Type="http://schemas.openxmlformats.org/officeDocument/2006/relationships/notesMaster" Target="/ppt/notesMasters/notesMaster1.xml" Id="R572c4bca381847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1d8c1026a4bcd" /><Relationship Type="http://schemas.openxmlformats.org/officeDocument/2006/relationships/notesMaster" Target="/ppt/notesMasters/notesMaster1.xml" Id="R19c563e8e56444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a95cc0da344f7" /><Relationship Type="http://schemas.openxmlformats.org/officeDocument/2006/relationships/notesMaster" Target="/ppt/notesMasters/notesMaster1.xml" Id="Rf73d416a8a19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4e6dfa3f3426c" /><Relationship Type="http://schemas.openxmlformats.org/officeDocument/2006/relationships/notesMaster" Target="/ppt/notesMasters/notesMaster1.xml" Id="R7d15df0e409442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e7670d4c434a32" /><Relationship Type="http://schemas.openxmlformats.org/officeDocument/2006/relationships/notesMaster" Target="/ppt/notesMasters/notesMaster1.xml" Id="R4b44b8b4194944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be921fcd724885" /><Relationship Type="http://schemas.openxmlformats.org/officeDocument/2006/relationships/notesMaster" Target="/ppt/notesMasters/notesMaster1.xml" Id="Ra403d9bba5cc4e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c0499587fd4748" /><Relationship Type="http://schemas.openxmlformats.org/officeDocument/2006/relationships/notesMaster" Target="/ppt/notesMasters/notesMaster1.xml" Id="R22bc824f563b41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3bb612cc0f4430" /><Relationship Type="http://schemas.openxmlformats.org/officeDocument/2006/relationships/notesMaster" Target="/ppt/notesMasters/notesMaster1.xml" Id="R2b3cb33a0ce94e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443b9c6533489b" /><Relationship Type="http://schemas.openxmlformats.org/officeDocument/2006/relationships/notesMaster" Target="/ppt/notesMasters/notesMaster1.xml" Id="R955c8ad36c3442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0abd1dcc354e08" /><Relationship Type="http://schemas.openxmlformats.org/officeDocument/2006/relationships/notesMaster" Target="/ppt/notesMasters/notesMaster1.xml" Id="R8bd23e83245d4b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423b0270b7434e" /><Relationship Type="http://schemas.openxmlformats.org/officeDocument/2006/relationships/notesMaster" Target="/ppt/notesMasters/notesMaster1.xml" Id="R2a0990aea76d44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d7bbd7f24147ba" /><Relationship Type="http://schemas.openxmlformats.org/officeDocument/2006/relationships/notesMaster" Target="/ppt/notesMasters/notesMaster1.xml" Id="R6502e3ad6cbb4e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20ed2f22ef4afd" /><Relationship Type="http://schemas.openxmlformats.org/officeDocument/2006/relationships/notesMaster" Target="/ppt/notesMasters/notesMaster1.xml" Id="Rb6de4730530d4d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6535229bc942b2" /><Relationship Type="http://schemas.openxmlformats.org/officeDocument/2006/relationships/notesMaster" Target="/ppt/notesMasters/notesMaster1.xml" Id="Ra8dc05ffb3ab4d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94ab613840465d" /><Relationship Type="http://schemas.openxmlformats.org/officeDocument/2006/relationships/notesMaster" Target="/ppt/notesMasters/notesMaster1.xml" Id="Rd4716c14b9694c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a753b949ab4c1b" /><Relationship Type="http://schemas.openxmlformats.org/officeDocument/2006/relationships/notesMaster" Target="/ppt/notesMasters/notesMaster1.xml" Id="R915df39b783143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b6b63fe1334e06" /><Relationship Type="http://schemas.openxmlformats.org/officeDocument/2006/relationships/notesMaster" Target="/ppt/notesMasters/notesMaster1.xml" Id="R058f68d33e3c45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da1f2609d64ad1" /><Relationship Type="http://schemas.openxmlformats.org/officeDocument/2006/relationships/notesMaster" Target="/ppt/notesMasters/notesMaster1.xml" Id="Rf56fda4efa8d43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d08b575a974548" /><Relationship Type="http://schemas.openxmlformats.org/officeDocument/2006/relationships/notesMaster" Target="/ppt/notesMasters/notesMaster1.xml" Id="R60c7a52457fd49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0384b6877d4eb2" /><Relationship Type="http://schemas.openxmlformats.org/officeDocument/2006/relationships/notesMaster" Target="/ppt/notesMasters/notesMaster1.xml" Id="R48bfa28580ac47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ea89be92b54340" /><Relationship Type="http://schemas.openxmlformats.org/officeDocument/2006/relationships/notesMaster" Target="/ppt/notesMasters/notesMaster1.xml" Id="Rf9b821c7b6f14c1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a8f8e72bed4fe8" /><Relationship Type="http://schemas.openxmlformats.org/officeDocument/2006/relationships/notesMaster" Target="/ppt/notesMasters/notesMaster1.xml" Id="Ra23ecb7b27c5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r>
              <a:t>https://github.com/andremauroo/CIBY/blob/main/C2/README.md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https://github.com/andremauroo/CIBY/blob/main/C1/presentazione/CIBY-C1.pdf, p. 2. Foto e nomi ripresi dalla presentazione pubblicata.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r>
              <a:t>https://github.com/andremauroo/CIBY/blob/main/C2/preparazione/focus-e-decisioni.md</a:t>
            </a:r>
          </a:p>
          <a:p xmlns:a="http://schemas.openxmlformats.org/drawingml/2006/main">
            <a:r>
              <a:t>https://github.com/andremauroo/CIBY/blob/main/C1/report%20interviste/P01.pdf</a:t>
            </a:r>
          </a:p>
          <a:p xmlns:a="http://schemas.openxmlformats.org/drawingml/2006/main">
            <a:r>
              <a:t>https://github.com/andremauroo/CIBY/blob/main/C1/report%20interviste/P02.pdf</a:t>
            </a:r>
          </a:p>
          <a:p xmlns:a="http://schemas.openxmlformats.org/drawingml/2006/main">
            <a:r>
              <a:t>https://github.com/andremauroo/CIBY/blob/main/C1/report%20interviste/P03.pdf</a:t>
            </a:r>
          </a:p>
          <a:p xmlns:a="http://schemas.openxmlformats.org/drawingml/2006/main">
            <a:r>
              <a:t>https://github.com/andremauroo/CIBY/blob/main/C1/report%20interviste/P04.pdf</a:t>
            </a:r>
          </a:p>
          <a:p xmlns:a="http://schemas.openxmlformats.org/drawingml/2006/main">
            <a:r>
              <a:t>https://github.com/andremauroo/CIBY/blob/main/C1/report%20interviste/P05.pdf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r>
              <a:t>https://github.com/andremauroo/CIBY/blob/main/C2/preparazione/requisiti-e-piano.md</a:t>
            </a:r>
          </a:p>
          <a:p xmlns:a="http://schemas.openxmlformats.org/drawingml/2006/main">
            <a:r>
              <a:t>Aggiornamento del 26 ottobre: diario non ancora ricevuto.</a:t>
            </a:r>
          </a:p>
          <a:p xmlns:a="http://schemas.openxmlformats.org/drawingml/2006/main">
            <a:br/>
            <a:r>
              <a:t>https://github.com/andremauroo/CIBY/blob/main/C2/report/P02-diario.md</a:t>
            </a:r>
            <a:br/>
            <a:r>
              <a:t>https://github.com/andremauroo/CIBY/blob/main/C2/report/P02-diario-originale.md</a:t>
            </a:r>
            <a:br/>
            <a:r>
              <a:t>Periodo 21–26 ottobre 2026, sei giorni. Appunti compilati giorno per giorno sul telefono, ricevuti il 26 ottobre. Dodici voci: undici di pranzo/cena (una prevista e rinviata) e una di dopocena. La spesa quotidiana è informazione di contesto M02, non un registro dei prodotti acquistati. Mensa universitaria esplicita il 26; altri luoghi non annotati. P02 è lo stesso partecipante C1, non una nuova intervista.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r>
              <a:t>https://github.com/andremauroo/CIBY/blob/main/C2/preparazione/requisiti-e-piano.md</a:t>
            </a:r>
          </a:p>
          <a:p xmlns:a="http://schemas.openxmlformats.org/drawingml/2006/main">
            <a:br/>
            <a:r>
              <a:t>https://github.com/andremauroo/CIBY/blob/main/C2/report/P02-diario-originale.md</a:t>
            </a:r>
            <a:br/>
            <a:r>
              <a:t>https://github.com/andremauroo/CIBY/blob/main/C2/report/P02-diario.md</a:t>
            </a:r>
            <a:br/>
            <a:r>
              <a:t>E05 è un’intenzione per venerdì, E07 il consumo sabato; C01 chiarisce la sequenza. Il testo originale non è stato corretto retroattivamente. Non sono due consumi della stessa bowl; non si assumono avanzi già cotti, stesso lotto, quantità, causa sociale o allenamento.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https://github.com/andremauroo/CIBY/blob/main/C2/preparazione/evidenze-e-bisogni.md</a:t>
            </a:r>
          </a:p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br/>
            <a:r>
              <a:t>https://github.com/andremauroo/CIBY/blob/main/C2/report/analisi-tematica.md</a:t>
            </a:r>
            <a:br/>
            <a:r>
              <a:t>https://github.com/andremauroo/CIBY/blob/main/C2/report/P02-diario.md</a:t>
            </a:r>
            <a:br/>
            <a:r>
              <a:t>C1: P02-E02/E05/E07/E08 e C01; P03-E04; P01-E03/E09. C2: P02-D01-E03/E04/E05/E07/E10, M02 e C01. B03 approfondito come attività, senza dimostrazione del bisogno di un’app; B02/C07 contestualizzati. B01 e B04 non ricevono nuove prove dirette. Gli ingredienti ricorrenti non provano avanzi o stesso lotto.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https://github.com/andremauroo/CIBY/blob/main/C2/preparazione/brainstorming-bisogni.md</a:t>
            </a:r>
          </a:p>
          <a:p xmlns:a="http://schemas.openxmlformats.org/drawingml/2006/main">
            <a:r>
              <a:t>https://www.figma.com/board/Aa9cVd9wI6ifqZyzO30I9m/Compito-2?node-id=121-228</a:t>
            </a:r>
          </a:p>
          <a:p xmlns:a="http://schemas.openxmlformats.org/drawingml/2006/main">
            <a:r>
              <a:t>Immagine del processo al 26 ottobre: confronto ancora in corso. Versione ad alta risoluzione in C2/altro/immagini-processo.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https://github.com/andremauroo/CIBY/blob/main/C2/preparazione/evidenze-e-bisogni.md</a:t>
            </a:r>
          </a:p>
          <a:p xmlns:a="http://schemas.openxmlformats.org/drawingml/2006/main">
            <a:r>
              <a:t>Candidati e collocazioni della rilettura C1. Nuovi dati e confronto potranno modificarle.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https://github.com/andremauroo/CIBY/blob/main/C2/preparazione/evidenze-e-bisogni.md</a:t>
            </a:r>
          </a:p>
          <a:p xmlns:a="http://schemas.openxmlformats.org/drawingml/2006/main">
            <a:r>
              <a:t>https://github.com/andremauroo/CIBY/blob/main/C1/report%20interviste/P01.pdf</a:t>
            </a:r>
          </a:p>
          <a:p xmlns:a="http://schemas.openxmlformats.org/drawingml/2006/main">
            <a:r>
              <a:t>https://github.com/andremauroo/CIBY/blob/main/C1/report%20interviste/P02.pdf</a:t>
            </a:r>
          </a:p>
          <a:p xmlns:a="http://schemas.openxmlformats.org/drawingml/2006/main">
            <a:r>
              <a:t>https://github.com/andremauroo/CIBY/blob/main/C1/report%20interviste/P03.pdf</a:t>
            </a:r>
          </a:p>
          <a:p xmlns:a="http://schemas.openxmlformats.org/drawingml/2006/main">
            <a:r>
              <a:t>https://github.com/andremauroo/CIBY/blob/main/C1/report%20interviste/P04.pdf</a:t>
            </a:r>
          </a:p>
          <a:p xmlns:a="http://schemas.openxmlformats.org/drawingml/2006/main">
            <a:r>
              <a:t>https://github.com/andremauroo/CIBY/blob/main/C1/report%20interviste/P05.pdf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https://github.com/andremauroo/CIBY/blob/main/C2/preparazione/evidenze-e-bisogni.md</a:t>
            </a:r>
          </a:p>
          <a:p xmlns:a="http://schemas.openxmlformats.org/drawingml/2006/main">
            <a:r>
              <a:t>https://github.com/andremauroo/CIBY/blob/main/C2/preparazione/focus-e-decisioni.md</a:t>
            </a:r>
          </a:p>
          <a:p xmlns:a="http://schemas.openxmlformats.org/drawingml/2006/main">
            <a:r>
              <a:t>https://github.com/andremauroo/CIBY/blob/main/C1/report%20interviste/P01.pdf</a:t>
            </a:r>
          </a:p>
          <a:p xmlns:a="http://schemas.openxmlformats.org/drawingml/2006/main">
            <a:r>
              <a:t>https://github.com/andremauroo/CIBY/blob/main/C1/report%20interviste/P02.pdf</a:t>
            </a:r>
          </a:p>
          <a:p xmlns:a="http://schemas.openxmlformats.org/drawingml/2006/main">
            <a:r>
              <a:t>https://github.com/andremauroo/CIBY/blob/main/C1/report%20interviste/P03.pdf</a:t>
            </a:r>
          </a:p>
          <a:p xmlns:a="http://schemas.openxmlformats.org/drawingml/2006/main">
            <a:r>
              <a:t>https://github.com/andremauroo/CIBY/blob/main/C1/report%20interviste/P04.pdf</a:t>
            </a:r>
          </a:p>
          <a:p xmlns:a="http://schemas.openxmlformats.org/drawingml/2006/main">
            <a:r>
              <a:t>https://github.com/andremauroo/CIBY/blob/main/C1/report%20interviste/P05.pdf</a:t>
            </a:r>
          </a:p>
          <a:p xmlns:a="http://schemas.openxmlformats.org/drawingml/2006/main">
            <a:br/>
            <a:r>
              <a:t>https://github.com/andremauroo/CIBY/blob/main/C2/report/analisi-tematica.md</a:t>
            </a:r>
            <a:br/>
            <a:r>
              <a:t>Il nuovo diario sostiene un rinvio riuscito per B03. Le quantità di B04 restano fondate sulle interviste C1. Non si attribuisce alla panna di P03 un’eliminazione accertata.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https://github.com/andremauroo/CIBY/blob/main/C1/report%20interviste/P01.pdf</a:t>
            </a:r>
          </a:p>
          <a:p xmlns:a="http://schemas.openxmlformats.org/drawingml/2006/main">
            <a:r>
              <a:t>https://github.com/andremauroo/CIBY/blob/main/C1/report%20interviste/P02.pdf</a:t>
            </a:r>
          </a:p>
          <a:p xmlns:a="http://schemas.openxmlformats.org/drawingml/2006/main">
            <a:r>
              <a:t>https://github.com/andremauroo/CIBY/blob/main/C1/report%20interviste/P03.pdf</a:t>
            </a:r>
          </a:p>
          <a:p xmlns:a="http://schemas.openxmlformats.org/drawingml/2006/main">
            <a:r>
              <a:t>https://github.com/andremauroo/CIBY/blob/main/C1/report%20interviste/P04.pdf</a:t>
            </a:r>
          </a:p>
          <a:p xmlns:a="http://schemas.openxmlformats.org/drawingml/2006/main">
            <a:r>
              <a:t>https://github.com/andremauroo/CIBY/blob/main/C1/report%20interviste/P05.pdf</a:t>
            </a:r>
          </a:p>
          <a:p xmlns:a="http://schemas.openxmlformats.org/drawingml/2006/main">
            <a:br/>
            <a:r>
              <a:t>https://github.com/andremauroo/CIBY/blob/main/C2/preparazione/personas-e-scenari.md</a:t>
            </a:r>
            <a:br/>
            <a:r>
              <a:t>Il riesame del diario non introduce un nuovo archetipo. Luca rimane persona primaria di lavoro; il rinvio riuscito non giustifica un profilo incapace di adattarsi. Il diario non documenta un ingrediente mancante, quantità eccessive o dimenticanze.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P01-E03/E05/E08/E09. P05-E03/E04/E11.</a:t>
            </a:r>
          </a:p>
          <a:p xmlns:a="http://schemas.openxmlformats.org/drawingml/2006/main">
            <a:r>
              <a:t>Scenario concettuale: dettagli, supporto ed esito sono costruzioni progettuali, non episodi osservati.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P01-E01/E09. P02-E03/E10/E12. P03-E12/E13. P05-E06.</a:t>
            </a:r>
          </a:p>
          <a:p xmlns:a="http://schemas.openxmlformats.org/drawingml/2006/main">
            <a:r>
              <a:t>Scenario concettuale: dettagli, supporto ed esito sono costruzioni progettuali, non episodi osservati.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P02-E07/E08 e C01. P03-E04/E08. Non si assume che la panna di P03 sia stata eliminata.</a:t>
            </a:r>
          </a:p>
          <a:p xmlns:a="http://schemas.openxmlformats.org/drawingml/2006/main">
            <a:r>
              <a:t>Scenario concettuale: dettagli, supporto ed esito sono costruzioni progettuali, non episodi osservati.</a:t>
            </a:r>
          </a:p>
          <a:p xmlns:a="http://schemas.openxmlformats.org/drawingml/2006/main">
            <a:br/>
            <a:r>
              <a:t>https://github.com/andremauroo/CIBY/blob/main/C2/report/analisi-tematica.md</a:t>
            </a:r>
            <a:br/>
            <a:r>
              <a:t>Il diario P02 aggiunge un rinvio riuscito senza causa annotata. Il dettaglio dell’ingrediente mancante rimane fondato sulla C1 e appartiene allo scenario concettuale; non viene attribuito al diario.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P02-E06/E07. P03-E05/E07. Formati, invito e scelta specifica sono dettagli narrativi, non un acquisto osservato.</a:t>
            </a:r>
          </a:p>
          <a:p xmlns:a="http://schemas.openxmlformats.org/drawingml/2006/main">
            <a:r>
              <a:t>Scenario concettuale: dettagli, supporto ed esito sono costruzioni progettuali, non episodi osservati.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https://github.com/andremauroo/CIBY/blob/main/C2/preparazione/brainstorming-e-scelta.md</a:t>
            </a:r>
          </a:p>
          <a:p xmlns:a="http://schemas.openxmlformats.org/drawingml/2006/main">
            <a:r>
              <a:t>https://www.figma.com/board/Aa9cVd9wI6ifqZyzO30I9m/Compito-2?node-id=101-228</a:t>
            </a:r>
          </a:p>
          <a:p xmlns:a="http://schemas.openxmlformats.org/drawingml/2006/main">
            <a:r>
              <a:t>Le proposte gialle sono bozze ancora da discutere. Necessità dell’AI e benefici su spreco o tempo sono ipotesi degli spunti, non risultati della ricerca.</a:t>
            </a:r>
          </a:p>
          <a:p xmlns:a="http://schemas.openxmlformats.org/drawingml/2006/main">
            <a:br/>
            <a:r>
              <a:t>Ulteriori contributi individuali di Gabriele, Rime ed Edoardo riletti nella board il 26 ottobre. Sintesi e collegamenti agli originali in C2/preparazione/brainstorming-e-scelta.md. Mancano ancora le idee di Emanuele e la documentazione della selezione conclusiva. Le immagini mostrano gli esempi iniziali di Andrea e Marco.</a:t>
            </a:r>
          </a:p>
          <a:p xmlns:a="http://schemas.openxmlformats.org/drawingml/2006/main">
            <a:br/>
            <a:r>
              <a:t>https://github.com/andremauroo/CIBY/blob/main/C2/preparazione/brainstorming-e-scelta.md</a:t>
            </a:r>
            <a:br/>
            <a:r>
              <a:t>Presenti anche le tre idee di Emanuele: 188:389, 188:393, 188:397 nella board. Le immagini mostrano esempi iniziali di Andrea e Marco; le immagini conclusive saranno aggiornate con la selezione.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https://github.com/andremauroo/CIBY/blob/main/C2/preparazione/alternative-soluzione.md</a:t>
            </a:r>
          </a:p>
          <a:p xmlns:a="http://schemas.openxmlformats.org/drawingml/2006/main">
            <a:r>
              <a:t>https://github.com/andremauroo/CIBY/blob/main/C2/preparazione/soluzione-concettuale.md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https://github.com/andremauroo/CIBY/blob/main/C2/preparazione/confronto-soluzioni-esistenti.md</a:t>
            </a:r>
          </a:p>
          <a:p xmlns:a="http://schemas.openxmlformats.org/drawingml/2006/main">
            <a:r>
              <a:t>https://apps.apple.com/us/app/supercook-recipe-by-ingredient/id1477747816</a:t>
            </a:r>
          </a:p>
          <a:p xmlns:a="http://schemas.openxmlformats.org/drawingml/2006/main">
            <a:r>
              <a:t>https://samsungfood.com/foodplus-promo/uk/</a:t>
            </a:r>
          </a:p>
          <a:p xmlns:a="http://schemas.openxmlformats.org/drawingml/2006/main">
            <a:r>
              <a:t>https://support.samsungfood.com/hc/en-us/articles/30025317487508-Getting-Started-with-Food-List</a:t>
            </a:r>
          </a:p>
          <a:p xmlns:a="http://schemas.openxmlformats.org/drawingml/2006/main">
            <a:r>
              <a:t>https://support.samsungfood.com/hc/en-us/articles/35369657798548-Getting-Started-with-Meal-Planner</a:t>
            </a:r>
          </a:p>
          <a:p xmlns:a="http://schemas.openxmlformats.org/drawingml/2006/main">
            <a:r>
              <a:t>https://www.sously.app/help/substitute-ingredients/</a:t>
            </a:r>
          </a:p>
          <a:p xmlns:a="http://schemas.openxmlformats.org/drawingml/2006/main">
            <a:r>
              <a:t>https://www.sously.app/help/plan-your-week/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https://github.com/andremauroo/CIBY/blob/main/C2/preparazione/brainstorming-e-scelta.md</a:t>
            </a:r>
          </a:p>
          <a:p xmlns:a="http://schemas.openxmlformats.org/drawingml/2006/main">
            <a:r>
              <a:t>https://github.com/andremauroo/CIBY/blob/main/C2/preparazione/focus-e-decisioni.md</a:t>
            </a:r>
          </a:p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br/>
            <a:r>
              <a:t>https://github.com/andremauroo/CIBY/blob/main/C2/report/analisi-tematica.md</a:t>
            </a:r>
            <a:br/>
            <a:r>
              <a:t>https://github.com/andremauroo/CIBY/blob/main/C2/report/confronto-gruppo.md</a:t>
            </a:r>
            <a:br/>
            <a:r>
              <a:t>La nuova raccolta orienta la progettazione ma non seleziona da sola D3. Metodo ed esito effettivo del confronto del gruppo restano da documentare.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https://github.com/andremauroo/CIBY/blob/main/C2/preparazione/soluzione-concettuale.md</a:t>
            </a:r>
          </a:p>
          <a:p xmlns:a="http://schemas.openxmlformats.org/drawingml/2006/main">
            <a:r>
              <a:t>https://github.com/andremauroo/CIBY/blob/main/C2/preparazione/approfondimento-sportivo-simulato.md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https://github.com/andremauroo/CIBY/blob/main/C2/preparazione/value-proposition.md</a:t>
            </a:r>
          </a:p>
          <a:p xmlns:a="http://schemas.openxmlformats.org/drawingml/2006/main">
            <a:r>
              <a:t>https://github.com/andremauroo/CIBY/blob/main/C2/preparazione/brainstorming-e-scelta.md</a:t>
            </a:r>
          </a:p>
          <a:p xmlns:a="http://schemas.openxmlformats.org/drawingml/2006/main">
            <a:br/>
            <a:r>
              <a:t>Il nome richiama il cibo, al centro dell’esperienza. Il suono amichevole è collegato alla possibilità di una futura mascotte o di un elemento caratteristico chiamato CIBY. La mascotte resta un’idea per la realizzazione successiva.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Compito2-focus.pdf, pp. 1-2, riferimento operativo del corso. Consegna C2 del 26 ottobre 2026.</a:t>
            </a:r>
          </a:p>
          <a:p xmlns:a="http://schemas.openxmlformats.org/drawingml/2006/main">
            <a:r>
              <a:t>https://github.com/andremauroo/CIBY/blob/main/C1/report%20interviste/P01.pdf</a:t>
            </a:r>
          </a:p>
          <a:p xmlns:a="http://schemas.openxmlformats.org/drawingml/2006/main">
            <a:r>
              <a:t>https://github.com/andremauroo/CIBY/blob/main/C1/report%20interviste/P02.pdf</a:t>
            </a:r>
          </a:p>
          <a:p xmlns:a="http://schemas.openxmlformats.org/drawingml/2006/main">
            <a:r>
              <a:t>https://github.com/andremauroo/CIBY/blob/main/C1/report%20interviste/P03.pdf</a:t>
            </a:r>
          </a:p>
          <a:p xmlns:a="http://schemas.openxmlformats.org/drawingml/2006/main">
            <a:r>
              <a:t>https://github.com/andremauroo/CIBY/blob/main/C1/report%20interviste/P04.pdf</a:t>
            </a:r>
          </a:p>
          <a:p xmlns:a="http://schemas.openxmlformats.org/drawingml/2006/main">
            <a:r>
              <a:t>https://github.com/andremauroo/CIBY/blob/main/C1/report%20interviste/P05.pdf</a:t>
            </a:r>
          </a:p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https://github.com/andremauroo/CIBY/blob/main/C2/preparazione/confronto-soluzioni-esistenti.md</a:t>
            </a:r>
          </a:p>
          <a:p xmlns:a="http://schemas.openxmlformats.org/drawingml/2006/main">
            <a:r>
              <a:t>https://www.figma.com/board/Aa9cVd9wI6ifqZyzO30I9m/Compito-2</a:t>
            </a:r>
          </a:p>
          <a:p xmlns:a="http://schemas.openxmlformats.org/drawingml/2006/main">
            <a:br/>
            <a:r>
              <a:t>https://github.com/andremauroo/CIBY/blob/main/C2/report/P02-diario-originale.md</a:t>
            </a:r>
            <a:br/>
            <a:r>
              <a:t>https://github.com/andremauroo/CIBY/blob/main/C2/report/P02-diario.md</a:t>
            </a:r>
            <a:br/>
            <a:r>
              <a:t>https://github.com/andremauroo/CIBY/blob/main/C2/report/analisi-tematica.md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Archetipo sintetico sui temi C1. Nome, età e dettagli narrativi non identificano singoli partecipanti.</a:t>
            </a:r>
          </a:p>
          <a:p xmlns:a="http://schemas.openxmlformats.org/drawingml/2006/main">
            <a:br/>
            <a:r>
              <a:t>https://github.com/andremauroo/CIBY/blob/main/C2/preparazione/personas-e-scenari.md</a:t>
            </a:r>
            <a:br/>
            <a:r>
              <a:t>P02-D01-E05/E07 e C01 aggiungono un rinvio riuscito. La persona resta un archetipo e le frustrazioni non sono nuovi eventi del diario.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Archetipo sintetico sui temi C1. Nome, età e dettagli narrativi non identificano singoli partecipanti.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Archetipo sintetico sui temi C1. Nome, età e dettagli narrativi non identificano singoli partecipanti.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https://apps.apple.com/us/app/supercook-recipe-by-ingredient/id1477747816</a:t>
            </a:r>
          </a:p>
          <a:p xmlns:a="http://schemas.openxmlformats.org/drawingml/2006/main">
            <a:r>
              <a:t>https://samsungfood.com/foodplus-promo/uk/</a:t>
            </a:r>
          </a:p>
          <a:p xmlns:a="http://schemas.openxmlformats.org/drawingml/2006/main">
            <a:r>
              <a:t>https://support.samsungfood.com/hc/en-us/articles/30025317487508-Getting-Started-with-Food-List</a:t>
            </a:r>
          </a:p>
          <a:p xmlns:a="http://schemas.openxmlformats.org/drawingml/2006/main">
            <a:r>
              <a:t>https://support.samsungfood.com/hc/en-us/articles/35369657798548-Getting-Started-with-Meal-Planner</a:t>
            </a:r>
          </a:p>
          <a:p xmlns:a="http://schemas.openxmlformats.org/drawingml/2006/main">
            <a:r>
              <a:t>https://www.sously.app/help/substitute-ingredients/</a:t>
            </a:r>
          </a:p>
          <a:p xmlns:a="http://schemas.openxmlformats.org/drawingml/2006/main">
            <a:r>
              <a:t>https://www.sously.app/help/plan-your-week/</a:t>
            </a:r>
          </a:p>
          <a:p xmlns:a="http://schemas.openxmlformats.org/drawingml/2006/main">
            <a:r>
              <a:t>Confronto documentale: nessuna prova delle app o misurazione dei risultati. Dettagli in https://github.com/andremauroo/CIBY/blob/main/C2/preparazione/confronto-soluzioni-esistenti.md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2eefc067d41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db1acddd94a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a5f03484248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c3f7627e149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247e6feec4f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3d45dc16f47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E3F3BF-098F-4DD5-AF2E-8F6B6D022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FA611A-E9E0-4BCF-A7F8-1967938B93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923FBF-9B39-4906-BC00-096E80A0E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6032C5-EFC6-4F68-A3C5-6DF24D929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03EEBA-FA9D-40A9-A9E5-DCFEA281B1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9B5CD9-55EF-4C93-9565-5746FBF8B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894EAF-3419-48D8-84BF-7C3A66F809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508579-D56F-4AFF-B253-EA0C71DC59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153BA-FBAE-4A84-84C8-BFE7713B2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2A00A2-90F4-4746-8E45-D53233CD1A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903afeafdf4253" /><Relationship Type="http://schemas.openxmlformats.org/officeDocument/2006/relationships/slideLayout" Target="/ppt/slideLayouts/slideLayout1.xml" Id="Ra08c332bd1e8477f" /><Relationship Type="http://schemas.openxmlformats.org/officeDocument/2006/relationships/slideLayout" Target="/ppt/slideLayouts/slideLayout2.xml" Id="R29f8a5591bfa4d99" /><Relationship Type="http://schemas.openxmlformats.org/officeDocument/2006/relationships/slideLayout" Target="/ppt/slideLayouts/slideLayout3.xml" Id="R1876832b8dbc4aaa" /><Relationship Type="http://schemas.openxmlformats.org/officeDocument/2006/relationships/slideLayout" Target="/ppt/slideLayouts/slideLayout4.xml" Id="Rc5ba8e3e5f12470f" /><Relationship Type="http://schemas.openxmlformats.org/officeDocument/2006/relationships/slideLayout" Target="/ppt/slideLayouts/slideLayout5.xml" Id="R264dd55a1e4b4e52" /><Relationship Type="http://schemas.openxmlformats.org/officeDocument/2006/relationships/slideLayout" Target="/ppt/slideLayouts/slideLayout6.xml" Id="R760fb161aff941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8c332bd1e8477f"/>
    <p:sldLayoutId xmlns:r="http://schemas.openxmlformats.org/officeDocument/2006/relationships" id="2147483650" r:id="R29f8a5591bfa4d99"/>
    <p:sldLayoutId xmlns:r="http://schemas.openxmlformats.org/officeDocument/2006/relationships" id="2147483651" r:id="R1876832b8dbc4aaa"/>
    <p:sldLayoutId xmlns:r="http://schemas.openxmlformats.org/officeDocument/2006/relationships" id="2147483652" r:id="Rc5ba8e3e5f12470f"/>
    <p:sldLayoutId xmlns:r="http://schemas.openxmlformats.org/officeDocument/2006/relationships" id="2147483653" r:id="R264dd55a1e4b4e52"/>
    <p:sldLayoutId xmlns:r="http://schemas.openxmlformats.org/officeDocument/2006/relationships" id="2147483654" r:id="R760fb161aff941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ca81c69884c98" /><Relationship Type="http://schemas.openxmlformats.org/officeDocument/2006/relationships/notesSlide" Target="/ppt/notesSlides/notesSlide1.xml" Id="R80c530c6683e43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f7aecf7ae4e16" /><Relationship Type="http://schemas.openxmlformats.org/officeDocument/2006/relationships/image" Target="/ppt/media/image.jpeg" Id="R12f9cf4e84234ce8" /><Relationship Type="http://schemas.openxmlformats.org/officeDocument/2006/relationships/image" Target="/ppt/media/image2.jpeg" Id="R372ff877600e4f85" /><Relationship Type="http://schemas.openxmlformats.org/officeDocument/2006/relationships/image" Target="/ppt/media/image3.jpeg" Id="Rb1bf980e31504e4e" /><Relationship Type="http://schemas.openxmlformats.org/officeDocument/2006/relationships/image" Target="/ppt/media/image4.jpeg" Id="R4ed12c6062ba4fb4" /><Relationship Type="http://schemas.openxmlformats.org/officeDocument/2006/relationships/image" Target="/ppt/media/image5.jpeg" Id="R086735794f8a413c" /><Relationship Type="http://schemas.openxmlformats.org/officeDocument/2006/relationships/image" Target="/ppt/media/image6.jpeg" Id="R3420d878ece14c51" /><Relationship Type="http://schemas.openxmlformats.org/officeDocument/2006/relationships/notesSlide" Target="/ppt/notesSlides/notesSlide2.xml" Id="Rd63c6b88dd34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ef3323eaa4cbf" /><Relationship Type="http://schemas.openxmlformats.org/officeDocument/2006/relationships/notesSlide" Target="/ppt/notesSlides/notesSlide3.xml" Id="R874325cf3efb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41cf98ed549fa" /><Relationship Type="http://schemas.openxmlformats.org/officeDocument/2006/relationships/notesSlide" Target="/ppt/notesSlides/notesSlide4.xml" Id="Rcecaaf8e00734e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02943c2294348" /><Relationship Type="http://schemas.openxmlformats.org/officeDocument/2006/relationships/notesSlide" Target="/ppt/notesSlides/notesSlide5.xml" Id="R469daa0a9476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7e651fa074864" /><Relationship Type="http://schemas.openxmlformats.org/officeDocument/2006/relationships/notesSlide" Target="/ppt/notesSlides/notesSlide6.xml" Id="Rccb7b1bf54004f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a9ac588194b8c" /><Relationship Type="http://schemas.openxmlformats.org/officeDocument/2006/relationships/image" Target="/ppt/media/image.png" Id="Re40e743a61cd4154" /><Relationship Type="http://schemas.openxmlformats.org/officeDocument/2006/relationships/notesSlide" Target="/ppt/notesSlides/notesSlide7.xml" Id="Rf4cd2e6635c547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83bb57f174047" /><Relationship Type="http://schemas.openxmlformats.org/officeDocument/2006/relationships/notesSlide" Target="/ppt/notesSlides/notesSlide8.xml" Id="R0760c103b08c4b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7aa3358e74f52" /><Relationship Type="http://schemas.openxmlformats.org/officeDocument/2006/relationships/notesSlide" Target="/ppt/notesSlides/notesSlide9.xml" Id="Re7db1ca5155047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ac31e38b54233" /><Relationship Type="http://schemas.openxmlformats.org/officeDocument/2006/relationships/notesSlide" Target="/ppt/notesSlides/notesSlide10.xml" Id="R1926417561d14a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f0d66dc2143af" /><Relationship Type="http://schemas.openxmlformats.org/officeDocument/2006/relationships/notesSlide" Target="/ppt/notesSlides/notesSlide11.xml" Id="Rf985c7a50e894e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9ae293d144499" /><Relationship Type="http://schemas.openxmlformats.org/officeDocument/2006/relationships/notesSlide" Target="/ppt/notesSlides/notesSlide12.xml" Id="Ra5d49c6fa2e04b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65ecba0d44921" /><Relationship Type="http://schemas.openxmlformats.org/officeDocument/2006/relationships/notesSlide" Target="/ppt/notesSlides/notesSlide13.xml" Id="R2ec09fa5e3b44e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109b941824609" /><Relationship Type="http://schemas.openxmlformats.org/officeDocument/2006/relationships/notesSlide" Target="/ppt/notesSlides/notesSlide14.xml" Id="Ra5fb1983b6754e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507aacc494192" /><Relationship Type="http://schemas.openxmlformats.org/officeDocument/2006/relationships/notesSlide" Target="/ppt/notesSlides/notesSlide15.xml" Id="Ra6162dd8855a48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ba3e9babf4a73" /><Relationship Type="http://schemas.openxmlformats.org/officeDocument/2006/relationships/image" Target="/ppt/media/image2.png" Id="R26c358c53dfd45e9" /><Relationship Type="http://schemas.openxmlformats.org/officeDocument/2006/relationships/image" Target="/ppt/media/image3.png" Id="R5c2394fa17ef435d" /><Relationship Type="http://schemas.openxmlformats.org/officeDocument/2006/relationships/notesSlide" Target="/ppt/notesSlides/notesSlide16.xml" Id="R2827c6bdf15744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4516463a74b06" /><Relationship Type="http://schemas.openxmlformats.org/officeDocument/2006/relationships/notesSlide" Target="/ppt/notesSlides/notesSlide17.xml" Id="R64d7016bca6f4d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28d06d96b43be" /><Relationship Type="http://schemas.openxmlformats.org/officeDocument/2006/relationships/notesSlide" Target="/ppt/notesSlides/notesSlide18.xml" Id="Rb4e7ffdcb4c94b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5ec0c35b349f4" /><Relationship Type="http://schemas.openxmlformats.org/officeDocument/2006/relationships/notesSlide" Target="/ppt/notesSlides/notesSlide19.xml" Id="R9d3ba83de9f444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739988b7447af" /><Relationship Type="http://schemas.openxmlformats.org/officeDocument/2006/relationships/notesSlide" Target="/ppt/notesSlides/notesSlide20.xml" Id="R7f8a34addeea4d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263d805c84e35" /><Relationship Type="http://schemas.openxmlformats.org/officeDocument/2006/relationships/notesSlide" Target="/ppt/notesSlides/notesSlide21.xml" Id="R1d37e4e17c1149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d017080904c1a" /><Relationship Type="http://schemas.openxmlformats.org/officeDocument/2006/relationships/notesSlide" Target="/ppt/notesSlides/notesSlide22.xml" Id="R3895d715b9b240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8745d8afc4504" /><Relationship Type="http://schemas.openxmlformats.org/officeDocument/2006/relationships/notesSlide" Target="/ppt/notesSlides/notesSlide23.xml" Id="Ra5e645e490a44d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76060569942ed" /><Relationship Type="http://schemas.openxmlformats.org/officeDocument/2006/relationships/notesSlide" Target="/ppt/notesSlides/notesSlide24.xml" Id="R7bc844332b554a9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37ab85a4941d3" /><Relationship Type="http://schemas.openxmlformats.org/officeDocument/2006/relationships/notesSlide" Target="/ppt/notesSlides/notesSlide25.xml" Id="R4dad17bd6fee4d8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296c71c9d4dc2" /><Relationship Type="http://schemas.openxmlformats.org/officeDocument/2006/relationships/hyperlink" Target="https://apps.apple.com/us/app/supercook-recipe-by-ingredient/id1477747816" TargetMode="External" Id="R3d535137b4bd425b" /><Relationship Type="http://schemas.openxmlformats.org/officeDocument/2006/relationships/hyperlink" Target="https://samsungfood.com/foodplus-promo/uk/" TargetMode="External" Id="R9bad70f6980543ad" /><Relationship Type="http://schemas.openxmlformats.org/officeDocument/2006/relationships/hyperlink" Target="https://support.samsungfood.com/hc/en-us/articles/30025317487508-Getting-Started-with-Food-List" TargetMode="External" Id="R8386325ec7444059" /><Relationship Type="http://schemas.openxmlformats.org/officeDocument/2006/relationships/hyperlink" Target="https://support.samsungfood.com/hc/en-us/articles/35369657798548-Getting-Started-with-Meal-Planner" TargetMode="External" Id="R48805af079ea412b" /><Relationship Type="http://schemas.openxmlformats.org/officeDocument/2006/relationships/hyperlink" Target="https://www.sously.app/help/substitute-ingredients/" TargetMode="External" Id="R181c7b0a88f6467e" /><Relationship Type="http://schemas.openxmlformats.org/officeDocument/2006/relationships/hyperlink" Target="https://www.sously.app/help/plan-your-week/" TargetMode="External" Id="Rc6f97319a7ac4b04" /><Relationship Type="http://schemas.openxmlformats.org/officeDocument/2006/relationships/notesSlide" Target="/ppt/notesSlides/notesSlide26.xml" Id="R2761d3ba2979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8C8F-A224-4A54-A20F-F8D452FA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CIBY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2873A-15E5-48E9-A414-AD3BF51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Gestione flessibile dei pasti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FDFB2-7A50-4B64-A558-C3C5ECC0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C2 Raffinamento e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3ACC-6A0D-45BC-BAC0-17A443A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rPr>
              <a:t>Fondamenti di Human-Computer Interaction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rPr>
              <a:t>Politecnico di Milano, 26 ottobre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BC36C-84A7-47AB-A3D0-98FD9DA8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rPr>
              <a:t>Bozza di lavoro</a:t>
            </a:r>
          </a:p>
        </p:txBody>
      </p:sp>
    </p:spTree>
    <p:extLst>
      <p:ext uri="{BB962C8B-B14F-4D97-AF65-F5344CB8AC3E}">
        <p14:creationId xmlns:p14="http://schemas.microsoft.com/office/powerpoint/2010/main" val="864739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CF2C-2A09-41EE-BBF7-D59309A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Il gruppo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C2E1-8C37-4453-BFF1-0C07BFE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MAGGICAL. Fotografie già utilizzate nella C1 · Bozza 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4F01F-8F5F-4859-9010-2DD6A3F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54E3E-2501-495D-A23A-411A6DA4B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9cf4e84234ce8"/>
          <a:srcRect xmlns:a="http://schemas.openxmlformats.org/drawingml/2006/main" l="23500" t="26333" r="59735" b="53667"/>
          <a:stretch xmlns:a="http://schemas.openxmlformats.org/drawingml/2006/main"/>
        </p:blipFill>
        <p:spPr>
          <a:xfrm xmlns:a="http://schemas.openxmlformats.org/drawingml/2006/main">
            <a:off x="666750" y="145732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9F8DC-809B-4203-9FF7-9C030E2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0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Andrea Mauro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0BA76-FD5F-40E9-A8AC-351798910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ff877600e4f85"/>
          <a:srcRect xmlns:a="http://schemas.openxmlformats.org/drawingml/2006/main" l="20000" t="4500" r="20000" b="61000"/>
          <a:stretch xmlns:a="http://schemas.openxmlformats.org/drawingml/2006/main"/>
        </p:blipFill>
        <p:spPr>
          <a:xfrm xmlns:a="http://schemas.openxmlformats.org/drawingml/2006/main">
            <a:off x="4419600" y="145732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A10EA-1434-42F6-8456-FEF049E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Marco Macherelli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0CF11-26AF-4AF6-BCDF-4E70E5A321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f980e31504e4e"/>
          <a:srcRect xmlns:a="http://schemas.openxmlformats.org/drawingml/2006/main" l="0" t="18000" r="0" b="14000"/>
          <a:stretch xmlns:a="http://schemas.openxmlformats.org/drawingml/2006/main"/>
        </p:blipFill>
        <p:spPr>
          <a:xfrm xmlns:a="http://schemas.openxmlformats.org/drawingml/2006/main">
            <a:off x="8172450" y="145732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F841E-143F-426E-A116-350DDBC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Gabriele Martignoni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9ED85-251F-45C1-A5C3-CD7F0ADD20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12c6062ba4fb4"/>
          <a:srcRect xmlns:a="http://schemas.openxmlformats.org/drawingml/2006/main" l="0" t="0" r="0" b="19122"/>
          <a:stretch xmlns:a="http://schemas.openxmlformats.org/drawingml/2006/main"/>
        </p:blipFill>
        <p:spPr>
          <a:xfrm xmlns:a="http://schemas.openxmlformats.org/drawingml/2006/main">
            <a:off x="666750" y="372427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49512-9F50-4701-B140-94D0F83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Rime Chamkar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7FA6C-BAFD-4B30-8B6F-75E8FD66B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735794f8a413c"/>
          <a:srcRect xmlns:a="http://schemas.openxmlformats.org/drawingml/2006/main" l="0" t="3000" r="0" b="7500"/>
          <a:stretch xmlns:a="http://schemas.openxmlformats.org/drawingml/2006/main"/>
        </p:blipFill>
        <p:spPr>
          <a:xfrm xmlns:a="http://schemas.openxmlformats.org/drawingml/2006/main">
            <a:off x="4419600" y="372427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5A0AC-6D22-4FB4-BECE-1515483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Emanuele Marcantonio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42BCF-EBC8-4D46-B35F-EA95F09AF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0d878ece14c51"/>
          <a:srcRect xmlns:a="http://schemas.openxmlformats.org/drawingml/2006/main" l="37917" t="39063" r="37083" b="44188"/>
          <a:stretch xmlns:a="http://schemas.openxmlformats.org/drawingml/2006/main"/>
        </p:blipFill>
        <p:spPr>
          <a:xfrm xmlns:a="http://schemas.openxmlformats.org/drawingml/2006/main">
            <a:off x="8172450" y="372427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C4DD3-CAD6-417F-8D53-C572FDE6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67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Edoardo Ughi</a:t>
            </a:r>
          </a:p>
        </p:txBody>
      </p:sp>
    </p:spTree>
    <p:extLst>
      <p:ext uri="{BB962C8B-B14F-4D97-AF65-F5344CB8AC3E}">
        <p14:creationId xmlns:p14="http://schemas.microsoft.com/office/powerpoint/2010/main" val="925892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F059C-7503-4EF2-9541-870E5B0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Dominio e approfondimento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46EE8-E5DE-4040-A830-3C8900B1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Giovani adulti che si occupano della propria spesa e dei pasti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6937E-D904-4B46-B62B-CB002C4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Report C1 P01-P05; diario P02 del 21–26 ottobre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583A5-1D36-435D-8C02-ABED50A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B24D-B281-4670-9397-F5D7F9B3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Base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AA3B0-CEE9-4BD4-BCF1-09AD455A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9483E"/>
                </a:solidFill>
              </a:defRPr>
            </a:pPr>
            <a:r>
              <a: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Nella C1 abbiamo esplorato acquisti, preparazioni quotidiane e gestione degli alimenti attraverso cinque interviste.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0D97A-BF98-4B4F-9EE0-88B734AA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Domanda C2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8C698-5BCA-426F-966F-E53ADF9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81300"/>
            <a:ext cx="5000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9483E"/>
                </a:solidFill>
              </a:defRPr>
            </a:pPr>
            <a:r>
              <a: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Quando un programma cambia, come decidono che cosa cucinare e che cosa fare degli ingredienti?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FDCB6-D4D1-49C1-991E-E1CB82AB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86B62"/>
                </a:solidFill>
              </a:defRPr>
            </a:pPr>
            <a:r>
              <a: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Feedback C1: approfondire la routine con un diario di spesa e preparazioni. Nel racconto, presentare le ragioni prima delle scelte.</a:t>
            </a:r>
          </a:p>
        </p:txBody>
      </p:sp>
    </p:spTree>
    <p:extLst>
      <p:ext uri="{BB962C8B-B14F-4D97-AF65-F5344CB8AC3E}">
        <p14:creationId xmlns:p14="http://schemas.microsoft.com/office/powerpoint/2010/main" val="828709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18824-BB7C-40CA-A2DB-4D8503E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Diario quotidiano con P02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DAB01-FD77-4006-A7D1-404927D4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21–26 ottobre 2026 · sei giorni di appunti sul telefono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AF7DD-C892-4CE6-9B3F-31492A5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P02-C2-D01; appunti e informazioni di raccolta M01/M02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9AB75-A3D2-46DA-B485-9947A30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B2E0D-2743-4E3A-AA9F-D54A1BF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D32"/>
                </a:solidFill>
              </a:defRPr>
            </a:pPr>
            <a:r>
              <a: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12 annotazioni sui pasti; spesa giorno per giorno in base alle esigenze.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35C8-0A52-4523-BF35-0464F31F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Format e contesti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C5012-75E1-4A9C-BEB3-8382EF1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9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Diario auto-compilato, raccolto in modo asincrono. Compaiono schiscetta, mensa universitaria e due pasti con un amico.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64FF-E03B-4861-9904-822F25B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Utente immediato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ED8BA-3F22-4890-8437-C924DB81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6240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P02 gestisce spesa e pasti propri e aveva partecipato alla C1. Il diario approfondisce routine e occasioni reali di consumo.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D928D-6508-4733-9FAC-9466A637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8B5D14"/>
                </a:solidFill>
              </a:defRPr>
            </a:pPr>
            <a:r>
              <a: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Quantità, tempi e acquisti per prodotto non sono annotati.</a:t>
            </a:r>
          </a:p>
        </p:txBody>
      </p:sp>
    </p:spTree>
    <p:extLst>
      <p:ext uri="{BB962C8B-B14F-4D97-AF65-F5344CB8AC3E}">
        <p14:creationId xmlns:p14="http://schemas.microsoft.com/office/powerpoint/2010/main" val="754884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3906-0C9E-4913-8BD6-78548D8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Un pasto rinviato al giorno dopo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483EE-D3EC-42CE-AEC1-D1BEDC2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Bowl prevista venerdì 23, consumata sabato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7829F-3819-422E-AEA2-25BB783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P02-D01-E05/E07 e chiarimento C01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3300-61FC-49ED-BE67-A098B12E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03F10-9A37-4C1A-AB2E-E4CF617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D32"/>
                </a:solidFill>
              </a:defRPr>
            </a:pPr>
            <a:r>
              <a: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«di nuovo la bowl di pollo, perché era slittata da venerdì»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4016D-6586-4125-8987-F4C4AC0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Il chiarimento distingue la preparazione prevista venerdì dal consumo di sabato. Il motivo del rinvio e la cena effettiva di venerdì non sono specificati.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944B6-24C9-4D59-843B-2DF5DCFF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8B5D14"/>
                </a:solidFill>
              </a:defRPr>
            </a:pPr>
            <a:r>
              <a: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L’adattamento riesce già nella routine. Il nuovo episodio rende concreta B03, senza descrivere una difficoltà irrisolta.</a:t>
            </a:r>
          </a:p>
        </p:txBody>
      </p:sp>
    </p:spTree>
    <p:extLst>
      <p:ext uri="{BB962C8B-B14F-4D97-AF65-F5344CB8AC3E}">
        <p14:creationId xmlns:p14="http://schemas.microsoft.com/office/powerpoint/2010/main" val="387166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D8FF2-D92C-46F7-BAB0-E226F01F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Integrazione con l’analisi C1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CFFC4-AE5F-4075-9EAE-0701DA9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Il diario approfondisce il rinvio e le occasioni di consumo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E74FC-CF0B-4D47-BD6D-104D8308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Analisi C1–C2: P02-D01 e report C1 P01-P05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1D645-C5F2-4F7E-A4B4-1B544633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19434-23F3-4E56-8E2F-1113A60607EE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86250"/>
                <a:gridCol w="443865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Tema C1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Diario P02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Che cosa aggiunge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Occasioni dei pasti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Schiscetta il 23, mensa il 26; cous cous e zucchine ricorrono in pasti diversi.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B02/C07: contesti concreti. Il riuso della stessa confezione non è accertato.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Adattamento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Bowl prevista venerdì e consumata sabato, dopo il rinvio.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B03: nuova occasione di consumo e strategia già riuscita.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Spesa e scorte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Acquisti giorno per giorno; quantità e inventario non annotati.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B01/B04 restano fondati sulla C1: nessuna nuova prova di spreco o eccesso.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7378C-D873-415D-8C78-35A475A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8B5D14"/>
                </a:solidFill>
              </a:defRPr>
            </a:pPr>
            <a:r>
              <a: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Rivediamo i prossimi pasti, conservando le strategie che funzionano già.</a:t>
            </a:r>
          </a:p>
        </p:txBody>
      </p:sp>
    </p:spTree>
    <p:extLst>
      <p:ext uri="{BB962C8B-B14F-4D97-AF65-F5344CB8AC3E}">
        <p14:creationId xmlns:p14="http://schemas.microsoft.com/office/powerpoint/2010/main" val="6048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96CC-06A0-40A4-9C1A-59695B6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Brainstorming sui bisogni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358CA-C8F9-4FD4-B959-B81F3CE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Rilettura C1, raggruppamenti e confronto in corso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DF85-92DA-4C5D-8459-CC89040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121:236. Tutti gli otto candidati e primi commenti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2F18-2432-4E4D-927B-5929A14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03E89-BEE8-4F37-8D0C-DC777CD89D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e743a61cd4154"/>
          <a:stretch xmlns:a="http://schemas.openxmlformats.org/drawingml/2006/main"/>
        </p:blipFill>
        <p:spPr>
          <a:xfrm xmlns:a="http://schemas.openxmlformats.org/drawingml/2006/main">
            <a:off x="2018399" y="1952625"/>
            <a:ext cx="8155202" cy="3762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D4CB7-B887-48A3-B1CD-46815BB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B01-B04 selezionati. C05 dentro B02, C06 come vincolo, C07 come contesto e C08 rinviato.</a:t>
            </a:r>
          </a:p>
        </p:txBody>
      </p:sp>
    </p:spTree>
    <p:extLst>
      <p:ext uri="{BB962C8B-B14F-4D97-AF65-F5344CB8AC3E}">
        <p14:creationId xmlns:p14="http://schemas.microsoft.com/office/powerpoint/2010/main" val="1587702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2F49B-EAD2-48F8-BE0E-C0A1F63B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Candidati integrati, trasversali o rinviati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4C48C-79F9-42FF-A03E-097477D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Abbiamo mantenuto le ragioni anche per i bisogni non selezionati come attività autonome.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1954-7653-461E-8EA8-DAB48DA01C2E}"/>
              </a:ext>
            </a:extLst>
          </p:cNvPr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143375"/>
                <a:gridCol w="5162550"/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Candidato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Attività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Collocazione e ragione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C05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Valutare e adattare una ricetta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Dentro B02: chiarisce fattibilità e familiarità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C06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Ottenere supporto con sforzo sostenibile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Vincolo trasversale: riscontro soprattutto in P01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C07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Organizzare il pasto fuori casa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Contesto di B02/B03, con strategie già efficaci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C08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Coordinare menu nella coppia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Rinviato: preoccupazione futura in P01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C8839-7FEB-4995-9295-DAB258AE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B01-B04 restano quattro attività distinte, presentate nelle slide successive.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DC40C-61CE-4524-9EBC-DF8ED897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P02-E10/E12; P03-E10/E11/E12; P01-E02/E03/E04/E07/E09; P04-E02/E04 · Bozza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0D16F-AACF-4FFA-9954-06C2D8AC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9048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EC08C-3783-4343-B7F6-C0763BBA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Riconoscere gli alimenti e scegliere il pasto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1B03-D5E9-4342-867E-AE2DDC76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B01 e B02 sono attività distinte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328DF-4496-45EA-8720-0C8E97B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P01-E05; P05-E03/E04/E11. P02-E03/E10/E12; P03-E12/E13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3B33F-68C5-4B38-84AA-475BF50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D1252-1FA0-4F71-A0BA-DA67396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B01 · Disponibilità e priorità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D4EA0-0F74-41AC-BE8C-80760BFC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Riconoscere gli alimenti presenti e stabilire quali utilizzare prima.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17A12-2107-4BBA-A7FF-C792ECA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P01-E05: yogurt non visto, riacquistato e poi eliminato.</a:t>
            </a:r>
          </a:p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P05-E03/E04/E11: prodotti trascurati e strategia di portare davanti quelli più vecchi.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410A9-BCD3-44EF-BD6B-4450A26F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52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B02 · Pasto praticabile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38AB-9B2B-47CB-AB10-2902D8F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Scegliere una preparazione compatibile con ingredienti, tempo, impegno e preferenze.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50292-84DE-4279-A0FE-5B32C7E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P02-E03/E10/E12: valuta lo sforzo e si affida a ricette conosciute.</a:t>
            </a:r>
          </a:p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P03-E12/E13: desiderio di varietà e preparazioni semplici.</a:t>
            </a:r>
          </a:p>
        </p:txBody>
      </p:sp>
    </p:spTree>
    <p:extLst>
      <p:ext uri="{BB962C8B-B14F-4D97-AF65-F5344CB8AC3E}">
        <p14:creationId xmlns:p14="http://schemas.microsoft.com/office/powerpoint/2010/main" val="1857971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B498-6E73-46FE-97AB-F1B6DBB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Adattare i pasti e valutare le quantità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B1414-2D77-45BE-BE1F-6FD6904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B03 e B04 collegano ingredienti e occasioni di consumo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01935-2E09-4F01-A834-0CC7AA03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C1: P02/P03; C2: P02-D01-E05/E07, C01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4B25D-6CC9-475E-91CC-53D2ABAE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04D7C-DB06-4152-BD2D-C619D8E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B03 · Dopo un cambiamento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1AE89-A36C-47B9-B501-6CB7225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Riorganizzare l’utilizzo degli ingredienti quando cambia una preparazione o un pasto.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77358-D298-4064-9F06-5262227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C1: P02-E07/E08, programmi cambiati; P03-E04, rinvio del pollo riuscito; P03-E08, panna inutilizzata.</a:t>
            </a:r>
          </a:p>
          <a:p xmlns:a="http://schemas.openxmlformats.org/drawingml/2006/main">
            <a:pPr>
              <a:buNone/>
              <a:defRPr sz="1875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C2: bowl prevista venerdì, consumata sabato (P02-D01-E05/E07, C01).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BF678-4829-4974-A4CC-81F80B7E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B04 · Prima dell’acquisto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C2D0-77EC-4379-8EC5-0A31AC79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0985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quantità compatibili con ciò che si possiede e con occasioni realistiche di consumo.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053FA-9AF8-44A2-8512-322B514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C1: P02-E06/E07, confezioni grandi; P03-E05/E07, quantità e occasioni.</a:t>
            </a:r>
          </a:p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Il diario C2 non riporta quantità o confezioni.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0467A-F644-4A0C-BD67-AA50F7C1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A44628"/>
                </a:solidFill>
              </a:defRPr>
            </a:pPr>
            <a:r>
              <a: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Il nostro focus: gestione flessibile dei pasti.</a:t>
            </a:r>
          </a:p>
        </p:txBody>
      </p:sp>
    </p:spTree>
    <p:extLst>
      <p:ext uri="{BB962C8B-B14F-4D97-AF65-F5344CB8AC3E}">
        <p14:creationId xmlns:p14="http://schemas.microsoft.com/office/powerpoint/2010/main" val="2005062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8BD2D-C131-47FE-9438-E2CD18B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Tre personas con obiettivi distinti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0187-4120-4ED3-9432-F5EA3E81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Archetipi fondati sulla C1, riesaminati con il diario P02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3B42-CDC9-4C26-B7EF-6B77D31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Profili C1 e riesame P02-D01. Schede in appendice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17A0F-85C6-4749-927E-8554D27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D5A6D-B861-4D0F-AB59-FF0DED1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Luca · Primaria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F5CD5-8D94-4D06-8986-E1341C8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21 anni, studente.</a:t>
            </a:r>
          </a:p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Riorganizza ingredienti e pasti e valuta le quantità prima dell’acquisto.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0071-6AE2-4F01-9EAC-4124230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62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Gianfranco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823C7-FCB7-4C1B-8D5A-4C86430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5747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21 anni, studente fuori sede.</a:t>
            </a:r>
          </a:p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Sceglie una cena praticabile tra preparazioni familiari e desiderio di variare.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28F74-CCAF-4FAE-9521-49CDEEF7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Marta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81681-686E-4429-970A-3ABA085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3219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26 anni, studia e lavora.</a:t>
            </a:r>
          </a:p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Coordina cena per due e pranzo del giorno dopo, includendo alimenti fuori routine.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FED00-B76C-402D-AB07-E1C3645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86B62"/>
                </a:solidFill>
              </a:defRPr>
            </a:pPr>
            <a:r>
              <a: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Luca collega B03 e B04. La sua priorità è una scelta progettuale di lavoro da riesaminare insieme al confronto sui bisogni.</a:t>
            </a:r>
          </a:p>
        </p:txBody>
      </p:sp>
    </p:spTree>
    <p:extLst>
      <p:ext uri="{BB962C8B-B14F-4D97-AF65-F5344CB8AC3E}">
        <p14:creationId xmlns:p14="http://schemas.microsoft.com/office/powerpoint/2010/main" val="1158599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606EC-B8A8-4EF6-9E5C-93AA624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 · Cena e pranzo del giorno dopo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ECFCC-D4C2-4BD0-A7D9-6A6BDF70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Marta · B01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7BFAC-2409-4A9C-A7D9-013DE9B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P01-E03/E05/E08/E09; P05-E03/E04/E11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A4B7F-BB47-478F-9EDB-919CF86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49E57-20B7-4ACD-97BC-8861C5A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Marta deve preparare la cena per due e il proprio pranzo da portare al lavoro. Nota un prodotto fresco fuori dalle abitudini che rischiava di restare escluso dalla scelta.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1B7FE-005A-4F87-8BF1-66171531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320F8-8975-4127-9761-3308AAD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la priorità dell’alimento e decidere in quale preparazione inserirlo.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858AE-69BC-4320-8829-51F9F45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E8B9F-BDD8-4C06-A053-DC706A85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Riconoscere il prodotto trascurato e assegnargli un utilizzo, mantenendo la routine.</a:t>
            </a:r>
          </a:p>
        </p:txBody>
      </p:sp>
    </p:spTree>
    <p:extLst>
      <p:ext uri="{BB962C8B-B14F-4D97-AF65-F5344CB8AC3E}">
        <p14:creationId xmlns:p14="http://schemas.microsoft.com/office/powerpoint/2010/main" val="1964611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1A25B-DF04-4BC2-BA7E-897E96A1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 · La cena dopo le lezioni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56082-49FB-4435-82F3-15D320C2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Gianfranco · B02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ED954-0E90-415D-B3B4-163BA972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P01-E01/E09; P02-E03/E10/E12; P03-E12/E13; P05-E06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81DD5-E192-4912-A94B-60E56008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09AC5-0002-4EA1-8F1B-DB3CDF84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Gianfranco rientra dopo le lezioni e deve cenare prima di riprendere a studiare. Una ricetta interessante richiederebbe più lavoro di quanto vuole dedicare alla serata.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53395-5926-450A-82AE-27ECB9D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365C4-5E9E-47B1-8A99-5E6E512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alternative rispetto a ingredienti, tempo, passaggi e impegno.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8F681-0FE2-4749-B044-AC17B67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7DDA-2BC9-49A7-8237-7192F89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Scegliere una preparazione e spiegare perché è compatibile con la situazione.</a:t>
            </a:r>
          </a:p>
        </p:txBody>
      </p:sp>
    </p:spTree>
    <p:extLst>
      <p:ext uri="{BB962C8B-B14F-4D97-AF65-F5344CB8AC3E}">
        <p14:creationId xmlns:p14="http://schemas.microsoft.com/office/powerpoint/2010/main" val="1634592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7C77-3176-44B0-BE47-1399E576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 · Manca un ingrediente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12BC-72BC-42D4-A5E3-B2DF25C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Luca · B03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33F5-9C58-4386-97AF-E46A7012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P02-E07/E08 e C01; P03-E04/E08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8DD3-D03D-4490-AA68-214C6B6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B7914-6399-4D59-A3BF-037A285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Luca scopre che manca un ingrediente per la cena prevista. Gli altri acquisti sono già disponibili e uscire di nuovo cambierebbe i tempi della serata.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5EED2-C8F4-4404-83AD-BACBFEF1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66836-3091-4421-8403-8961D50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una preparazione diversa con il rinvio, chiarendo che cosa resta da utilizzare.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DEF4D-1BD1-4CD7-9D7D-5581D46E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11CC0-03D0-4CF3-97D0-54EFEC7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Adattare la cena e assegnare agli ingredienti rinviati un altro pasto effettivamente previsto.</a:t>
            </a:r>
          </a:p>
        </p:txBody>
      </p:sp>
    </p:spTree>
    <p:extLst>
      <p:ext uri="{BB962C8B-B14F-4D97-AF65-F5344CB8AC3E}">
        <p14:creationId xmlns:p14="http://schemas.microsoft.com/office/powerpoint/2010/main" val="9512182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04164-53C6-480B-A965-67F453E3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 · La confezione e i pasti previsti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1CD8B-6F59-4A4E-864F-63EA007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Luca · B04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A7EFE-2695-4218-BA38-608F54B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P02-E06/E07; P03-E05/E07. Dettagli dell’acquisto narrativi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65756-31D4-444D-B46B-2198F4D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1A6FD-37DB-46A6-B6AF-F472B5B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Luca fa la spesa e ha già un alimento fresco a casa. Prevede poche cene certe e una ancora incerta. Confronta una confezione conveniente grande con un formato più piccolo.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0319-3668-43DA-9415-03B003BA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1785-D532-4A0A-9382-A094C80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quantità, scorte e occasioni confermate o incerte prima di comprare.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272DF-BCAD-4233-9B0F-BD38A70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7869E-8169-498F-9ACE-750E176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Motivare una quantità che abbia un utilizzo concreto, lasciando un eventuale acquisto a quando servirà.</a:t>
            </a:r>
          </a:p>
        </p:txBody>
      </p:sp>
    </p:spTree>
    <p:extLst>
      <p:ext uri="{BB962C8B-B14F-4D97-AF65-F5344CB8AC3E}">
        <p14:creationId xmlns:p14="http://schemas.microsoft.com/office/powerpoint/2010/main" val="17898133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84DA2-833B-40B8-BA83-7C55AD6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Idee individuali e confronto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150E-43D9-41DE-A906-12C48F1B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Contributi disponibili e proposte ancora in bozza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EDC9-4A57-437A-AC17-9E51D49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101:238 e 101:241. Stato del 26 ottobre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6A15-1AFE-41A8-B430-8B73C62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F8978-16C6-47E9-AD88-63118B3D2D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358c53dfd45e9"/>
          <a:stretch xmlns:a="http://schemas.openxmlformats.org/drawingml/2006/main"/>
        </p:blipFill>
        <p:spPr>
          <a:xfrm xmlns:a="http://schemas.openxmlformats.org/drawingml/2006/main">
            <a:off x="1125294" y="1952625"/>
            <a:ext cx="4207362" cy="3810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0626A-68C2-4717-95AB-FF5BE9E49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394fa17ef435d"/>
          <a:stretch xmlns:a="http://schemas.openxmlformats.org/drawingml/2006/main"/>
        </p:blipFill>
        <p:spPr>
          <a:xfrm xmlns:a="http://schemas.openxmlformats.org/drawingml/2006/main">
            <a:off x="6343650" y="1962503"/>
            <a:ext cx="5238750" cy="310444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7F921-B8DB-442E-BF87-4CDD9FD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Presenti le idee di tutti i sei componenti. Scelta conclusiva da documentare.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8C32-B91A-4FCF-B2CB-0D4C5ED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102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AI e benefici sono ipotesi da valutare.</a:t>
            </a:r>
          </a:p>
        </p:txBody>
      </p:sp>
    </p:spTree>
    <p:extLst>
      <p:ext uri="{BB962C8B-B14F-4D97-AF65-F5344CB8AC3E}">
        <p14:creationId xmlns:p14="http://schemas.microsoft.com/office/powerpoint/2010/main" val="2603294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07CF4-9E8B-47ED-8521-9513368A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Tre direzioni concettuali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AF9A2-24FE-4073-AFEC-43E8958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Alternative di supporto alle attività, prima delle scelte tecnologiche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62E3B-9881-410A-8D66-4FF08B9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Scenari M/G/L/A e proposte PRE-01-PRE-08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030CA-200A-499A-A518-C2815B2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404F-D93F-429F-A06F-9E8082A2836F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905250"/>
                <a:gridCol w="5153025"/>
              </a:tblGrid>
              <a:tr h="4953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Direzione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Punto di partenza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Attività centrale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D1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Un alimento disponibile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Trovargli un prossimo utilizzo concreto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D2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Il tempo e l’impegno possibili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Scegliere una preparazione praticabile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D3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Un cambiamento di programma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Riorganizzare ingredienti, pasti successivi e acquisti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9232E-3FF6-41E6-8C1E-C11B5021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86B62"/>
                </a:solidFill>
              </a:defRPr>
            </a:pPr>
            <a:r>
              <a: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D3 collega soprattutto B03/B04 e usa B01/B02 per riconoscere priorità e fattibilità.</a:t>
            </a:r>
          </a:p>
        </p:txBody>
      </p:sp>
    </p:spTree>
    <p:extLst>
      <p:ext uri="{BB962C8B-B14F-4D97-AF65-F5344CB8AC3E}">
        <p14:creationId xmlns:p14="http://schemas.microsoft.com/office/powerpoint/2010/main" val="7210948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A093-2389-446F-9761-13F0BC8C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Il confronto con prodotti esistenti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615D7-B7AE-43E1-8DCD-1C4ED08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Confronto documentale di fonti ufficiali, aggiornato al 26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D04DD-745F-4A91-AEB8-10921D58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Fonti ufficiali dei prodotti. Confronto documentale, 26 ottobre 2026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4DE6B-0112-4499-B22B-42A9C98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EB751-9374-4BCD-9828-82114F92CB16}"/>
              </a:ext>
            </a:extLst>
          </p:cNvPr>
          <p:cNvGraphicFramePr/>
          <p:nvPr/>
        </p:nvGraphicFramePr>
        <p:xfrm>
          <a:off xmlns:a="http://schemas.openxmlformats.org/drawingml/2006/main" x="685800" y="2066925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Prodotto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Capacità descritte dalle fonti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SuperCook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Ricette dagli ingredienti indicati e aggiornamento alla loro rimozione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Samsung Food / Food+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Scorte e priorità, ricette anche senza data, assegnazione ai giorni e lista della spesa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Sously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Sostituzioni con proporzioni e conseguenze, pianificazione di ricette o ingredienti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CB47B-4664-492B-ABA4-2B2F82E9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3D32"/>
                </a:solidFill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Ipotesi CIBY: confrontare prima della scelta le conseguenze di un cambiamento su ingredienti rimasti, pasti e acquisti.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54E02-85BB-4AB0-9D32-E2B45830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8B5D14"/>
                </a:solidFill>
              </a:defRPr>
            </a:pPr>
            <a:r>
              <a: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 non provate. Il confronto non dimostra unicità o un vantaggio della soluzione.</a:t>
            </a:r>
          </a:p>
        </p:txBody>
      </p:sp>
    </p:spTree>
    <p:extLst>
      <p:ext uri="{BB962C8B-B14F-4D97-AF65-F5344CB8AC3E}">
        <p14:creationId xmlns:p14="http://schemas.microsoft.com/office/powerpoint/2010/main" val="19905135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9A97-BEDE-4377-8CA5-32D63EE0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Confronto e selezione della direzione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4840C-DE92-4152-8B65-2492346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D3 è la direzione che stiamo sviluppando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930C-A708-4E3A-9F25-EF054D30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Confronto conclusivo da registrare con il metodo effettivamente usato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B22AB-084D-47E0-9708-F2E1194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DD277-941D-4568-BB57-21C98D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Ragione progettuale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E50E-A882-4325-A359-2E5A9307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Il diario aggiunge un rinvio riuscito. D3 esplora come confrontare adattamento e rinvio sui prossimi pasti, rispettando le strategie già efficaci.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305E7-EC9C-4566-A885-53ABB60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Confronto da chiudere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8D63-0F41-44A9-B0CB-E74A313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8605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9483E"/>
                </a:solidFill>
              </a:defRPr>
            </a:pPr>
            <a:r>
              <a: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Nei commenti B01 emerge come priorità. Dobbiamo chiarire il suo rapporto con D3 e il ruolo successivo della spesa.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4E801-4596-4DD7-93E1-3317AE8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8B5D14"/>
                </a:solidFill>
              </a:defRPr>
            </a:pPr>
            <a:r>
              <a: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Da registrare: metodo realmente usato, contributi ed esito motivato del gruppo. Non disponiamo ancora di assegnazioni o conteggi condivisi.</a:t>
            </a:r>
          </a:p>
        </p:txBody>
      </p:sp>
    </p:spTree>
    <p:extLst>
      <p:ext uri="{BB962C8B-B14F-4D97-AF65-F5344CB8AC3E}">
        <p14:creationId xmlns:p14="http://schemas.microsoft.com/office/powerpoint/2010/main" val="1518509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03BE5-B046-46E0-8CAF-B82C35A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La soluzione concettuale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BD56F-513A-496E-B6C2-42E1221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D3 · Riorganizzare pasti e acquisti dopo un cambiamento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896F-405E-4024-AAC5-F0ED898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B03/B04, scenari L/A. B01/B02 per priorità e fattibilità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1C4D2-3933-4DDE-8EF4-4AE18F3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9602A-1347-4170-9B99-1F29811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83D32"/>
                </a:solidFill>
              </a:defRPr>
            </a:pPr>
            <a:r>
              <a: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CIBY sostiene chi gestisce i propri pasti nel rivedere l’uso degli ingredienti quando cambia una preparazione o un’occasione di consumo.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82EB-CF46-4DC9-B77D-092AB010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Aiuta a confrontare alternative praticabili e comprenderne le conseguenze sugli ingredienti rimasti, sui pasti successivi e sulle quantità ancora da acquistare.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BF7CB-7C09-4215-9C1E-9C580E4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B62"/>
                </a:solidFill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Sport: possibile contesto organizzativo degli allenamenti, esplorato con un caso simulato. Mascotte e AI restano ipotesi di realizzazione.</a:t>
            </a:r>
          </a:p>
        </p:txBody>
      </p:sp>
    </p:spTree>
    <p:extLst>
      <p:ext uri="{BB962C8B-B14F-4D97-AF65-F5344CB8AC3E}">
        <p14:creationId xmlns:p14="http://schemas.microsoft.com/office/powerpoint/2010/main" val="14081185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CF8F0-DD3B-44C3-9148-34AD2F5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CIBY e la value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7E727-23B6-4ABD-AA6A-E98EEF11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Beneficio che vogliamo comunicare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7419C-280E-428B-9352-984EDE8D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Nome CIBY e value proposition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AE37E-6F70-45CC-AA37-9B3D56F7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9FF48-6653-4BEC-A901-1CEA8995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3D32"/>
                </a:solidFill>
              </a:defRPr>
            </a:pPr>
            <a:r>
              <a: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CIBY ti aiuta a scegliere cosa preparare con gli alimenti che hai, adattando pasti e acquisti quando cambiano i programmi.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F40D3-89FE-43C6-8735-1E8F9C1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8B5D14"/>
                </a:solidFill>
              </a:defRPr>
            </a:pPr>
            <a:r>
              <a:rPr sz="195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Abbiamo scelto CIBY perché richiama il cibo, al centro dell’esperienza. Il suono amichevole si lega all’idea di una futura mascotte, o di un elemento caratteristico del progetto, che potrebbe chiamarsi CIBY.</a:t>
            </a:r>
          </a:p>
        </p:txBody>
      </p:sp>
    </p:spTree>
    <p:extLst>
      <p:ext uri="{BB962C8B-B14F-4D97-AF65-F5344CB8AC3E}">
        <p14:creationId xmlns:p14="http://schemas.microsoft.com/office/powerpoint/2010/main" val="19538641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0E03B-285D-449E-BBA3-4E3CE31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Fonti e materiali di riferimento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D7735-43DE-4EA8-A8E2-3BA98F2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Repository: github.com/andremauroo/CIBY · Bozza 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63FBE-ACF4-4A7F-BE63-6E12178B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0B4BB-F704-496F-AE08-2D9E747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Ricerca e analisi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997F5-ECCA-4BCC-A439-E870FC24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Report C1 P01-P05, estratti e artefatti.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Diario P02 del 21–26 ottobre e analisi integrata.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Bisogni B01-B04 con fonti specifiche.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A2A90-2AFE-4487-8F97-04E07DA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Processo e progettazione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47254-1DFF-45A0-9F39-983AAAA7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054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Board FigJam e immagini del confronto.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Tre personas e quattro scenari concettuali.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Confronto documentale con prodotti esistenti. Fonti ufficiali in appendice.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E8B2C-55EC-4375-AE2F-DA6E581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Riferimenti del corso: Compito2-focus.pdf, pp. 1-2, e dispense Requisiti, Personas e Scenari.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C0496-A37D-4AF6-9694-94B03A2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Restano il confronto conclusivo, le immagini aggiornate e il PDF definitivo.</a:t>
            </a:r>
          </a:p>
        </p:txBody>
      </p:sp>
    </p:spTree>
    <p:extLst>
      <p:ext uri="{BB962C8B-B14F-4D97-AF65-F5344CB8AC3E}">
        <p14:creationId xmlns:p14="http://schemas.microsoft.com/office/powerpoint/2010/main" val="407127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92094-C149-458E-8598-E075E47C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Luca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4CCE7-81EA-4867-85BD-67EE3B58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Persona primaria di lavoro · 21 anni, studente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7E9BA-331E-47D2-BBE9-223827F2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C1: P02/P03; diario P02-D01-E05/E07 e C01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721D1-31FF-4F4E-B984-238712F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6C5CC-2530-4841-918B-A74F33B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Gestisce principalmente acquisti e pasti personali. Compra pensando all’utilizzo, ma un cambiamento può lasciare ingredienti senza una destinazione.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D6E5-7754-4B5B-9D3E-45C06347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Desidera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0D7E9-62EE-4657-A1D3-9157654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Usare gli acquisti mantenendo flessibilità.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Rivedere i pasti senza ricostruire tutto il programma.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94740-2251-4320-8974-21E14DF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Ha bisogno 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38A68-628E-47C2-A37C-B676CA6F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10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adattamento e rinvio.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Assegnare un uso agli ingredienti rimasti.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quantità e occasioni prima della spesa.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A47EA-11F6-452E-BD4A-977E79C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Frustrazioni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C6135-4C85-4538-B324-7132C9B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Rimandare senza una nuova occasione concreta.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Trovare confezioni oltre le possibilità di utilizzo.</a:t>
            </a:r>
          </a:p>
        </p:txBody>
      </p:sp>
    </p:spTree>
    <p:extLst>
      <p:ext uri="{BB962C8B-B14F-4D97-AF65-F5344CB8AC3E}">
        <p14:creationId xmlns:p14="http://schemas.microsoft.com/office/powerpoint/2010/main" val="3515259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0A7C-7665-4AA1-98B4-C7F82AA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Gianfranco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82709-9F6C-446E-ACC4-913CD22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Persona complementare · 21 anni, studente fuori sede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8F7A8-877D-4FF5-A4AB-15BF47D3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P01-E01/E09; P02-E03/E10/E12; P03-E12/E13; P05-E06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E1FDF-72AA-4FD5-B70B-3A424B2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4674F-6E23-491B-B8FC-A4CEA2BF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Si occupa di acquisti e pasti propri. Usa preparazioni familiari e vorrebbe variare, ma deve valutare l’impegno possibile nella singola serata.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FAAD0-56B4-4D60-B61B-C77C097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Desidera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8ED2-EA41-4D6B-9EA1-D5B768B6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Preparare una cena soddisfacente.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Variare gradualmente con un impegno sostenibile.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58D60-289C-46CC-B919-FD52C6EA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Ha bisogno 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6678-2E5F-40FB-BDB9-3D57574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10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ingredienti, tempo e passaggi.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Capire l’impegno prima di scegliere.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Collegare un alimento a un pasto fattibile.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AECE4-EB29-4B86-A120-BE74E66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Frustrazioni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61DA0-5F65-4EC4-B7B5-1ABEBEC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Scoprire tardi che una ricetta è troppo impegnativa.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Ripetere gli stessi piatti per lo sforzo di scelta.</a:t>
            </a:r>
          </a:p>
        </p:txBody>
      </p:sp>
    </p:spTree>
    <p:extLst>
      <p:ext uri="{BB962C8B-B14F-4D97-AF65-F5344CB8AC3E}">
        <p14:creationId xmlns:p14="http://schemas.microsoft.com/office/powerpoint/2010/main" val="11520396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3BB79-D0D8-47EC-A19A-31826892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Marta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E4C71-5126-4965-823F-AB7FF0C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Persona complementare · 26 anni, studia e lavora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9E32-7923-4762-A2AD-ECEBFFA7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P01-E01/E03/E05/E08/E09; P05-E03/E04/E11 · Bozza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7D0B-05EE-4E02-82AB-B09AEA60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DCB6E-7FB6-40D1-9C12-070727B8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Vive con il partner e gestisce buona parte dei pasti per due. Prepara la sera il pranzo da portare al lavoro; gli alimenti fuori routine possono restare meno visibili.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357DF-AD6B-4281-B0E0-AC92BCD0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Desidera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8FADA-1471-4B83-B629-4E0CA668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Conciliare cena per due e pranzo anticipato.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Mantenere pratica la propria organizzazione.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CFEA8-087B-488F-BC93-F3E477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Ha bisogno 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92D55-107B-4933-95D7-2B84E59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10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Riconoscere prodotti fuori routine e priorità.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Assegnare gli ingredienti ai pasti effettivi.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Coordinare preparazioni e quantità.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821D1-0D8C-402C-A835-7312C77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Frustrazioni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77FDA-6EE8-4710-AF0F-8575BD4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Dover scegliere quando ha poche energie.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Ritrovare troppo tardi un alimento trascurato.</a:t>
            </a:r>
          </a:p>
        </p:txBody>
      </p:sp>
    </p:spTree>
    <p:extLst>
      <p:ext uri="{BB962C8B-B14F-4D97-AF65-F5344CB8AC3E}">
        <p14:creationId xmlns:p14="http://schemas.microsoft.com/office/powerpoint/2010/main" val="11695549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BFCCE-AC9F-476F-B5C7-B163C05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Fonti del confronto documentale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EDD27-83F9-45A6-BB02-E0BF094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Fonti ufficiali consultate il 26 ottobre 2026 · Bozza 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B40E7-02B7-411E-84D8-A7D88B3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D0537-1FDF-4702-8CA6-600C99A2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SuperCook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1D0AF-B04C-43CC-A82C-760D53AC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3d535137b4bd425b"/>
              </a:rPr>
              <a:t>Descrizione dello sviluppatore nell’App 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1F78-4EB8-409B-A824-113834F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Samsung Food+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86408-4AC0-49DC-A212-4224EE8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02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9bad70f6980543ad"/>
              </a:rPr>
              <a:t>Food+ e priorità degli alimenti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FF802-6E52-43F6-BA98-3E7F6436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Samsung 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539E5-316F-487B-92FC-6724361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8386325ec7444059"/>
              </a:rPr>
              <a:t>Food List e gestione delle scorte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B90C4-733A-4815-80DA-2E2D0061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Samsung Food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DD1B5-37F4-4445-A461-43FEFE7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480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48805af079ea412b"/>
              </a:rPr>
              <a:t>Meal Planner e ricette senza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90E39-4D6D-4F12-84AA-A2E18896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Sously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34206-5C6C-44DA-AC04-5E057A9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719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181c7b0a88f6467e"/>
              </a:rPr>
              <a:t>Sostituzioni e conseguenze sulla preparazione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DADA1-09E3-443A-B94A-FFEF311E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Sously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55CE3-0709-4948-B8C7-A23D204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c6f97319a7ac4b04"/>
              </a:rPr>
              <a:t>Pianificazione di ricette o ingredienti</a:t>
            </a:r>
          </a:p>
        </p:txBody>
      </p:sp>
    </p:spTree>
    <p:extLst>
      <p:ext uri="{BB962C8B-B14F-4D97-AF65-F5344CB8AC3E}">
        <p14:creationId xmlns:p14="http://schemas.microsoft.com/office/powerpoint/2010/main" val="515294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2026-10-26T20:25:28.3390000Z</dcterms:created>
  <dcterms:modified xsi:type="dcterms:W3CDTF">2026-10-26T20:25:28.3390000Z</dcterms:modified>
</coreProperties>
</file>