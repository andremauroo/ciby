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3c5c5c77221477c" /><Relationship Type="http://schemas.openxmlformats.org/officeDocument/2006/relationships/extended-properties" Target="/docProps/app.xml" Id="R8bb4ee81cb3a4afd" /><Relationship Type="http://schemas.openxmlformats.org/officeDocument/2006/relationships/officeDocument" Target="/ppt/presentation.xml" Id="R9a6b158c7e634ca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72d3fefbdcd4395"/>
  </p:sldMasterIdLst>
  <p:notesMasterIdLst>
    <p:notesMasterId xmlns:r="http://schemas.openxmlformats.org/officeDocument/2006/relationships" r:id="R74df0f1e301b416e"/>
  </p:notesMasterIdLst>
  <p:sldIdLst>
    <p:sldId xmlns:r="http://schemas.openxmlformats.org/officeDocument/2006/relationships" id="256" r:id="Ra49a494500114763"/>
    <p:sldId xmlns:r="http://schemas.openxmlformats.org/officeDocument/2006/relationships" id="257" r:id="R95263f5d09054778"/>
    <p:sldId xmlns:r="http://schemas.openxmlformats.org/officeDocument/2006/relationships" id="258" r:id="R327e048325f44d65"/>
    <p:sldId xmlns:r="http://schemas.openxmlformats.org/officeDocument/2006/relationships" id="259" r:id="R199f2964d75044a1"/>
    <p:sldId xmlns:r="http://schemas.openxmlformats.org/officeDocument/2006/relationships" id="260" r:id="Rb0438e1289bb40c7"/>
    <p:sldId xmlns:r="http://schemas.openxmlformats.org/officeDocument/2006/relationships" id="261" r:id="R2e0363dff4274b53"/>
    <p:sldId xmlns:r="http://schemas.openxmlformats.org/officeDocument/2006/relationships" id="262" r:id="Rd5a135d1423241c1"/>
    <p:sldId xmlns:r="http://schemas.openxmlformats.org/officeDocument/2006/relationships" id="263" r:id="R7c3d3cccbcac4169"/>
    <p:sldId xmlns:r="http://schemas.openxmlformats.org/officeDocument/2006/relationships" id="264" r:id="R47c4168107e94545"/>
    <p:sldId xmlns:r="http://schemas.openxmlformats.org/officeDocument/2006/relationships" id="265" r:id="R3ef9f35c4d784461"/>
    <p:sldId xmlns:r="http://schemas.openxmlformats.org/officeDocument/2006/relationships" id="266" r:id="R5cc49355a9a445f4"/>
    <p:sldId xmlns:r="http://schemas.openxmlformats.org/officeDocument/2006/relationships" id="267" r:id="Rac71ae8a2fab428d"/>
    <p:sldId xmlns:r="http://schemas.openxmlformats.org/officeDocument/2006/relationships" id="268" r:id="R30ecdf6636404654"/>
    <p:sldId xmlns:r="http://schemas.openxmlformats.org/officeDocument/2006/relationships" id="269" r:id="R39a1efb264304853"/>
    <p:sldId xmlns:r="http://schemas.openxmlformats.org/officeDocument/2006/relationships" id="270" r:id="R50e09d1f30ea43e6"/>
    <p:sldId xmlns:r="http://schemas.openxmlformats.org/officeDocument/2006/relationships" id="271" r:id="Re86816390a424e97"/>
    <p:sldId xmlns:r="http://schemas.openxmlformats.org/officeDocument/2006/relationships" id="272" r:id="Ra97de0f55b7e4613"/>
    <p:sldId xmlns:r="http://schemas.openxmlformats.org/officeDocument/2006/relationships" id="273" r:id="R19179f0dacac43a0"/>
    <p:sldId xmlns:r="http://schemas.openxmlformats.org/officeDocument/2006/relationships" id="274" r:id="Ree39e91e1eda47c1"/>
    <p:sldId xmlns:r="http://schemas.openxmlformats.org/officeDocument/2006/relationships" id="275" r:id="R905aa600cdc2406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4f1f43065f14967" /><Relationship Type="http://schemas.openxmlformats.org/officeDocument/2006/relationships/slideMaster" Target="/ppt/slideMasters/slideMaster1.xml" Id="R872d3fefbdcd4395" /><Relationship Type="http://schemas.openxmlformats.org/officeDocument/2006/relationships/notesMaster" Target="/ppt/notesMasters/notesMaster1.xml" Id="R74df0f1e301b416e" /><Relationship Type="http://schemas.openxmlformats.org/officeDocument/2006/relationships/presProps" Target="/ppt/presProps.xml" Id="Rc9f9e2270b8a4f8e" /><Relationship Type="http://schemas.openxmlformats.org/officeDocument/2006/relationships/tableStyles" Target="/ppt/tableStyles.xml" Id="Rfcba2cb0bc21494a" /><Relationship Type="http://schemas.openxmlformats.org/officeDocument/2006/relationships/slide" Target="/ppt/slides/slide1.xml" Id="Ra49a494500114763" /><Relationship Type="http://schemas.openxmlformats.org/officeDocument/2006/relationships/slide" Target="/ppt/slides/slide2.xml" Id="R95263f5d09054778" /><Relationship Type="http://schemas.openxmlformats.org/officeDocument/2006/relationships/slide" Target="/ppt/slides/slide3.xml" Id="R327e048325f44d65" /><Relationship Type="http://schemas.openxmlformats.org/officeDocument/2006/relationships/slide" Target="/ppt/slides/slide4.xml" Id="R199f2964d75044a1" /><Relationship Type="http://schemas.openxmlformats.org/officeDocument/2006/relationships/slide" Target="/ppt/slides/slide5.xml" Id="Rb0438e1289bb40c7" /><Relationship Type="http://schemas.openxmlformats.org/officeDocument/2006/relationships/slide" Target="/ppt/slides/slide6.xml" Id="R2e0363dff4274b53" /><Relationship Type="http://schemas.openxmlformats.org/officeDocument/2006/relationships/slide" Target="/ppt/slides/slide7.xml" Id="Rd5a135d1423241c1" /><Relationship Type="http://schemas.openxmlformats.org/officeDocument/2006/relationships/slide" Target="/ppt/slides/slide8.xml" Id="R7c3d3cccbcac4169" /><Relationship Type="http://schemas.openxmlformats.org/officeDocument/2006/relationships/slide" Target="/ppt/slides/slide9.xml" Id="R47c4168107e94545" /><Relationship Type="http://schemas.openxmlformats.org/officeDocument/2006/relationships/slide" Target="/ppt/slides/slide10.xml" Id="R3ef9f35c4d784461" /><Relationship Type="http://schemas.openxmlformats.org/officeDocument/2006/relationships/slide" Target="/ppt/slides/slide11.xml" Id="R5cc49355a9a445f4" /><Relationship Type="http://schemas.openxmlformats.org/officeDocument/2006/relationships/slide" Target="/ppt/slides/slide12.xml" Id="Rac71ae8a2fab428d" /><Relationship Type="http://schemas.openxmlformats.org/officeDocument/2006/relationships/slide" Target="/ppt/slides/slide13.xml" Id="R30ecdf6636404654" /><Relationship Type="http://schemas.openxmlformats.org/officeDocument/2006/relationships/slide" Target="/ppt/slides/slide14.xml" Id="R39a1efb264304853" /><Relationship Type="http://schemas.openxmlformats.org/officeDocument/2006/relationships/slide" Target="/ppt/slides/slide15.xml" Id="R50e09d1f30ea43e6" /><Relationship Type="http://schemas.openxmlformats.org/officeDocument/2006/relationships/slide" Target="/ppt/slides/slide16.xml" Id="Re86816390a424e97" /><Relationship Type="http://schemas.openxmlformats.org/officeDocument/2006/relationships/slide" Target="/ppt/slides/slide17.xml" Id="Ra97de0f55b7e4613" /><Relationship Type="http://schemas.openxmlformats.org/officeDocument/2006/relationships/slide" Target="/ppt/slides/slide18.xml" Id="R19179f0dacac43a0" /><Relationship Type="http://schemas.openxmlformats.org/officeDocument/2006/relationships/slide" Target="/ppt/slides/slide19.xml" Id="Ree39e91e1eda47c1" /><Relationship Type="http://schemas.openxmlformats.org/officeDocument/2006/relationships/slide" Target="/ppt/slides/slide20.xml" Id="R905aa600cdc2406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2671fc99445485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98df51a40ef484e" /><Relationship Type="http://schemas.openxmlformats.org/officeDocument/2006/relationships/notesMaster" Target="/ppt/notesMasters/notesMaster1.xml" Id="R96ca717ce12f414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a2d6969fbff4f75" /><Relationship Type="http://schemas.openxmlformats.org/officeDocument/2006/relationships/notesMaster" Target="/ppt/notesMasters/notesMaster1.xml" Id="R39bc86f2c57d4f8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750ab9e4cb14251" /><Relationship Type="http://schemas.openxmlformats.org/officeDocument/2006/relationships/notesMaster" Target="/ppt/notesMasters/notesMaster1.xml" Id="Racf60d8aa10e43c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2c11ec5e0f64c9e" /><Relationship Type="http://schemas.openxmlformats.org/officeDocument/2006/relationships/notesMaster" Target="/ppt/notesMasters/notesMaster1.xml" Id="Re64fef8c0fbe477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1f300b50188470c" /><Relationship Type="http://schemas.openxmlformats.org/officeDocument/2006/relationships/notesMaster" Target="/ppt/notesMasters/notesMaster1.xml" Id="Re2a0a087d45e4d5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ff455090d794bbd" /><Relationship Type="http://schemas.openxmlformats.org/officeDocument/2006/relationships/notesMaster" Target="/ppt/notesMasters/notesMaster1.xml" Id="R443198b6198943d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d0a9487a32142f2" /><Relationship Type="http://schemas.openxmlformats.org/officeDocument/2006/relationships/notesMaster" Target="/ppt/notesMasters/notesMaster1.xml" Id="R20e1104d167942e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6bd1dcabdf74cff" /><Relationship Type="http://schemas.openxmlformats.org/officeDocument/2006/relationships/notesMaster" Target="/ppt/notesMasters/notesMaster1.xml" Id="R0aa38bf74254432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b7a3dc9e00c4ecf" /><Relationship Type="http://schemas.openxmlformats.org/officeDocument/2006/relationships/notesMaster" Target="/ppt/notesMasters/notesMaster1.xml" Id="R03c6c0faae0143a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ef35b881dae4a84" /><Relationship Type="http://schemas.openxmlformats.org/officeDocument/2006/relationships/notesMaster" Target="/ppt/notesMasters/notesMaster1.xml" Id="R5c16831133384bf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83b6373bf6e4c7e" /><Relationship Type="http://schemas.openxmlformats.org/officeDocument/2006/relationships/notesMaster" Target="/ppt/notesMasters/notesMaster1.xml" Id="Re213242a97e2400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921110548a64e80" /><Relationship Type="http://schemas.openxmlformats.org/officeDocument/2006/relationships/notesMaster" Target="/ppt/notesMasters/notesMaster1.xml" Id="Raf551bbd2919494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924060e1363465c" /><Relationship Type="http://schemas.openxmlformats.org/officeDocument/2006/relationships/notesMaster" Target="/ppt/notesMasters/notesMaster1.xml" Id="R573e73635f75403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913d777c8dd47b3" /><Relationship Type="http://schemas.openxmlformats.org/officeDocument/2006/relationships/notesMaster" Target="/ppt/notesMasters/notesMaster1.xml" Id="Rb2a1192745b8480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d32797cb6a64c10" /><Relationship Type="http://schemas.openxmlformats.org/officeDocument/2006/relationships/notesMaster" Target="/ppt/notesMasters/notesMaster1.xml" Id="R961b8587b0e345d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3be5db7597b49db" /><Relationship Type="http://schemas.openxmlformats.org/officeDocument/2006/relationships/notesMaster" Target="/ppt/notesMasters/notesMaster1.xml" Id="R71d318991809436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930697695554a9b" /><Relationship Type="http://schemas.openxmlformats.org/officeDocument/2006/relationships/notesMaster" Target="/ppt/notesMasters/notesMaster1.xml" Id="R8f01c0a0f286467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edb24258280484c" /><Relationship Type="http://schemas.openxmlformats.org/officeDocument/2006/relationships/notesMaster" Target="/ppt/notesMasters/notesMaster1.xml" Id="Ra8bd5aacaed6413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1e9df153da74791" /><Relationship Type="http://schemas.openxmlformats.org/officeDocument/2006/relationships/notesMaster" Target="/ppt/notesMasters/notesMaster1.xml" Id="R0fc578d42bdd4fb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5749f34a378c4fdc" /><Relationship Type="http://schemas.openxmlformats.org/officeDocument/2006/relationships/notesMaster" Target="/ppt/notesMasters/notesMaster1.xml" Id="Rd4ede7bb1e53415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Compito2-focus.pdf, pp. 1-2, fornito da Andrea. Consegna C2 del 26 ottobre 2026.</a:t>
            </a:r>
          </a:p>
          <a:p xmlns:a="http://schemas.openxmlformats.org/drawingml/2006/main">
            <a:r>
              <a:t>https://github.com/andremauroo/CIBY/blob/main/C2/README.md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Compito2-focus.pdf, pp. 1-2, fornito da Andrea. Consegna C2 del 26 ottobre 2026.</a:t>
            </a:r>
          </a:p>
          <a:p xmlns:a="http://schemas.openxmlformats.org/drawingml/2006/main">
            <a:r>
              <a:t>https://github.com/andremauroo/CIBY/blob/main/C2/preparazione/focus-e-decisioni.md</a:t>
            </a:r>
          </a:p>
          <a:p xmlns:a="http://schemas.openxmlformats.org/drawingml/2006/main">
            <a:r>
              <a:t>https://github.com/andremauroo/CIBY/blob/main/C1/report%20interviste/P01.pdf</a:t>
            </a:r>
          </a:p>
          <a:p xmlns:a="http://schemas.openxmlformats.org/drawingml/2006/main">
            <a:r>
              <a:t>https://github.com/andremauroo/CIBY/blob/main/C1/report%20interviste/P02.pdf</a:t>
            </a:r>
          </a:p>
          <a:p xmlns:a="http://schemas.openxmlformats.org/drawingml/2006/main">
            <a:r>
              <a:t>https://github.com/andremauroo/CIBY/blob/main/C1/report%20interviste/P03.pdf</a:t>
            </a:r>
          </a:p>
          <a:p xmlns:a="http://schemas.openxmlformats.org/drawingml/2006/main">
            <a:r>
              <a:t>https://github.com/andremauroo/CIBY/blob/main/C1/report%20interviste/P04.pdf</a:t>
            </a:r>
          </a:p>
          <a:p xmlns:a="http://schemas.openxmlformats.org/drawingml/2006/main">
            <a:r>
              <a:t>https://github.com/andremauroo/CIBY/blob/main/C1/report%20interviste/P05.pdf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Compito2-focus.pdf, pp. 1-2, fornito da Andrea. Consegna C2 del 26 ottobre 2026.</a:t>
            </a:r>
          </a:p>
          <a:p xmlns:a="http://schemas.openxmlformats.org/drawingml/2006/main">
            <a:r>
              <a:t>https://github.com/andremauroo/CIBY/blob/main/C2/preparazione/requisiti-e-piano.md</a:t>
            </a:r>
          </a:p>
          <a:p xmlns:a="http://schemas.openxmlformats.org/drawingml/2006/main">
            <a:r>
              <a:t>Andrea, aggiornamento del 26 ottobre: diario non ancora ricevuto.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Compito2-focus.pdf, pp. 1-2, fornito da Andrea. Consegna C2 del 26 ottobre 2026.</a:t>
            </a:r>
          </a:p>
          <a:p xmlns:a="http://schemas.openxmlformats.org/drawingml/2006/main">
            <a:r>
              <a:t>https://github.com/andremauroo/CIBY/blob/main/C2/preparazione/requisiti-e-piano.md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https://github.com/andremauroo/CIBY/blob/main/C2/preparazione/evidenze-e-bisogni.md</a:t>
            </a:r>
          </a:p>
          <a:p xmlns:a="http://schemas.openxmlformats.org/drawingml/2006/main">
            <a:r>
              <a:t>Compito2-focus.pdf, pp. 1-2, fornito da Andrea. Consegna C2 del 26 ottobre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https://github.com/andremauroo/CIBY/blob/main/C2/preparazione/brainstorming-bisogni.md</a:t>
            </a:r>
          </a:p>
          <a:p xmlns:a="http://schemas.openxmlformats.org/drawingml/2006/main">
            <a:r>
              <a:t>https://www.figma.com/board/Aa9cVd9wI6ifqZyzO30I9m/Compito-2?node-id=121-228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https://github.com/andremauroo/CIBY/blob/main/C2/preparazione/evidenze-e-bisogni.md</a:t>
            </a:r>
          </a:p>
          <a:p xmlns:a="http://schemas.openxmlformats.org/drawingml/2006/main">
            <a:r>
              <a:t>https://github.com/andremauroo/CIBY/blob/main/C1/report%20interviste/P01.pdf</a:t>
            </a:r>
          </a:p>
          <a:p xmlns:a="http://schemas.openxmlformats.org/drawingml/2006/main">
            <a:r>
              <a:t>https://github.com/andremauroo/CIBY/blob/main/C1/report%20interviste/P02.pdf</a:t>
            </a:r>
          </a:p>
          <a:p xmlns:a="http://schemas.openxmlformats.org/drawingml/2006/main">
            <a:r>
              <a:t>https://github.com/andremauroo/CIBY/blob/main/C1/report%20interviste/P03.pdf</a:t>
            </a:r>
          </a:p>
          <a:p xmlns:a="http://schemas.openxmlformats.org/drawingml/2006/main">
            <a:r>
              <a:t>https://github.com/andremauroo/CIBY/blob/main/C1/report%20interviste/P04.pdf</a:t>
            </a:r>
          </a:p>
          <a:p xmlns:a="http://schemas.openxmlformats.org/drawingml/2006/main">
            <a:r>
              <a:t>https://github.com/andremauroo/CIBY/blob/main/C1/report%20interviste/P05.pdf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https://github.com/andremauroo/CIBY/blob/main/C2/preparazione/evidenze-e-bisogni.md</a:t>
            </a:r>
          </a:p>
          <a:p xmlns:a="http://schemas.openxmlformats.org/drawingml/2006/main">
            <a:r>
              <a:t>https://github.com/andremauroo/CIBY/blob/main/C2/preparazione/focus-e-decisioni.md</a:t>
            </a:r>
          </a:p>
          <a:p xmlns:a="http://schemas.openxmlformats.org/drawingml/2006/main">
            <a:r>
              <a:t>https://github.com/andremauroo/CIBY/blob/main/C1/report%20interviste/P01.pdf</a:t>
            </a:r>
          </a:p>
          <a:p xmlns:a="http://schemas.openxmlformats.org/drawingml/2006/main">
            <a:r>
              <a:t>https://github.com/andremauroo/CIBY/blob/main/C1/report%20interviste/P02.pdf</a:t>
            </a:r>
          </a:p>
          <a:p xmlns:a="http://schemas.openxmlformats.org/drawingml/2006/main">
            <a:r>
              <a:t>https://github.com/andremauroo/CIBY/blob/main/C1/report%20interviste/P03.pdf</a:t>
            </a:r>
          </a:p>
          <a:p xmlns:a="http://schemas.openxmlformats.org/drawingml/2006/main">
            <a:r>
              <a:t>https://github.com/andremauroo/CIBY/blob/main/C1/report%20interviste/P04.pdf</a:t>
            </a:r>
          </a:p>
          <a:p xmlns:a="http://schemas.openxmlformats.org/drawingml/2006/main">
            <a:r>
              <a:t>https://github.com/andremauroo/CIBY/blob/main/C1/report%20interviste/P05.pdf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https://github.com/andremauroo/CIBY/blob/main/C2/preparazione/personas-e-scenari.md</a:t>
            </a:r>
          </a:p>
          <a:p xmlns:a="http://schemas.openxmlformats.org/drawingml/2006/main">
            <a:r>
              <a:t>https://github.com/andremauroo/CIBY/blob/main/C1/report%20interviste/P01.pdf</a:t>
            </a:r>
          </a:p>
          <a:p xmlns:a="http://schemas.openxmlformats.org/drawingml/2006/main">
            <a:r>
              <a:t>https://github.com/andremauroo/CIBY/blob/main/C1/report%20interviste/P02.pdf</a:t>
            </a:r>
          </a:p>
          <a:p xmlns:a="http://schemas.openxmlformats.org/drawingml/2006/main">
            <a:r>
              <a:t>https://github.com/andremauroo/CIBY/blob/main/C1/report%20interviste/P03.pdf</a:t>
            </a:r>
          </a:p>
          <a:p xmlns:a="http://schemas.openxmlformats.org/drawingml/2006/main">
            <a:r>
              <a:t>https://github.com/andremauroo/CIBY/blob/main/C1/report%20interviste/P04.pdf</a:t>
            </a:r>
          </a:p>
          <a:p xmlns:a="http://schemas.openxmlformats.org/drawingml/2006/main">
            <a:r>
              <a:t>https://github.com/andremauroo/CIBY/blob/main/C1/report%20interviste/P05.pdf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https://github.com/andremauroo/CIBY/blob/main/C2/preparazione/personas-e-scenari.md</a:t>
            </a:r>
          </a:p>
          <a:p xmlns:a="http://schemas.openxmlformats.org/drawingml/2006/main">
            <a:r>
              <a:t>P01-E03/E05/E08/E09. P05-E03/E04/E11.</a:t>
            </a:r>
          </a:p>
          <a:p xmlns:a="http://schemas.openxmlformats.org/drawingml/2006/main">
            <a:r>
              <a:t>Scenario concettuale: dettagli, supporto ed esito sono costruzioni progettuali, non episodi osservati.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https://github.com/andremauroo/CIBY/blob/main/C2/preparazione/personas-e-scenari.md</a:t>
            </a:r>
          </a:p>
          <a:p xmlns:a="http://schemas.openxmlformats.org/drawingml/2006/main">
            <a:r>
              <a:t>P01-E01/E09. P02-E03/E10/E12. P03-E12/E13. P05-E06.</a:t>
            </a:r>
          </a:p>
          <a:p xmlns:a="http://schemas.openxmlformats.org/drawingml/2006/main">
            <a:r>
              <a:t>Scenario concettuale: dettagli, supporto ed esito sono costruzioni progettuali, non episodi osservati.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https://github.com/andremauroo/CIBY/blob/main/C2/preparazione/personas-e-scenari.md</a:t>
            </a:r>
          </a:p>
          <a:p xmlns:a="http://schemas.openxmlformats.org/drawingml/2006/main">
            <a:r>
              <a:t>P02-E07/E08 e C01. P03-E04/E08. Non si assume che la panna di P03 sia stata eliminata.</a:t>
            </a:r>
          </a:p>
          <a:p xmlns:a="http://schemas.openxmlformats.org/drawingml/2006/main">
            <a:r>
              <a:t>Scenario concettuale: dettagli, supporto ed esito sono costruzioni progettuali, non episodi osservati.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https://github.com/andremauroo/CIBY/blob/main/C2/preparazione/personas-e-scenari.md</a:t>
            </a:r>
          </a:p>
          <a:p xmlns:a="http://schemas.openxmlformats.org/drawingml/2006/main">
            <a:r>
              <a:t>P02-E06/E07. P03-E05/E07. Formati, invito e scelta specifica sono dettagli narrativi, non un acquisto osservato.</a:t>
            </a:r>
          </a:p>
          <a:p xmlns:a="http://schemas.openxmlformats.org/drawingml/2006/main">
            <a:r>
              <a:t>Scenario concettuale: dettagli, supporto ed esito sono costruzioni progettuali, non episodi osservati.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https://github.com/andremauroo/CIBY/blob/main/C2/preparazione/brainstorming-e-scelta.md</a:t>
            </a:r>
          </a:p>
          <a:p xmlns:a="http://schemas.openxmlformats.org/drawingml/2006/main">
            <a:r>
              <a:t>https://www.figma.com/board/Aa9cVd9wI6ifqZyzO30I9m/Compito-2?node-id=101-228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https://github.com/andremauroo/CIBY/blob/main/C2/preparazione/alternative-soluzione.md</a:t>
            </a:r>
          </a:p>
          <a:p xmlns:a="http://schemas.openxmlformats.org/drawingml/2006/main">
            <a:r>
              <a:t>https://github.com/andremauroo/CIBY/blob/main/C2/preparazione/soluzione-concettuale.md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https://github.com/andremauroo/CIBY/blob/main/C2/preparazione/confronto-soluzioni-esistenti.md</a:t>
            </a:r>
          </a:p>
          <a:p xmlns:a="http://schemas.openxmlformats.org/drawingml/2006/main">
            <a:r>
              <a:t>https://apps.apple.com/us/app/supercook-recipe-by-ingredient/id1477747816</a:t>
            </a:r>
          </a:p>
          <a:p xmlns:a="http://schemas.openxmlformats.org/drawingml/2006/main">
            <a:r>
              <a:t>https://samsungfood.com/foodplus-promo/uk/</a:t>
            </a:r>
          </a:p>
          <a:p xmlns:a="http://schemas.openxmlformats.org/drawingml/2006/main">
            <a:r>
              <a:t>https://support.samsungfood.com/hc/en-us/articles/30025317487508-Getting-Started-with-Food-List</a:t>
            </a:r>
          </a:p>
          <a:p xmlns:a="http://schemas.openxmlformats.org/drawingml/2006/main">
            <a:r>
              <a:t>https://support.samsungfood.com/hc/en-us/articles/35369657798548-Getting-Started-with-Meal-Planner</a:t>
            </a:r>
          </a:p>
          <a:p xmlns:a="http://schemas.openxmlformats.org/drawingml/2006/main">
            <a:r>
              <a:t>https://www.sously.app/help/substitute-ingredients/</a:t>
            </a:r>
          </a:p>
          <a:p xmlns:a="http://schemas.openxmlformats.org/drawingml/2006/main">
            <a:r>
              <a:t>https://www.sously.app/help/plan-your-week/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https://github.com/andremauroo/CIBY/blob/main/C2/preparazione/brainstorming-e-scelta.md</a:t>
            </a:r>
          </a:p>
          <a:p xmlns:a="http://schemas.openxmlformats.org/drawingml/2006/main">
            <a:r>
              <a:t>https://github.com/andremauroo/CIBY/blob/main/C2/preparazione/focus-e-decisioni.md</a:t>
            </a:r>
          </a:p>
          <a:p xmlns:a="http://schemas.openxmlformats.org/drawingml/2006/main">
            <a:r>
              <a:t>Compito2-focus.pdf, pp. 1-2, fornito da Andrea. Consegna C2 del 26 ottobre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https://github.com/andremauroo/CIBY/blob/main/C2/preparazione/soluzione-concettuale.md</a:t>
            </a:r>
          </a:p>
          <a:p xmlns:a="http://schemas.openxmlformats.org/drawingml/2006/main">
            <a:r>
              <a:t>https://github.com/andremauroo/CIBY/blob/main/C2/preparazione/approfondimento-sportivo-simulato.md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https://github.com/andremauroo/CIBY/blob/main/C2/preparazione/value-proposition.md</a:t>
            </a:r>
          </a:p>
          <a:p xmlns:a="http://schemas.openxmlformats.org/drawingml/2006/main">
            <a:r>
              <a:t>https://github.com/andremauroo/CIBY/blob/main/C2/preparazione/brainstorming-e-scelta.md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Compito2-focus.pdf, pp. 1-2, fornito da Andrea. Consegna C2 del 26 ottobre 2026.</a:t>
            </a:r>
          </a:p>
          <a:p xmlns:a="http://schemas.openxmlformats.org/drawingml/2006/main">
            <a:r>
              <a:t>https://github.com/andremauroo/CIBY/blob/main/C1/report%20interviste/P01.pdf</a:t>
            </a:r>
          </a:p>
          <a:p xmlns:a="http://schemas.openxmlformats.org/drawingml/2006/main">
            <a:r>
              <a:t>https://github.com/andremauroo/CIBY/blob/main/C1/report%20interviste/P02.pdf</a:t>
            </a:r>
          </a:p>
          <a:p xmlns:a="http://schemas.openxmlformats.org/drawingml/2006/main">
            <a:r>
              <a:t>https://github.com/andremauroo/CIBY/blob/main/C1/report%20interviste/P03.pdf</a:t>
            </a:r>
          </a:p>
          <a:p xmlns:a="http://schemas.openxmlformats.org/drawingml/2006/main">
            <a:r>
              <a:t>https://github.com/andremauroo/CIBY/blob/main/C1/report%20interviste/P04.pdf</a:t>
            </a:r>
          </a:p>
          <a:p xmlns:a="http://schemas.openxmlformats.org/drawingml/2006/main">
            <a:r>
              <a:t>https://github.com/andremauroo/CIBY/blob/main/C1/report%20interviste/P05.pdf</a:t>
            </a:r>
          </a:p>
          <a:p xmlns:a="http://schemas.openxmlformats.org/drawingml/2006/main">
            <a:r>
              <a:t>https://github.com/andremauroo/CIBY/blob/main/C2/preparazione/personas-e-scenari.md</a:t>
            </a:r>
          </a:p>
          <a:p xmlns:a="http://schemas.openxmlformats.org/drawingml/2006/main">
            <a:r>
              <a:t>https://github.com/andremauroo/CIBY/blob/main/C2/preparazione/confronto-soluzioni-esistenti.md</a:t>
            </a:r>
          </a:p>
          <a:p xmlns:a="http://schemas.openxmlformats.org/drawingml/2006/main">
            <a:r>
              <a:t>https://www.figma.com/board/Aa9cVd9wI6ifqZyzO30I9m/Compito-2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4d365646a1492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8d172f71b7486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536cced4df414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9aac9a0ce343a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a94076ce5f4c5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668b60cdb9476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2E3F3BF-098F-4DD5-AF2E-8F6B6D0227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8FA611A-E9E0-4BCF-A7F8-1967938B93B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0F923FBF-9B39-4906-BC00-096E80A0E1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B6032C5-EFC6-4F68-A3C5-6DF24D929E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403EEBA-FA9D-40A9-A9E5-DCFEA281B1C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A9B5CD9-55EF-4C93-9565-5746FBF8BC9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9894EAF-3419-48D8-84BF-7C3A66F809E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8508579-D56F-4AFF-B253-EA0C71DC599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DF153BA-FBAE-4A84-84C8-BFE7713B21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42A00A2-90F4-4746-8E45-D53233CD1A1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dce6f09b30b466d" /><Relationship Type="http://schemas.openxmlformats.org/officeDocument/2006/relationships/slideLayout" Target="/ppt/slideLayouts/slideLayout1.xml" Id="R3bb3b711db3d4da2" /><Relationship Type="http://schemas.openxmlformats.org/officeDocument/2006/relationships/slideLayout" Target="/ppt/slideLayouts/slideLayout2.xml" Id="R1e5bed7be4f4441c" /><Relationship Type="http://schemas.openxmlformats.org/officeDocument/2006/relationships/slideLayout" Target="/ppt/slideLayouts/slideLayout3.xml" Id="Rdaf04b0a569a43b6" /><Relationship Type="http://schemas.openxmlformats.org/officeDocument/2006/relationships/slideLayout" Target="/ppt/slideLayouts/slideLayout4.xml" Id="R48504c67563a4fb5" /><Relationship Type="http://schemas.openxmlformats.org/officeDocument/2006/relationships/slideLayout" Target="/ppt/slideLayouts/slideLayout5.xml" Id="R3a9bf565dd1747b9" /><Relationship Type="http://schemas.openxmlformats.org/officeDocument/2006/relationships/slideLayout" Target="/ppt/slideLayouts/slideLayout6.xml" Id="Rc84b999be72e475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bb3b711db3d4da2"/>
    <p:sldLayoutId xmlns:r="http://schemas.openxmlformats.org/officeDocument/2006/relationships" id="2147483650" r:id="R1e5bed7be4f4441c"/>
    <p:sldLayoutId xmlns:r="http://schemas.openxmlformats.org/officeDocument/2006/relationships" id="2147483651" r:id="Rdaf04b0a569a43b6"/>
    <p:sldLayoutId xmlns:r="http://schemas.openxmlformats.org/officeDocument/2006/relationships" id="2147483652" r:id="R48504c67563a4fb5"/>
    <p:sldLayoutId xmlns:r="http://schemas.openxmlformats.org/officeDocument/2006/relationships" id="2147483653" r:id="R3a9bf565dd1747b9"/>
    <p:sldLayoutId xmlns:r="http://schemas.openxmlformats.org/officeDocument/2006/relationships" id="2147483654" r:id="Rc84b999be72e475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e9e1bf045c949bc" /><Relationship Type="http://schemas.openxmlformats.org/officeDocument/2006/relationships/notesSlide" Target="/ppt/notesSlides/notesSlide1.xml" Id="R68c5374a4b78462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7fa18f0160540db" /><Relationship Type="http://schemas.openxmlformats.org/officeDocument/2006/relationships/notesSlide" Target="/ppt/notesSlides/notesSlide2.xml" Id="Ra38d39ca9e044fc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ced6cdfdcb426e" /><Relationship Type="http://schemas.openxmlformats.org/officeDocument/2006/relationships/notesSlide" Target="/ppt/notesSlides/notesSlide3.xml" Id="R09a839aa531c422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9f007743b534b54" /><Relationship Type="http://schemas.openxmlformats.org/officeDocument/2006/relationships/notesSlide" Target="/ppt/notesSlides/notesSlide4.xml" Id="R82f1b8d0aac944c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cc031e8efe14538" /><Relationship Type="http://schemas.openxmlformats.org/officeDocument/2006/relationships/notesSlide" Target="/ppt/notesSlides/notesSlide5.xml" Id="Re42f17616bc5422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a88581f75d24f00" /><Relationship Type="http://schemas.openxmlformats.org/officeDocument/2006/relationships/notesSlide" Target="/ppt/notesSlides/notesSlide6.xml" Id="Re54c486681a2430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649e81f4ba349dc" /><Relationship Type="http://schemas.openxmlformats.org/officeDocument/2006/relationships/notesSlide" Target="/ppt/notesSlides/notesSlide7.xml" Id="R3d561b0d4b9d4d8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53d9c50a88f43e4" /><Relationship Type="http://schemas.openxmlformats.org/officeDocument/2006/relationships/notesSlide" Target="/ppt/notesSlides/notesSlide8.xml" Id="R8a76e2834509492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5a4250b38e44c30" /><Relationship Type="http://schemas.openxmlformats.org/officeDocument/2006/relationships/notesSlide" Target="/ppt/notesSlides/notesSlide9.xml" Id="R92c99f22d0f148c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ddad2cfc1804484" /><Relationship Type="http://schemas.openxmlformats.org/officeDocument/2006/relationships/notesSlide" Target="/ppt/notesSlides/notesSlide10.xml" Id="R1dbdce4aa04c47d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74ff8a918e64d03" /><Relationship Type="http://schemas.openxmlformats.org/officeDocument/2006/relationships/notesSlide" Target="/ppt/notesSlides/notesSlide11.xml" Id="R8c4ab82156d64b7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d6e518d10dd4763" /><Relationship Type="http://schemas.openxmlformats.org/officeDocument/2006/relationships/notesSlide" Target="/ppt/notesSlides/notesSlide12.xml" Id="R514dc12f05264cc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d15031044ae490c" /><Relationship Type="http://schemas.openxmlformats.org/officeDocument/2006/relationships/notesSlide" Target="/ppt/notesSlides/notesSlide13.xml" Id="R48166d914980409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e8e4dbc1a284fdc" /><Relationship Type="http://schemas.openxmlformats.org/officeDocument/2006/relationships/notesSlide" Target="/ppt/notesSlides/notesSlide14.xml" Id="R9e5c284f21ae44f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0362ef6e88841bc" /><Relationship Type="http://schemas.openxmlformats.org/officeDocument/2006/relationships/notesSlide" Target="/ppt/notesSlides/notesSlide15.xml" Id="R48bbd4558be8492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19e63bd70fb4b50" /><Relationship Type="http://schemas.openxmlformats.org/officeDocument/2006/relationships/notesSlide" Target="/ppt/notesSlides/notesSlide16.xml" Id="Rac3bad6be121491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e4596fff23435d" /><Relationship Type="http://schemas.openxmlformats.org/officeDocument/2006/relationships/notesSlide" Target="/ppt/notesSlides/notesSlide17.xml" Id="Rbae1aad388114c5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df63656da44f76" /><Relationship Type="http://schemas.openxmlformats.org/officeDocument/2006/relationships/notesSlide" Target="/ppt/notesSlides/notesSlide18.xml" Id="R7844a6bdca9e481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15d4e726349422b" /><Relationship Type="http://schemas.openxmlformats.org/officeDocument/2006/relationships/notesSlide" Target="/ppt/notesSlides/notesSlide19.xml" Id="Rd1bc0e4ea4fc4ea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5b9a0fd0764acd" /><Relationship Type="http://schemas.openxmlformats.org/officeDocument/2006/relationships/notesSlide" Target="/ppt/notesSlides/notesSlide20.xml" Id="Rbb2261a647ed4c9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2016EC-F4B3-4232-826C-09F74D35E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83D32"/>
                </a:solidFill>
              </a:defRPr>
            </a:pPr>
            <a:r>
              <a:rPr sz="3300" b="1">
                <a:solidFill>
                  <a:srgbClr val="183D32"/>
                </a:solidFill>
                <a:latin typeface="Arial"/>
                <a:ea typeface="Arial"/>
                <a:cs typeface="Arial"/>
              </a:rPr>
              <a:t>CIBY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209774-88DF-4CDB-9AB7-A5C0B6986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CIBY · Bozza di lavoro · 26 ottobre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937554-B55A-443C-8FC5-ACE209C56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29375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94658D-DF71-42A2-BAC6-1C2564A10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952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9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defPPr>
            <a:lvl1pPr>
              <a:defRPr sz="39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1pPr>
            <a:lvl2pPr>
              <a:defRPr sz="39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2pPr>
            <a:lvl3pPr>
              <a:defRPr sz="39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3pPr>
            <a:lvl4pPr>
              <a:defRPr sz="39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4pPr>
            <a:lvl5pPr>
              <a:defRPr sz="39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5pPr>
            <a:lvl6pPr>
              <a:defRPr sz="39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6pPr>
            <a:lvl7pPr>
              <a:defRPr sz="39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7pPr>
            <a:lvl8pPr>
              <a:defRPr sz="39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8pPr>
            <a:lvl9pPr>
              <a:defRPr sz="39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900" b="1">
                <a:solidFill>
                  <a:srgbClr val="183D32"/>
                </a:solidFill>
              </a:defRPr>
            </a:pPr>
            <a:r>
              <a:rPr sz="3900" b="1">
                <a:solidFill>
                  <a:srgbClr val="183D32"/>
                </a:solidFill>
                <a:latin typeface="Arial"/>
                <a:ea typeface="Arial"/>
                <a:cs typeface="Arial"/>
              </a:rPr>
              <a:t>Raffinamento e focus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70D0FD-1521-4023-BD21-533E60FF0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05150"/>
            <a:ext cx="990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25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A44628"/>
                </a:solidFill>
              </a:defRPr>
            </a:pPr>
            <a:r>
              <a:rPr sz="2250" b="1">
                <a:solidFill>
                  <a:srgbClr val="A44628"/>
                </a:solidFill>
                <a:latin typeface="Arial"/>
                <a:ea typeface="Arial"/>
                <a:cs typeface="Arial"/>
              </a:rPr>
              <a:t>MAGGICAL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4307D9-9769-4D9B-8781-7C518C838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05225"/>
            <a:ext cx="10477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29483E"/>
                </a:solidFill>
              </a:defRPr>
            </a:pPr>
            <a:r>
              <a:rPr sz="2100" b="0">
                <a:solidFill>
                  <a:srgbClr val="29483E"/>
                </a:solidFill>
                <a:latin typeface="Arial"/>
                <a:ea typeface="Arial"/>
                <a:cs typeface="Arial"/>
              </a:rPr>
              <a:t>Andrea Mauro, Marco Macherelli, Gabriele Martignoni,</a:t>
            </a:r>
          </a:p>
          <a:p xmlns:a="http://schemas.openxmlformats.org/drawingml/2006/main">
            <a:pPr>
              <a:defRPr sz="2100" b="0">
                <a:solidFill>
                  <a:srgbClr val="29483E"/>
                </a:solidFill>
              </a:defRPr>
            </a:pPr>
            <a:r>
              <a:rPr sz="2100" b="0">
                <a:solidFill>
                  <a:srgbClr val="29483E"/>
                </a:solidFill>
                <a:latin typeface="Arial"/>
                <a:ea typeface="Arial"/>
                <a:cs typeface="Arial"/>
              </a:rPr>
              <a:t>Rime Chamkar, Emanuele Marcantonio, Edoardo Ughi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5E8677-D1FB-44B6-9049-B172C1909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76875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75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586B62"/>
                </a:solidFill>
              </a:defRPr>
            </a:pPr>
            <a:r>
              <a:rPr sz="1875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Compito 2 · Human-Computer Interaction · Politecnico di Milano</a:t>
            </a:r>
          </a:p>
        </p:txBody>
      </p:sp>
    </p:spTree>
    <p:extLst>
      <p:ext uri="{BB962C8B-B14F-4D97-AF65-F5344CB8AC3E}">
        <p14:creationId xmlns:p14="http://schemas.microsoft.com/office/powerpoint/2010/main" val="86473906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CF059C-7503-4EF2-9541-870E5B095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83D32"/>
                </a:solidFill>
              </a:defRPr>
            </a:pPr>
            <a:r>
              <a:rPr sz="3300" b="1">
                <a:solidFill>
                  <a:srgbClr val="183D32"/>
                </a:solidFill>
                <a:latin typeface="Arial"/>
                <a:ea typeface="Arial"/>
                <a:cs typeface="Arial"/>
              </a:rPr>
              <a:t>Il dominio e la domanda di approfondimento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A46EE8-E5DE-4040-A830-3C8900B15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86B62"/>
                </a:solidFill>
              </a:defRPr>
            </a:pPr>
            <a:r>
              <a:rPr sz="18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Giovani adulti che si occupano della propria spesa e dei pasti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D6937E-D904-4B46-B62B-CB002C447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CIBY · Bozza di lavoro · 26 ottobre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C583A5-1D36-435D-8C02-ABED50A8B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29375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7DB24D-B281-4670-9397-F5D7F9B3B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5000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A44628"/>
                </a:solidFill>
              </a:defRPr>
            </a:pPr>
            <a:r>
              <a:rPr sz="2100" b="1">
                <a:solidFill>
                  <a:srgbClr val="A44628"/>
                </a:solidFill>
                <a:latin typeface="Arial"/>
                <a:ea typeface="Arial"/>
                <a:cs typeface="Arial"/>
              </a:rPr>
              <a:t>Base C1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6AA3B0-CEE9-4BD4-BCF1-09AD455AF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50006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2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9483E"/>
                </a:solidFill>
              </a:defRPr>
            </a:pPr>
            <a:r>
              <a:rPr sz="2250" b="0">
                <a:solidFill>
                  <a:srgbClr val="29483E"/>
                </a:solidFill>
                <a:latin typeface="Arial"/>
                <a:ea typeface="Arial"/>
                <a:cs typeface="Arial"/>
              </a:rPr>
              <a:t>Cinque interviste esplorano acquisti, preparazioni quotidiane e gestione degli alimenti.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50D97A-BF98-4B4F-9EE0-88B734AAE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86000"/>
            <a:ext cx="5000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A44628"/>
                </a:solidFill>
              </a:defRPr>
            </a:pPr>
            <a:r>
              <a:rPr sz="2100" b="1">
                <a:solidFill>
                  <a:srgbClr val="A44628"/>
                </a:solidFill>
                <a:latin typeface="Arial"/>
                <a:ea typeface="Arial"/>
                <a:cs typeface="Arial"/>
              </a:rPr>
              <a:t>Domanda C2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B8C698-5BCA-426F-966F-E53ADF975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781300"/>
            <a:ext cx="500062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2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9483E"/>
                </a:solidFill>
              </a:defRPr>
            </a:pPr>
            <a:r>
              <a:rPr sz="2250" b="0">
                <a:solidFill>
                  <a:srgbClr val="29483E"/>
                </a:solidFill>
                <a:latin typeface="Arial"/>
                <a:ea typeface="Arial"/>
                <a:cs typeface="Arial"/>
              </a:rPr>
              <a:t>Quando un programma cambia, come decidono che cosa cucinare e che cosa fare degli ingredienti?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4FDCB6-D4D1-49C1-991E-E1CB82AB1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025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586B62"/>
                </a:solidFill>
              </a:defRPr>
            </a:pPr>
            <a:r>
              <a:rPr sz="2025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Feedback C1: approfondire la routine con un diario di spesa e preparazioni. Nel racconto, presentare le ragioni prima delle scelte.</a:t>
            </a:r>
          </a:p>
        </p:txBody>
      </p:sp>
    </p:spTree>
    <p:extLst>
      <p:ext uri="{BB962C8B-B14F-4D97-AF65-F5344CB8AC3E}">
        <p14:creationId xmlns:p14="http://schemas.microsoft.com/office/powerpoint/2010/main" val="82870966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F18824-BB7C-40CA-A2DB-4D8503E20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83D32"/>
                </a:solidFill>
              </a:defRPr>
            </a:pPr>
            <a:r>
              <a:rPr sz="3300" b="1">
                <a:solidFill>
                  <a:srgbClr val="183D32"/>
                </a:solidFill>
                <a:latin typeface="Arial"/>
                <a:ea typeface="Arial"/>
                <a:cs typeface="Arial"/>
              </a:rPr>
              <a:t>Approfondimento con P02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9DAB01-FD77-4006-A7D1-404927D4E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86B62"/>
                </a:solidFill>
              </a:defRPr>
            </a:pPr>
            <a:r>
              <a:rPr sz="18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Materiale in attesa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CAF7DD-C892-4CE6-9B3F-31492A518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CIBY · Bozza di lavoro · 26 ottobre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A9AB75-A3D2-46DA-B485-9947A30C6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29375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8B2E0D-2743-4E3A-AA9F-D54A1BF4C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10382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85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83D32"/>
                </a:solidFill>
              </a:defRPr>
            </a:pPr>
            <a:r>
              <a:rPr sz="2850" b="1">
                <a:solidFill>
                  <a:srgbClr val="183D32"/>
                </a:solidFill>
                <a:latin typeface="Arial"/>
                <a:ea typeface="Arial"/>
                <a:cs typeface="Arial"/>
              </a:rPr>
              <a:t>Diario di circa 3–4 giorni su spesa e alimenti preparati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E035C8-0A52-4523-BF35-0464F31F3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A44628"/>
                </a:solidFill>
              </a:defRPr>
            </a:pPr>
            <a:r>
              <a:rPr sz="2100" b="1">
                <a:solidFill>
                  <a:srgbClr val="A44628"/>
                </a:solidFill>
                <a:latin typeface="Arial"/>
                <a:ea typeface="Arial"/>
                <a:cs typeface="Arial"/>
              </a:rPr>
              <a:t>Informazioni da registrare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8C5012-75E1-4A9C-BEB3-8382EF1AA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62400"/>
            <a:ext cx="50958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9483E"/>
                </a:solidFill>
              </a:defRPr>
            </a:pPr>
            <a:r>
              <a:rPr sz="2175" b="0">
                <a:solidFill>
                  <a:srgbClr val="29483E"/>
                </a:solidFill>
                <a:latin typeface="Arial"/>
                <a:ea typeface="Arial"/>
                <a:cs typeface="Arial"/>
              </a:rPr>
              <a:t>Periodo effettivo, contesto e modalità di raccolta. Distinguere annotazioni quotidiane da ricostruzione a posteriori.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6064FF-E03B-4861-9904-822F25B59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467100"/>
            <a:ext cx="5000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A44628"/>
                </a:solidFill>
              </a:defRPr>
            </a:pPr>
            <a:r>
              <a:rPr sz="2100" b="1">
                <a:solidFill>
                  <a:srgbClr val="A44628"/>
                </a:solidFill>
                <a:latin typeface="Arial"/>
                <a:ea typeface="Arial"/>
                <a:cs typeface="Arial"/>
              </a:rPr>
              <a:t>Pertinenza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1ED8BA-3F22-4890-8437-C924DB813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962400"/>
            <a:ext cx="500062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9483E"/>
                </a:solidFill>
              </a:defRPr>
            </a:pPr>
            <a:r>
              <a:rPr sz="2175" b="0">
                <a:solidFill>
                  <a:srgbClr val="29483E"/>
                </a:solidFill>
                <a:latin typeface="Arial"/>
                <a:ea typeface="Arial"/>
                <a:cs typeface="Arial"/>
              </a:rPr>
              <a:t>P02 ha già partecipato alla C1 e gestisce spesa e pasti. Il diario potrà descrivere decisioni e cambiamenti nella sua routine.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AD928D-6508-4733-9FAC-9466A6376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75" b="1">
                <a:solidFill>
                  <a:srgbClr val="8B5D14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8B5D14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8B5D14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8B5D14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8B5D14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8B5D14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8B5D14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8B5D14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8B5D14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8B5D1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8B5D14"/>
                </a:solidFill>
              </a:defRPr>
            </a:pPr>
            <a:r>
              <a:rPr sz="1875" b="1">
                <a:solidFill>
                  <a:srgbClr val="8B5D14"/>
                </a:solidFill>
                <a:latin typeface="Arial"/>
                <a:ea typeface="Arial"/>
                <a:cs typeface="Arial"/>
              </a:rPr>
              <a:t>Al momento non disponiamo di nuove osservazioni con utenti.</a:t>
            </a:r>
          </a:p>
        </p:txBody>
      </p:sp>
    </p:spTree>
    <p:extLst>
      <p:ext uri="{BB962C8B-B14F-4D97-AF65-F5344CB8AC3E}">
        <p14:creationId xmlns:p14="http://schemas.microsoft.com/office/powerpoint/2010/main" val="75488444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9E3906-0C9E-4913-8BD6-78548D8CB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83D32"/>
                </a:solidFill>
              </a:defRPr>
            </a:pPr>
            <a:r>
              <a:rPr sz="3300" b="1">
                <a:solidFill>
                  <a:srgbClr val="183D32"/>
                </a:solidFill>
                <a:latin typeface="Arial"/>
                <a:ea typeface="Arial"/>
                <a:cs typeface="Arial"/>
              </a:rPr>
              <a:t>Episodi del diario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C483EE-D3EC-42CE-AEC1-D1BEDC2E6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86B62"/>
                </a:solidFill>
              </a:defRPr>
            </a:pPr>
            <a:r>
              <a:rPr sz="18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Da compilare soltanto dopo aver ricevuto il materiale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B7829F-3819-422E-AEA2-25BB78310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CIBY · Bozza di lavoro · 26 ottobre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553300-61FC-49ED-BE67-A098B12E3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29375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203F10-9A37-4C1A-AB2E-E4CF6172F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108204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85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83D32"/>
                </a:solidFill>
              </a:defRPr>
            </a:pPr>
            <a:r>
              <a:rPr sz="2850" b="1">
                <a:solidFill>
                  <a:srgbClr val="183D32"/>
                </a:solidFill>
                <a:latin typeface="Arial"/>
                <a:ea typeface="Arial"/>
                <a:cs typeface="Arial"/>
              </a:rPr>
              <a:t>Estratti e occasioni reali di consumo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54016D-6586-4125-8987-F4C4AC0A4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4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defPPr>
            <a:lvl1pPr>
              <a:defRPr sz="24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29483E"/>
                </a:solidFill>
              </a:defRPr>
            </a:pPr>
            <a:r>
              <a:rPr sz="2400" b="0">
                <a:solidFill>
                  <a:srgbClr val="29483E"/>
                </a:solidFill>
                <a:latin typeface="Arial"/>
                <a:ea typeface="Arial"/>
                <a:cs typeface="Arial"/>
              </a:rPr>
              <a:t>Per ogni episodio: che cosa era disponibile, che cosa P02 aveva previsto e che cosa ha preparato o acquistato.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7944B6-24C9-4D59-843B-2DF5DCFF7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10382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250" b="0">
                <a:solidFill>
                  <a:srgbClr val="8B5D14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8B5D14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8B5D14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8B5D14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8B5D14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8B5D14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8B5D14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8B5D14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8B5D14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8B5D1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8B5D14"/>
                </a:solidFill>
              </a:defRPr>
            </a:pPr>
            <a:r>
              <a:rPr sz="2250" b="0">
                <a:solidFill>
                  <a:srgbClr val="8B5D14"/>
                </a:solidFill>
                <a:latin typeface="Arial"/>
                <a:ea typeface="Arial"/>
                <a:cs typeface="Arial"/>
              </a:rPr>
              <a:t>Conservare anche le strategie che funzionano e gli episodi che contraddicono le ipotesi iniziali.</a:t>
            </a:r>
          </a:p>
        </p:txBody>
      </p:sp>
    </p:spTree>
    <p:extLst>
      <p:ext uri="{BB962C8B-B14F-4D97-AF65-F5344CB8AC3E}">
        <p14:creationId xmlns:p14="http://schemas.microsoft.com/office/powerpoint/2010/main" val="38716622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AD8FF2-D92C-46F7-BAB0-E226F01F5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83D32"/>
                </a:solidFill>
              </a:defRPr>
            </a:pPr>
            <a:r>
              <a:rPr sz="3300" b="1">
                <a:solidFill>
                  <a:srgbClr val="183D32"/>
                </a:solidFill>
                <a:latin typeface="Arial"/>
                <a:ea typeface="Arial"/>
                <a:cs typeface="Arial"/>
              </a:rPr>
              <a:t>Integrazione con l’analisi C1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ECFFC4-AE5F-4075-9EAE-0701DA9F4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86B62"/>
                </a:solidFill>
              </a:defRPr>
            </a:pPr>
            <a:r>
              <a:rPr sz="18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Schema di analisi predisposto. Gli esiti del diario sono ancora da ricavare.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4E74FC-CF0B-4D47-BD6D-104D83083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CIBY · Bozza di lavoro · 26 ottobre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21D645-C5F2-4F7E-A4B4-1B544633C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29375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DC45EE-23A5-4F84-AC85-16A2FE359A27}"/>
              </a:ext>
            </a:extLst>
          </p:cNvPr>
          <p:cNvGraphicFramePr/>
          <p:nvPr/>
        </p:nvGraphicFramePr>
        <p:xfrm>
          <a:off xmlns:a="http://schemas.openxmlformats.org/drawingml/2006/main" x="685800" y="2076450"/>
          <a:ext xmlns:a="http://schemas.openxmlformats.org/drawingml/2006/main" cx="10820400" cy="3524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76500"/>
                <a:gridCol w="5953125"/>
                <a:gridCol w="2390775"/>
              </a:tblGrid>
              <a:tr h="881063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</a:rPr>
                        <a:t>Tema C1</a:t>
                      </a:r>
                    </a:p>
                  </a:txBody>
                  <a:tcPr marL="133350" marR="133350" marT="114300" marB="114300" anchor="t">
                    <a:lnL w="9525">
                      <a:solidFill>
                        <a:srgbClr val="D7DFD6"/>
                      </a:solidFill>
                      <a:prstDash val="solid"/>
                    </a:lnL>
                    <a:lnR w="9525">
                      <a:solidFill>
                        <a:srgbClr val="D7DFD6"/>
                      </a:solidFill>
                      <a:prstDash val="solid"/>
                    </a:lnR>
                    <a:lnT w="9525">
                      <a:solidFill>
                        <a:srgbClr val="D7DFD6"/>
                      </a:solidFill>
                      <a:prstDash val="solid"/>
                    </a:lnT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183D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</a:rPr>
                        <a:t>Che cosa cercare nel diario</a:t>
                      </a:r>
                    </a:p>
                  </a:txBody>
                  <a:tcPr marL="133350" marR="133350" marT="114300" marB="114300" anchor="t">
                    <a:lnR w="9525">
                      <a:solidFill>
                        <a:srgbClr val="D7DFD6"/>
                      </a:solidFill>
                      <a:prstDash val="solid"/>
                    </a:lnR>
                    <a:lnT w="9525">
                      <a:solidFill>
                        <a:srgbClr val="D7DFD6"/>
                      </a:solidFill>
                      <a:prstDash val="solid"/>
                    </a:lnT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183D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</a:rPr>
                        <a:t>Esito</a:t>
                      </a:r>
                    </a:p>
                  </a:txBody>
                  <a:tcPr marL="133350" marR="133350" marT="114300" marB="114300" anchor="t">
                    <a:lnR w="9525">
                      <a:solidFill>
                        <a:srgbClr val="D7DFD6"/>
                      </a:solidFill>
                      <a:prstDash val="solid"/>
                    </a:lnR>
                    <a:lnT w="9525">
                      <a:solidFill>
                        <a:srgbClr val="D7DFD6"/>
                      </a:solidFill>
                      <a:prstDash val="solid"/>
                    </a:lnT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183D32"/>
                    </a:solidFill>
                  </a:tcPr>
                </a:tc>
              </a:tr>
              <a:tr h="881063"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29483E"/>
                          </a:solidFill>
                        </a:rPr>
                        <a:t>Alimenti disponibili</a:t>
                      </a:r>
                    </a:p>
                  </a:txBody>
                  <a:tcPr marL="133350" marR="133350" marT="114300" marB="114300" anchor="t">
                    <a:lnL w="9525">
                      <a:solidFill>
                        <a:srgbClr val="D7DFD6"/>
                      </a:solidFill>
                      <a:prstDash val="solid"/>
                    </a:lnL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29483E"/>
                          </a:solidFill>
                        </a:rPr>
                        <a:t>Prodotti riconosciuti, trascurati o usati prima</a:t>
                      </a:r>
                    </a:p>
                  </a:txBody>
                  <a:tcPr marL="133350" marR="133350" marT="114300" marB="114300" anchor="t"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29483E"/>
                          </a:solidFill>
                        </a:rPr>
                        <a:t>Da analizzare</a:t>
                      </a:r>
                    </a:p>
                  </a:txBody>
                  <a:tcPr marL="133350" marR="133350" marT="114300" marB="114300" anchor="t"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FAF8F2"/>
                    </a:solidFill>
                  </a:tcPr>
                </a:tc>
              </a:tr>
              <a:tr h="881063"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29483E"/>
                          </a:solidFill>
                        </a:rPr>
                        <a:t>Pasto praticabile</a:t>
                      </a:r>
                    </a:p>
                  </a:txBody>
                  <a:tcPr marL="133350" marR="133350" marT="114300" marB="114300" anchor="t">
                    <a:lnL w="9525">
                      <a:solidFill>
                        <a:srgbClr val="D7DFD6"/>
                      </a:solidFill>
                      <a:prstDash val="solid"/>
                    </a:lnL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29483E"/>
                          </a:solidFill>
                        </a:rPr>
                        <a:t>Tempo, impegno e preparazioni già familiari</a:t>
                      </a:r>
                    </a:p>
                  </a:txBody>
                  <a:tcPr marL="133350" marR="133350" marT="114300" marB="114300" anchor="t"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29483E"/>
                          </a:solidFill>
                        </a:rPr>
                        <a:t>Da analizzare</a:t>
                      </a:r>
                    </a:p>
                  </a:txBody>
                  <a:tcPr marL="133350" marR="133350" marT="114300" marB="114300" anchor="t"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FAF8F2"/>
                    </a:solidFill>
                  </a:tcPr>
                </a:tc>
              </a:tr>
              <a:tr h="881063"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29483E"/>
                          </a:solidFill>
                        </a:rPr>
                        <a:t>Cambiamenti e quantità</a:t>
                      </a:r>
                    </a:p>
                  </a:txBody>
                  <a:tcPr marL="133350" marR="133350" marT="114300" marB="114300" anchor="t">
                    <a:lnL w="9525">
                      <a:solidFill>
                        <a:srgbClr val="D7DFD6"/>
                      </a:solidFill>
                      <a:prstDash val="solid"/>
                    </a:lnL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29483E"/>
                          </a:solidFill>
                        </a:rPr>
                        <a:t>Rinvii, destinazioni successive, acquisti e consumo</a:t>
                      </a:r>
                    </a:p>
                  </a:txBody>
                  <a:tcPr marL="133350" marR="133350" marT="114300" marB="114300" anchor="t"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29483E"/>
                          </a:solidFill>
                        </a:rPr>
                        <a:t>Da analizzare</a:t>
                      </a:r>
                    </a:p>
                  </a:txBody>
                  <a:tcPr marL="133350" marR="133350" marT="114300" marB="114300" anchor="t"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FAF8F2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E7378C-D873-415D-8C78-35A475A43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9775"/>
            <a:ext cx="10820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75" b="1">
                <a:solidFill>
                  <a:srgbClr val="8B5D14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8B5D14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8B5D14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8B5D14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8B5D14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8B5D14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8B5D14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8B5D14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8B5D14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8B5D1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8B5D14"/>
                </a:solidFill>
              </a:defRPr>
            </a:pPr>
            <a:r>
              <a:rPr sz="1875" b="1">
                <a:solidFill>
                  <a:srgbClr val="8B5D14"/>
                </a:solidFill>
                <a:latin typeface="Arial"/>
                <a:ea typeface="Arial"/>
                <a:cs typeface="Arial"/>
              </a:rPr>
              <a:t>Aggiornare bisogni e priorità in base ai riscontri, senza presupporre che confermino D3.</a:t>
            </a:r>
          </a:p>
        </p:txBody>
      </p:sp>
    </p:spTree>
    <p:extLst>
      <p:ext uri="{BB962C8B-B14F-4D97-AF65-F5344CB8AC3E}">
        <p14:creationId xmlns:p14="http://schemas.microsoft.com/office/powerpoint/2010/main" val="604863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F42D2E-FD41-4C42-BD32-2C3AB18F4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83D32"/>
                </a:solidFill>
              </a:defRPr>
            </a:pPr>
            <a:r>
              <a:rPr sz="3300" b="1">
                <a:solidFill>
                  <a:srgbClr val="183D32"/>
                </a:solidFill>
                <a:latin typeface="Arial"/>
                <a:ea typeface="Arial"/>
                <a:cs typeface="Arial"/>
              </a:rPr>
              <a:t>Il confronto sugli otto bisogni candidati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518850-9242-4817-ACF7-F1FE0EC4E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86B62"/>
                </a:solidFill>
              </a:defRPr>
            </a:pPr>
            <a:r>
              <a:rPr sz="18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La board conserva candidati, raggruppamenti e commenti effettivi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9BBF92-5BCC-4DEA-BCA8-E4E940A65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CIBY · Bozza di lavoro · 26 ottobre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D1CF22-667D-4A0C-973F-2C79A2BB3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29375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D39F7C-E0CC-41EA-AD91-25CA5329B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5905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9483E"/>
                </a:solidFill>
              </a:defRPr>
            </a:pPr>
            <a:r>
              <a:rPr sz="2175" b="0">
                <a:solidFill>
                  <a:srgbClr val="29483E"/>
                </a:solidFill>
                <a:latin typeface="Arial"/>
                <a:ea typeface="Arial"/>
                <a:cs typeface="Arial"/>
              </a:rPr>
              <a:t>B01  Riconoscere disponibilità e priorità</a:t>
            </a:r>
          </a:p>
          <a:p xmlns:a="http://schemas.openxmlformats.org/drawingml/2006/main">
            <a:pPr>
              <a:defRPr sz="2175" b="0">
                <a:solidFill>
                  <a:srgbClr val="29483E"/>
                </a:solidFill>
              </a:defRPr>
            </a:pPr>
            <a:r>
              <a:rPr sz="2175" b="0">
                <a:solidFill>
                  <a:srgbClr val="29483E"/>
                </a:solidFill>
                <a:latin typeface="Arial"/>
                <a:ea typeface="Arial"/>
                <a:cs typeface="Arial"/>
              </a:rPr>
              <a:t>B02  Scegliere un pasto praticabile</a:t>
            </a:r>
          </a:p>
          <a:p xmlns:a="http://schemas.openxmlformats.org/drawingml/2006/main">
            <a:pPr>
              <a:defRPr sz="2175" b="0">
                <a:solidFill>
                  <a:srgbClr val="29483E"/>
                </a:solidFill>
              </a:defRPr>
            </a:pPr>
            <a:r>
              <a:rPr sz="2175" b="0">
                <a:solidFill>
                  <a:srgbClr val="29483E"/>
                </a:solidFill>
                <a:latin typeface="Arial"/>
                <a:ea typeface="Arial"/>
                <a:cs typeface="Arial"/>
              </a:rPr>
              <a:t>B03  Riorganizzare dopo un cambiamento</a:t>
            </a:r>
          </a:p>
          <a:p xmlns:a="http://schemas.openxmlformats.org/drawingml/2006/main">
            <a:pPr>
              <a:defRPr sz="2175" b="0">
                <a:solidFill>
                  <a:srgbClr val="29483E"/>
                </a:solidFill>
              </a:defRPr>
            </a:pPr>
            <a:r>
              <a:rPr sz="2175" b="0">
                <a:solidFill>
                  <a:srgbClr val="29483E"/>
                </a:solidFill>
                <a:latin typeface="Arial"/>
                <a:ea typeface="Arial"/>
                <a:cs typeface="Arial"/>
              </a:rPr>
              <a:t>B04  Valutare quantità e occasioni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42B7E4-DB48-4FE4-ADF8-521426AFE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2209800"/>
            <a:ext cx="46672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025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586B62"/>
                </a:solidFill>
              </a:defRPr>
            </a:pPr>
            <a:r>
              <a:rPr sz="2025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C05  Valutare e adattare una ricetta</a:t>
            </a:r>
          </a:p>
          <a:p xmlns:a="http://schemas.openxmlformats.org/drawingml/2006/main">
            <a:pPr>
              <a:defRPr sz="2025" b="0">
                <a:solidFill>
                  <a:srgbClr val="586B62"/>
                </a:solidFill>
              </a:defRPr>
            </a:pPr>
            <a:r>
              <a:rPr sz="2025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C06  Supporto con sforzo sostenibile</a:t>
            </a:r>
          </a:p>
          <a:p xmlns:a="http://schemas.openxmlformats.org/drawingml/2006/main">
            <a:pPr>
              <a:defRPr sz="2025" b="0">
                <a:solidFill>
                  <a:srgbClr val="586B62"/>
                </a:solidFill>
              </a:defRPr>
            </a:pPr>
            <a:r>
              <a:rPr sz="2025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C07  Organizzare il pasto fuori casa</a:t>
            </a:r>
          </a:p>
          <a:p xmlns:a="http://schemas.openxmlformats.org/drawingml/2006/main">
            <a:pPr>
              <a:defRPr sz="2025" b="0">
                <a:solidFill>
                  <a:srgbClr val="586B62"/>
                </a:solidFill>
              </a:defRPr>
            </a:pPr>
            <a:r>
              <a:rPr sz="2025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C08  Coordinare menu nella coppia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FEC109-38D1-48F8-99D9-EBB179D78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00625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0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9483E"/>
                </a:solidFill>
              </a:defRPr>
            </a:pPr>
            <a:r>
              <a:rPr sz="2025" b="0">
                <a:solidFill>
                  <a:srgbClr val="29483E"/>
                </a:solidFill>
                <a:latin typeface="Arial"/>
                <a:ea typeface="Arial"/>
                <a:cs typeface="Arial"/>
              </a:rPr>
              <a:t>C05 confluisce in B02. C06 resta un vincolo. C07 è un contesto di B02/B03. C08 resta rinviato.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C84031-38A9-45C9-8BAC-E93AB6425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5787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00" b="1">
                <a:solidFill>
                  <a:srgbClr val="8B5D14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8B5D14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8B5D14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8B5D14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8B5D14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8B5D14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8B5D14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8B5D14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8B5D14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8B5D1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8B5D14"/>
                </a:solidFill>
              </a:defRPr>
            </a:pPr>
            <a:r>
              <a:rPr sz="1800" b="1">
                <a:solidFill>
                  <a:srgbClr val="8B5D14"/>
                </a:solidFill>
                <a:latin typeface="Arial"/>
                <a:ea typeface="Arial"/>
                <a:cs typeface="Arial"/>
              </a:rPr>
              <a:t>Immagine del brainstorming da inserire dopo il completamento del confronto.</a:t>
            </a:r>
          </a:p>
        </p:txBody>
      </p:sp>
    </p:spTree>
    <p:extLst>
      <p:ext uri="{BB962C8B-B14F-4D97-AF65-F5344CB8AC3E}">
        <p14:creationId xmlns:p14="http://schemas.microsoft.com/office/powerpoint/2010/main" val="158770267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CEC08C-3783-4343-B7F6-C0763BBA5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83D32"/>
                </a:solidFill>
              </a:defRPr>
            </a:pPr>
            <a:r>
              <a:rPr sz="3300" b="1">
                <a:solidFill>
                  <a:srgbClr val="183D32"/>
                </a:solidFill>
                <a:latin typeface="Arial"/>
                <a:ea typeface="Arial"/>
                <a:cs typeface="Arial"/>
              </a:rPr>
              <a:t>Riconoscere gli alimenti e scegliere il pasto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E51B03-D5E9-4342-867E-AE2DDC76C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86B62"/>
                </a:solidFill>
              </a:defRPr>
            </a:pPr>
            <a:r>
              <a:rPr sz="18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B01 e B02 sono attività distinte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4328DF-4496-45EA-8720-0C8E97B82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CIBY · Bozza di lavoro · 26 ottobre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43B33F-68C5-4B38-84AA-475BF5085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29375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0D1252-1FA0-4F71-A0BA-DA67396B6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A44628"/>
                </a:solidFill>
              </a:defRPr>
            </a:pPr>
            <a:r>
              <a:rPr sz="2100" b="1">
                <a:solidFill>
                  <a:srgbClr val="A44628"/>
                </a:solidFill>
                <a:latin typeface="Arial"/>
                <a:ea typeface="Arial"/>
                <a:cs typeface="Arial"/>
              </a:rPr>
              <a:t>B01 · Disponibilità e priorità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8D4EA0-0F74-41AC-BE8C-80760BFC1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5048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4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defPPr>
            <a:lvl1pPr>
              <a:defRPr sz="24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29483E"/>
                </a:solidFill>
              </a:defRPr>
            </a:pPr>
            <a:r>
              <a:rPr sz="2400" b="0">
                <a:solidFill>
                  <a:srgbClr val="29483E"/>
                </a:solidFill>
                <a:latin typeface="Arial"/>
                <a:ea typeface="Arial"/>
                <a:cs typeface="Arial"/>
              </a:rPr>
              <a:t>Riconoscere gli alimenti presenti e stabilire quali utilizzare prima.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D17A12-2107-4BBA-A7FF-C792ECA9B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5048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9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29483E"/>
                </a:solidFill>
              </a:defRPr>
            </a:pPr>
            <a:r>
              <a:rPr sz="1950" b="0">
                <a:solidFill>
                  <a:srgbClr val="29483E"/>
                </a:solidFill>
                <a:latin typeface="Arial"/>
                <a:ea typeface="Arial"/>
                <a:cs typeface="Arial"/>
              </a:rPr>
              <a:t>P01-E05: yogurt non visto, riacquistato e poi eliminato.</a:t>
            </a:r>
          </a:p>
          <a:p xmlns:a="http://schemas.openxmlformats.org/drawingml/2006/main">
            <a:pPr>
              <a:defRPr sz="1950" b="0">
                <a:solidFill>
                  <a:srgbClr val="29483E"/>
                </a:solidFill>
              </a:defRPr>
            </a:pPr>
            <a:r>
              <a:rPr sz="1950" b="0">
                <a:solidFill>
                  <a:srgbClr val="29483E"/>
                </a:solidFill>
                <a:latin typeface="Arial"/>
                <a:ea typeface="Arial"/>
                <a:cs typeface="Arial"/>
              </a:rPr>
              <a:t>P05-E03/E04/E11: prodotti trascurati e strategia di portare davanti quelli più vecchi.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5410A9-BCD3-44EF-BD6B-4450A26F9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152650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A44628"/>
                </a:solidFill>
              </a:defRPr>
            </a:pPr>
            <a:r>
              <a:rPr sz="2100" b="1">
                <a:solidFill>
                  <a:srgbClr val="A44628"/>
                </a:solidFill>
                <a:latin typeface="Arial"/>
                <a:ea typeface="Arial"/>
                <a:cs typeface="Arial"/>
              </a:rPr>
              <a:t>B02 · Pasto praticabile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0838AB-9B2B-47CB-AB10-2902D8FA0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647950"/>
            <a:ext cx="5048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4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defPPr>
            <a:lvl1pPr>
              <a:defRPr sz="24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29483E"/>
                </a:solidFill>
              </a:defRPr>
            </a:pPr>
            <a:r>
              <a:rPr sz="2400" b="0">
                <a:solidFill>
                  <a:srgbClr val="29483E"/>
                </a:solidFill>
                <a:latin typeface="Arial"/>
                <a:ea typeface="Arial"/>
                <a:cs typeface="Arial"/>
              </a:rPr>
              <a:t>Scegliere una preparazione compatibile con ingredienti, tempo, impegno e preferenze.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350292-84DE-4279-A0FE-5B32C7EF7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000500"/>
            <a:ext cx="5048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9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29483E"/>
                </a:solidFill>
              </a:defRPr>
            </a:pPr>
            <a:r>
              <a:rPr sz="1950" b="0">
                <a:solidFill>
                  <a:srgbClr val="29483E"/>
                </a:solidFill>
                <a:latin typeface="Arial"/>
                <a:ea typeface="Arial"/>
                <a:cs typeface="Arial"/>
              </a:rPr>
              <a:t>P02-E03/E10/E12: valuta lo sforzo e si affida a ricette conosciute.</a:t>
            </a:r>
          </a:p>
          <a:p xmlns:a="http://schemas.openxmlformats.org/drawingml/2006/main">
            <a:pPr>
              <a:defRPr sz="1950" b="0">
                <a:solidFill>
                  <a:srgbClr val="29483E"/>
                </a:solidFill>
              </a:defRPr>
            </a:pPr>
            <a:r>
              <a:rPr sz="1950" b="0">
                <a:solidFill>
                  <a:srgbClr val="29483E"/>
                </a:solidFill>
                <a:latin typeface="Arial"/>
                <a:ea typeface="Arial"/>
                <a:cs typeface="Arial"/>
              </a:rPr>
              <a:t>P03-E12/E13: desiderio di varietà e preparazioni semplici.</a:t>
            </a:r>
          </a:p>
        </p:txBody>
      </p:sp>
    </p:spTree>
    <p:extLst>
      <p:ext uri="{BB962C8B-B14F-4D97-AF65-F5344CB8AC3E}">
        <p14:creationId xmlns:p14="http://schemas.microsoft.com/office/powerpoint/2010/main" val="185797103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81B498-6E73-46FE-97AB-F1B6DBB8C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83D32"/>
                </a:solidFill>
              </a:defRPr>
            </a:pPr>
            <a:r>
              <a:rPr sz="3300" b="1">
                <a:solidFill>
                  <a:srgbClr val="183D32"/>
                </a:solidFill>
                <a:latin typeface="Arial"/>
                <a:ea typeface="Arial"/>
                <a:cs typeface="Arial"/>
              </a:rPr>
              <a:t>Adattare i pasti e valutare le quantità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6B1414-2D77-45BE-BE1F-6FD690476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86B62"/>
                </a:solidFill>
              </a:defRPr>
            </a:pPr>
            <a:r>
              <a:rPr sz="18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B03 e B04 collegano ingredienti e occasioni di consumo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B01935-2E09-4F01-A834-0CC7AA031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CIBY · Bozza di lavoro · 26 ottobre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34B25D-6CC9-475E-91CC-53D2ABAED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29375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D04D7C-DB06-4152-BD2D-C619D8E02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A44628"/>
                </a:solidFill>
              </a:defRPr>
            </a:pPr>
            <a:r>
              <a:rPr sz="2100" b="1">
                <a:solidFill>
                  <a:srgbClr val="A44628"/>
                </a:solidFill>
                <a:latin typeface="Arial"/>
                <a:ea typeface="Arial"/>
                <a:cs typeface="Arial"/>
              </a:rPr>
              <a:t>B03 · Dopo un cambiamento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D1AE89-A36C-47B9-B501-6CB7225A6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9850"/>
            <a:ext cx="50482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29483E"/>
                </a:solidFill>
              </a:defRPr>
            </a:pPr>
            <a:r>
              <a:rPr sz="2325" b="0">
                <a:solidFill>
                  <a:srgbClr val="29483E"/>
                </a:solidFill>
                <a:latin typeface="Arial"/>
                <a:ea typeface="Arial"/>
                <a:cs typeface="Arial"/>
              </a:rPr>
              <a:t>Riorganizzare l’utilizzo degli ingredienti quando cambia una preparazione o un pasto.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577358-D298-4064-9F06-526222708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50482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29483E"/>
                </a:solidFill>
              </a:defRPr>
            </a:pPr>
            <a:r>
              <a:rPr sz="1875" b="0">
                <a:solidFill>
                  <a:srgbClr val="29483E"/>
                </a:solidFill>
                <a:latin typeface="Arial"/>
                <a:ea typeface="Arial"/>
                <a:cs typeface="Arial"/>
              </a:rPr>
              <a:t>P02-E07/E08: confezioni avanzate e programmi cambiati.</a:t>
            </a:r>
          </a:p>
          <a:p xmlns:a="http://schemas.openxmlformats.org/drawingml/2006/main">
            <a:pPr>
              <a:defRPr sz="1875" b="0">
                <a:solidFill>
                  <a:srgbClr val="29483E"/>
                </a:solidFill>
              </a:defRPr>
            </a:pPr>
            <a:r>
              <a:rPr sz="1875" b="0">
                <a:solidFill>
                  <a:srgbClr val="29483E"/>
                </a:solidFill>
                <a:latin typeface="Arial"/>
                <a:ea typeface="Arial"/>
                <a:cs typeface="Arial"/>
              </a:rPr>
              <a:t>P03-E04: rinvio del pollo riuscito. P03-E08: panna inutilizzata per un ingrediente mancante, senza eliminazione accertata.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7BF678-4829-4974-A4CC-81F80B7EE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114550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A44628"/>
                </a:solidFill>
              </a:defRPr>
            </a:pPr>
            <a:r>
              <a:rPr sz="2100" b="1">
                <a:solidFill>
                  <a:srgbClr val="A44628"/>
                </a:solidFill>
                <a:latin typeface="Arial"/>
                <a:ea typeface="Arial"/>
                <a:cs typeface="Arial"/>
              </a:rPr>
              <a:t>B04 · Prima dell’acquisto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5CC2D0-77EC-4379-8EC5-0A31AC791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609850"/>
            <a:ext cx="50482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29483E"/>
                </a:solidFill>
              </a:defRPr>
            </a:pPr>
            <a:r>
              <a:rPr sz="2325" b="0">
                <a:solidFill>
                  <a:srgbClr val="29483E"/>
                </a:solidFill>
                <a:latin typeface="Arial"/>
                <a:ea typeface="Arial"/>
                <a:cs typeface="Arial"/>
              </a:rPr>
              <a:t>Valutare quantità compatibili con ciò che si possiede e con occasioni realistiche di consumo.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D053FA-9AF8-44A2-8512-322B5142E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857625"/>
            <a:ext cx="5048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9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29483E"/>
                </a:solidFill>
              </a:defRPr>
            </a:pPr>
            <a:r>
              <a:rPr sz="1950" b="0">
                <a:solidFill>
                  <a:srgbClr val="29483E"/>
                </a:solidFill>
                <a:latin typeface="Arial"/>
                <a:ea typeface="Arial"/>
                <a:cs typeface="Arial"/>
              </a:rPr>
              <a:t>P02-E06/E07: quantità minime e confezioni grandi.</a:t>
            </a:r>
          </a:p>
          <a:p xmlns:a="http://schemas.openxmlformats.org/drawingml/2006/main">
            <a:pPr>
              <a:defRPr sz="1950" b="0">
                <a:solidFill>
                  <a:srgbClr val="29483E"/>
                </a:solidFill>
              </a:defRPr>
            </a:pPr>
            <a:r>
              <a:rPr sz="1950" b="0">
                <a:solidFill>
                  <a:srgbClr val="29483E"/>
                </a:solidFill>
                <a:latin typeface="Arial"/>
                <a:ea typeface="Arial"/>
                <a:cs typeface="Arial"/>
              </a:rPr>
              <a:t>P03-E05/E07: tempi di consumo dei freschi e confezioni che superano l’uso previsto.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70467A-F644-4A0C-BD67-AA50F7C14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38825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75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A44628"/>
                </a:solidFill>
              </a:defRPr>
            </a:pPr>
            <a:r>
              <a:rPr sz="1875" b="1">
                <a:solidFill>
                  <a:srgbClr val="A44628"/>
                </a:solidFill>
                <a:latin typeface="Arial"/>
                <a:ea typeface="Arial"/>
                <a:cs typeface="Arial"/>
              </a:rPr>
              <a:t>Focus votato dal gruppo, riferito da Andrea: gestione flessibile dei pasti.</a:t>
            </a:r>
          </a:p>
        </p:txBody>
      </p:sp>
    </p:spTree>
    <p:extLst>
      <p:ext uri="{BB962C8B-B14F-4D97-AF65-F5344CB8AC3E}">
        <p14:creationId xmlns:p14="http://schemas.microsoft.com/office/powerpoint/2010/main" val="200506228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08BD2D-C131-47FE-9438-E2CD18B34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83D32"/>
                </a:solidFill>
              </a:defRPr>
            </a:pPr>
            <a:r>
              <a:rPr sz="3300" b="1">
                <a:solidFill>
                  <a:srgbClr val="183D32"/>
                </a:solidFill>
                <a:latin typeface="Arial"/>
                <a:ea typeface="Arial"/>
                <a:cs typeface="Arial"/>
              </a:rPr>
              <a:t>Tre personas con obiettivi distinti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410187-4120-4ED3-9432-F5EA3E814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86B62"/>
                </a:solidFill>
              </a:defRPr>
            </a:pPr>
            <a:r>
              <a:rPr sz="18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Archetipi progettuali fondati sui temi C1, con nomi e dettagli narrativi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2A3B42-CDC9-4C26-B7EF-6B77D3135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CIBY · Bozza di lavoro · 26 ottobre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117A0F-85C6-4749-927E-8554D27DF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29375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DD5A6D-B861-4D0F-AB59-FF0DED143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62175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A44628"/>
                </a:solidFill>
              </a:defRPr>
            </a:pPr>
            <a:r>
              <a:rPr sz="2100" b="1">
                <a:solidFill>
                  <a:srgbClr val="A44628"/>
                </a:solidFill>
                <a:latin typeface="Arial"/>
                <a:ea typeface="Arial"/>
                <a:cs typeface="Arial"/>
              </a:rPr>
              <a:t>Luca · Primaria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4F5CD5-8D94-4D06-8986-E1341C83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57475"/>
            <a:ext cx="33337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9483E"/>
                </a:solidFill>
              </a:defRPr>
            </a:pPr>
            <a:r>
              <a:rPr sz="2175" b="0">
                <a:solidFill>
                  <a:srgbClr val="29483E"/>
                </a:solidFill>
                <a:latin typeface="Arial"/>
                <a:ea typeface="Arial"/>
                <a:cs typeface="Arial"/>
              </a:rPr>
              <a:t>21 anni, studente.</a:t>
            </a:r>
          </a:p>
          <a:p xmlns:a="http://schemas.openxmlformats.org/drawingml/2006/main">
            <a:pPr>
              <a:defRPr sz="2175" b="0">
                <a:solidFill>
                  <a:srgbClr val="29483E"/>
                </a:solidFill>
              </a:defRPr>
            </a:pPr>
            <a:r>
              <a:rPr sz="2175" b="0">
                <a:solidFill>
                  <a:srgbClr val="29483E"/>
                </a:solidFill>
                <a:latin typeface="Arial"/>
                <a:ea typeface="Arial"/>
                <a:cs typeface="Arial"/>
              </a:rPr>
              <a:t>Riorganizza ingredienti e pasti e valuta le quantità prima dell’acquisto.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600071-6AE2-4F01-9EAC-4124230CB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2162175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A44628"/>
                </a:solidFill>
              </a:defRPr>
            </a:pPr>
            <a:r>
              <a:rPr sz="2100" b="1">
                <a:solidFill>
                  <a:srgbClr val="A44628"/>
                </a:solidFill>
                <a:latin typeface="Arial"/>
                <a:ea typeface="Arial"/>
                <a:cs typeface="Arial"/>
              </a:rPr>
              <a:t>Gianfranco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3823C7-FCB7-4C1B-8D5A-4C86430B7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2657475"/>
            <a:ext cx="33337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9483E"/>
                </a:solidFill>
              </a:defRPr>
            </a:pPr>
            <a:r>
              <a:rPr sz="2175" b="0">
                <a:solidFill>
                  <a:srgbClr val="29483E"/>
                </a:solidFill>
                <a:latin typeface="Arial"/>
                <a:ea typeface="Arial"/>
                <a:cs typeface="Arial"/>
              </a:rPr>
              <a:t>21 anni, studente fuori sede.</a:t>
            </a:r>
          </a:p>
          <a:p xmlns:a="http://schemas.openxmlformats.org/drawingml/2006/main">
            <a:pPr>
              <a:defRPr sz="2175" b="0">
                <a:solidFill>
                  <a:srgbClr val="29483E"/>
                </a:solidFill>
              </a:defRPr>
            </a:pPr>
            <a:r>
              <a:rPr sz="2175" b="0">
                <a:solidFill>
                  <a:srgbClr val="29483E"/>
                </a:solidFill>
                <a:latin typeface="Arial"/>
                <a:ea typeface="Arial"/>
                <a:cs typeface="Arial"/>
              </a:rPr>
              <a:t>Sceglie una cena praticabile tra preparazioni familiari e desiderio di variare.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828F74-CCAF-4FAE-9521-49CDEEF7B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62175"/>
            <a:ext cx="3219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A44628"/>
                </a:solidFill>
              </a:defRPr>
            </a:pPr>
            <a:r>
              <a:rPr sz="2100" b="1">
                <a:solidFill>
                  <a:srgbClr val="A44628"/>
                </a:solidFill>
                <a:latin typeface="Arial"/>
                <a:ea typeface="Arial"/>
                <a:cs typeface="Arial"/>
              </a:rPr>
              <a:t>Marta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381681-686E-4429-970A-3ABA08587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657475"/>
            <a:ext cx="32194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9483E"/>
                </a:solidFill>
              </a:defRPr>
            </a:pPr>
            <a:r>
              <a:rPr sz="2175" b="0">
                <a:solidFill>
                  <a:srgbClr val="29483E"/>
                </a:solidFill>
                <a:latin typeface="Arial"/>
                <a:ea typeface="Arial"/>
                <a:cs typeface="Arial"/>
              </a:rPr>
              <a:t>26 anni, studia e lavora.</a:t>
            </a:r>
          </a:p>
          <a:p xmlns:a="http://schemas.openxmlformats.org/drawingml/2006/main">
            <a:pPr>
              <a:defRPr sz="2175" b="0">
                <a:solidFill>
                  <a:srgbClr val="29483E"/>
                </a:solidFill>
              </a:defRPr>
            </a:pPr>
            <a:r>
              <a:rPr sz="2175" b="0">
                <a:solidFill>
                  <a:srgbClr val="29483E"/>
                </a:solidFill>
                <a:latin typeface="Arial"/>
                <a:ea typeface="Arial"/>
                <a:cs typeface="Arial"/>
              </a:rPr>
              <a:t>Coordina cena per due e pranzo del giorno dopo, includendo alimenti fuori routine.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BFED00-B76C-402D-AB07-E1C364544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67325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586B62"/>
                </a:solidFill>
              </a:defRPr>
            </a:pPr>
            <a:r>
              <a:rPr sz="21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Luca collega B03 e B04. La sua priorità è una scelta progettuale di lavoro da riesaminare insieme al confronto sui bisogni.</a:t>
            </a:r>
          </a:p>
        </p:txBody>
      </p:sp>
    </p:spTree>
    <p:extLst>
      <p:ext uri="{BB962C8B-B14F-4D97-AF65-F5344CB8AC3E}">
        <p14:creationId xmlns:p14="http://schemas.microsoft.com/office/powerpoint/2010/main" val="115859935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6606EC-B8A8-4EF6-9E5C-93AA6242E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83D32"/>
                </a:solidFill>
              </a:defRPr>
            </a:pPr>
            <a:r>
              <a:rPr sz="3300" b="1">
                <a:solidFill>
                  <a:srgbClr val="183D32"/>
                </a:solidFill>
                <a:latin typeface="Arial"/>
                <a:ea typeface="Arial"/>
                <a:cs typeface="Arial"/>
              </a:rPr>
              <a:t>M · Cena e pranzo del giorno dopo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5ECFCC-D4C2-4BD0-A7D9-6A6BDF708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86B62"/>
                </a:solidFill>
              </a:defRPr>
            </a:pPr>
            <a:r>
              <a:rPr sz="18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Marta · B01 · Scenario concettuale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17BFAC-2409-4A9C-A7D9-013DE9BDF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CIBY · Bozza di lavoro · 26 ottobre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9A4B7F-BB47-478F-9EDB-919CF86FC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29375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949E57-20B7-4ACD-97BC-8861C5AB5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108204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29483E"/>
                </a:solidFill>
              </a:defRPr>
            </a:pPr>
            <a:r>
              <a:rPr sz="2325" b="0">
                <a:solidFill>
                  <a:srgbClr val="29483E"/>
                </a:solidFill>
                <a:latin typeface="Arial"/>
                <a:ea typeface="Arial"/>
                <a:cs typeface="Arial"/>
              </a:rPr>
              <a:t>Marta deve preparare la cena per due e il proprio pranzo da portare al lavoro. Nota un prodotto fresco fuori dalle abitudini che rischiava di restare escluso dalla scelta.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91B7FE-005A-4F87-8BF1-661715316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7192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A44628"/>
                </a:solidFill>
              </a:defRPr>
            </a:pPr>
            <a:r>
              <a:rPr sz="2100" b="1">
                <a:solidFill>
                  <a:srgbClr val="A44628"/>
                </a:solidFill>
                <a:latin typeface="Arial"/>
                <a:ea typeface="Arial"/>
                <a:cs typeface="Arial"/>
              </a:rPr>
              <a:t>Decisione da sostenere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0320F8-8975-4127-9761-3308AAD7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67225"/>
            <a:ext cx="509587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29483E"/>
                </a:solidFill>
              </a:defRPr>
            </a:pPr>
            <a:r>
              <a:rPr sz="2100" b="0">
                <a:solidFill>
                  <a:srgbClr val="29483E"/>
                </a:solidFill>
                <a:latin typeface="Arial"/>
                <a:ea typeface="Arial"/>
                <a:cs typeface="Arial"/>
              </a:rPr>
              <a:t>Valutare la priorità dell’alimento e decidere in quale preparazione inserirlo.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F858AE-69BC-4320-8829-51F9F45B4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971925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A44628"/>
                </a:solidFill>
              </a:defRPr>
            </a:pPr>
            <a:r>
              <a:rPr sz="2100" b="1">
                <a:solidFill>
                  <a:srgbClr val="A44628"/>
                </a:solidFill>
                <a:latin typeface="Arial"/>
                <a:ea typeface="Arial"/>
                <a:cs typeface="Arial"/>
              </a:rPr>
              <a:t>Esito desiderato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4E8B9F-BDD8-4C06-A053-DC706A852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467225"/>
            <a:ext cx="50482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29483E"/>
                </a:solidFill>
              </a:defRPr>
            </a:pPr>
            <a:r>
              <a:rPr sz="2100" b="0">
                <a:solidFill>
                  <a:srgbClr val="29483E"/>
                </a:solidFill>
                <a:latin typeface="Arial"/>
                <a:ea typeface="Arial"/>
                <a:cs typeface="Arial"/>
              </a:rPr>
              <a:t>Riconoscere il prodotto trascurato e assegnargli un utilizzo, mantenendo la routine.</a:t>
            </a:r>
          </a:p>
        </p:txBody>
      </p:sp>
    </p:spTree>
    <p:extLst>
      <p:ext uri="{BB962C8B-B14F-4D97-AF65-F5344CB8AC3E}">
        <p14:creationId xmlns:p14="http://schemas.microsoft.com/office/powerpoint/2010/main" val="196461121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D1A25B-DF04-4BC2-BA7E-897E96A19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83D32"/>
                </a:solidFill>
              </a:defRPr>
            </a:pPr>
            <a:r>
              <a:rPr sz="3300" b="1">
                <a:solidFill>
                  <a:srgbClr val="183D32"/>
                </a:solidFill>
                <a:latin typeface="Arial"/>
                <a:ea typeface="Arial"/>
                <a:cs typeface="Arial"/>
              </a:rPr>
              <a:t>G · La cena dopo le lezioni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456082-49FB-4435-82F3-15D320C24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86B62"/>
                </a:solidFill>
              </a:defRPr>
            </a:pPr>
            <a:r>
              <a:rPr sz="18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Gianfranco · B02 · Scenario concettuale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3ED954-0E90-415D-B3B4-163BA9723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CIBY · Bozza di lavoro · 26 ottobre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781DD5-E192-4912-A94B-60E560087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29375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D09AC5-0002-4EA1-8F1B-DB3CDF847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108204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29483E"/>
                </a:solidFill>
              </a:defRPr>
            </a:pPr>
            <a:r>
              <a:rPr sz="2325" b="0">
                <a:solidFill>
                  <a:srgbClr val="29483E"/>
                </a:solidFill>
                <a:latin typeface="Arial"/>
                <a:ea typeface="Arial"/>
                <a:cs typeface="Arial"/>
              </a:rPr>
              <a:t>Gianfranco rientra dopo le lezioni e deve cenare prima di riprendere a studiare. Una ricetta interessante richiederebbe più lavoro di quanto vuole dedicare alla serata.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553395-5926-450A-82AE-27ECB9D3B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7192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A44628"/>
                </a:solidFill>
              </a:defRPr>
            </a:pPr>
            <a:r>
              <a:rPr sz="2100" b="1">
                <a:solidFill>
                  <a:srgbClr val="A44628"/>
                </a:solidFill>
                <a:latin typeface="Arial"/>
                <a:ea typeface="Arial"/>
                <a:cs typeface="Arial"/>
              </a:rPr>
              <a:t>Decisione da sostenere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8365C4-5E9E-47B1-8A99-5E6E5120B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67225"/>
            <a:ext cx="509587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29483E"/>
                </a:solidFill>
              </a:defRPr>
            </a:pPr>
            <a:r>
              <a:rPr sz="2100" b="0">
                <a:solidFill>
                  <a:srgbClr val="29483E"/>
                </a:solidFill>
                <a:latin typeface="Arial"/>
                <a:ea typeface="Arial"/>
                <a:cs typeface="Arial"/>
              </a:rPr>
              <a:t>Confrontare alternative rispetto a ingredienti, tempo, passaggi e impegno.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C8F681-0FE2-4749-B044-AC17B6746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971925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A44628"/>
                </a:solidFill>
              </a:defRPr>
            </a:pPr>
            <a:r>
              <a:rPr sz="2100" b="1">
                <a:solidFill>
                  <a:srgbClr val="A44628"/>
                </a:solidFill>
                <a:latin typeface="Arial"/>
                <a:ea typeface="Arial"/>
                <a:cs typeface="Arial"/>
              </a:rPr>
              <a:t>Esito desiderato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FC7DDA-2BC9-49A7-8237-7192F8909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467225"/>
            <a:ext cx="50482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29483E"/>
                </a:solidFill>
              </a:defRPr>
            </a:pPr>
            <a:r>
              <a:rPr sz="2100" b="0">
                <a:solidFill>
                  <a:srgbClr val="29483E"/>
                </a:solidFill>
                <a:latin typeface="Arial"/>
                <a:ea typeface="Arial"/>
                <a:cs typeface="Arial"/>
              </a:rPr>
              <a:t>Scegliere una preparazione e spiegare perché è compatibile con la situazione.</a:t>
            </a:r>
          </a:p>
        </p:txBody>
      </p:sp>
    </p:spTree>
    <p:extLst>
      <p:ext uri="{BB962C8B-B14F-4D97-AF65-F5344CB8AC3E}">
        <p14:creationId xmlns:p14="http://schemas.microsoft.com/office/powerpoint/2010/main" val="163459241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AF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3C7C77-3176-44B0-BE47-1399E576A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83D32"/>
                </a:solidFill>
              </a:defRPr>
            </a:pPr>
            <a:r>
              <a:rPr sz="3300" b="1">
                <a:solidFill>
                  <a:srgbClr val="183D32"/>
                </a:solidFill>
                <a:latin typeface="Arial"/>
                <a:ea typeface="Arial"/>
                <a:cs typeface="Arial"/>
              </a:rPr>
              <a:t>L · Manca un ingrediente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8512BC-72BC-42D4-A5E3-B2DF25CD3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86B62"/>
                </a:solidFill>
              </a:defRPr>
            </a:pPr>
            <a:r>
              <a:rPr sz="18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Luca · B03 · Scenario concettuale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8533F5-9C58-4386-97AF-E46A70121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CIBY · Bozza di lavoro · 26 ottobre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1A8DD3-D03D-4490-AA68-214C6B637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29375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0B7914-6399-4D59-A3BF-037A28514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108204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29483E"/>
                </a:solidFill>
              </a:defRPr>
            </a:pPr>
            <a:r>
              <a:rPr sz="2325" b="0">
                <a:solidFill>
                  <a:srgbClr val="29483E"/>
                </a:solidFill>
                <a:latin typeface="Arial"/>
                <a:ea typeface="Arial"/>
                <a:cs typeface="Arial"/>
              </a:rPr>
              <a:t>Luca scopre che manca un ingrediente per la cena prevista. Gli altri acquisti sono già disponibili e uscire di nuovo cambierebbe i tempi della serata.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75EED2-C8F4-4404-83AD-BACBFEF16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7192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A44628"/>
                </a:solidFill>
              </a:defRPr>
            </a:pPr>
            <a:r>
              <a:rPr sz="2100" b="1">
                <a:solidFill>
                  <a:srgbClr val="A44628"/>
                </a:solidFill>
                <a:latin typeface="Arial"/>
                <a:ea typeface="Arial"/>
                <a:cs typeface="Arial"/>
              </a:rPr>
              <a:t>Decisione da sostenere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666836-3091-4421-8403-8961D50E8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67225"/>
            <a:ext cx="509587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29483E"/>
                </a:solidFill>
              </a:defRPr>
            </a:pPr>
            <a:r>
              <a:rPr sz="2100" b="0">
                <a:solidFill>
                  <a:srgbClr val="29483E"/>
                </a:solidFill>
                <a:latin typeface="Arial"/>
                <a:ea typeface="Arial"/>
                <a:cs typeface="Arial"/>
              </a:rPr>
              <a:t>Confrontare una preparazione diversa con il rinvio, chiarendo che cosa resta da utilizzare.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9DEF4D-1BD1-4CD7-9D7D-5581D46E9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971925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A44628"/>
                </a:solidFill>
              </a:defRPr>
            </a:pPr>
            <a:r>
              <a:rPr sz="2100" b="1">
                <a:solidFill>
                  <a:srgbClr val="A44628"/>
                </a:solidFill>
                <a:latin typeface="Arial"/>
                <a:ea typeface="Arial"/>
                <a:cs typeface="Arial"/>
              </a:rPr>
              <a:t>Esito desiderato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111CC0-03D0-4CF3-97D0-54EFEC7B0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467225"/>
            <a:ext cx="50482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29483E"/>
                </a:solidFill>
              </a:defRPr>
            </a:pPr>
            <a:r>
              <a:rPr sz="2100" b="0">
                <a:solidFill>
                  <a:srgbClr val="29483E"/>
                </a:solidFill>
                <a:latin typeface="Arial"/>
                <a:ea typeface="Arial"/>
                <a:cs typeface="Arial"/>
              </a:rPr>
              <a:t>Adattare la cena e assegnare agli ingredienti rinviati un altro pasto effettivamente previsto.</a:t>
            </a:r>
          </a:p>
        </p:txBody>
      </p:sp>
    </p:spTree>
    <p:extLst>
      <p:ext uri="{BB962C8B-B14F-4D97-AF65-F5344CB8AC3E}">
        <p14:creationId xmlns:p14="http://schemas.microsoft.com/office/powerpoint/2010/main" val="95121826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AF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D04164-53C6-480B-A965-67F453E38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83D32"/>
                </a:solidFill>
              </a:defRPr>
            </a:pPr>
            <a:r>
              <a:rPr sz="3300" b="1">
                <a:solidFill>
                  <a:srgbClr val="183D32"/>
                </a:solidFill>
                <a:latin typeface="Arial"/>
                <a:ea typeface="Arial"/>
                <a:cs typeface="Arial"/>
              </a:rPr>
              <a:t>A · La confezione e i pasti previsti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61CD8B-6F59-4A4E-864F-63EA00711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86B62"/>
                </a:solidFill>
              </a:defRPr>
            </a:pPr>
            <a:r>
              <a:rPr sz="18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Luca · B04 · Scenario concettuale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BA7EFE-2695-4218-BA38-608F54BCE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CIBY · Bozza di lavoro · 26 ottobre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465756-31D4-444D-B46B-2198F4D5A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29375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E1A6FD-37DB-46A6-B6AF-F472B5B43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108204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29483E"/>
                </a:solidFill>
              </a:defRPr>
            </a:pPr>
            <a:r>
              <a:rPr sz="2325" b="0">
                <a:solidFill>
                  <a:srgbClr val="29483E"/>
                </a:solidFill>
                <a:latin typeface="Arial"/>
                <a:ea typeface="Arial"/>
                <a:cs typeface="Arial"/>
              </a:rPr>
              <a:t>Luca fa la spesa e ha già un alimento fresco a casa. Prevede poche cene certe e una ancora incerta. Confronta una confezione conveniente grande con un formato più piccolo.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390319-3668-43DA-9415-03B003BA4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71925"/>
            <a:ext cx="509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A44628"/>
                </a:solidFill>
              </a:defRPr>
            </a:pPr>
            <a:r>
              <a:rPr sz="2100" b="1">
                <a:solidFill>
                  <a:srgbClr val="A44628"/>
                </a:solidFill>
                <a:latin typeface="Arial"/>
                <a:ea typeface="Arial"/>
                <a:cs typeface="Arial"/>
              </a:rPr>
              <a:t>Decisione da sostenere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E81785-D532-4A0A-9382-A094C8004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67225"/>
            <a:ext cx="509587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29483E"/>
                </a:solidFill>
              </a:defRPr>
            </a:pPr>
            <a:r>
              <a:rPr sz="2100" b="0">
                <a:solidFill>
                  <a:srgbClr val="29483E"/>
                </a:solidFill>
                <a:latin typeface="Arial"/>
                <a:ea typeface="Arial"/>
                <a:cs typeface="Arial"/>
              </a:rPr>
              <a:t>Valutare quantità, scorte e occasioni confermate o incerte prima di comprare.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5272DF-BCAD-4233-9B0F-BD38A70C2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971925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A44628"/>
                </a:solidFill>
              </a:defRPr>
            </a:pPr>
            <a:r>
              <a:rPr sz="2100" b="1">
                <a:solidFill>
                  <a:srgbClr val="A44628"/>
                </a:solidFill>
                <a:latin typeface="Arial"/>
                <a:ea typeface="Arial"/>
                <a:cs typeface="Arial"/>
              </a:rPr>
              <a:t>Esito desiderato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E7869E-8169-498F-9ACE-750E1766B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467225"/>
            <a:ext cx="50482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29483E"/>
                </a:solidFill>
              </a:defRPr>
            </a:pPr>
            <a:r>
              <a:rPr sz="2100" b="0">
                <a:solidFill>
                  <a:srgbClr val="29483E"/>
                </a:solidFill>
                <a:latin typeface="Arial"/>
                <a:ea typeface="Arial"/>
                <a:cs typeface="Arial"/>
              </a:rPr>
              <a:t>Motivare una quantità che abbia un utilizzo concreto, lasciando un eventuale acquisto a quando servirà.</a:t>
            </a:r>
          </a:p>
        </p:txBody>
      </p:sp>
    </p:spTree>
    <p:extLst>
      <p:ext uri="{BB962C8B-B14F-4D97-AF65-F5344CB8AC3E}">
        <p14:creationId xmlns:p14="http://schemas.microsoft.com/office/powerpoint/2010/main" val="178981335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AF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723FAE-3D6E-4470-B045-C87427C9D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83D32"/>
                </a:solidFill>
              </a:defRPr>
            </a:pPr>
            <a:r>
              <a:rPr sz="3300" b="1">
                <a:solidFill>
                  <a:srgbClr val="183D32"/>
                </a:solidFill>
                <a:latin typeface="Arial"/>
                <a:ea typeface="Arial"/>
                <a:cs typeface="Arial"/>
              </a:rPr>
              <a:t>Idee individuali e discussione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BA7877-FCE7-4306-91A9-931589878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86B62"/>
                </a:solidFill>
              </a:defRPr>
            </a:pPr>
            <a:r>
              <a:rPr sz="18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Contributi disponibili e parti ancora da completare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A67C1A-3179-479B-B44A-AF4BF1C08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CIBY · Bozza di lavoro · 26 ottobre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A5484E-26F9-49C7-A4C7-21607E08C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29375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3A766D-1774-4EA9-BC46-815DBAFF7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A44628"/>
                </a:solidFill>
              </a:defRPr>
            </a:pPr>
            <a:r>
              <a:rPr sz="2100" b="1">
                <a:solidFill>
                  <a:srgbClr val="A44628"/>
                </a:solidFill>
                <a:latin typeface="Arial"/>
                <a:ea typeface="Arial"/>
                <a:cs typeface="Arial"/>
              </a:rPr>
              <a:t>Andrea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F121B2-4625-42F7-A176-DEAC59DBA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5048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9483E"/>
                </a:solidFill>
              </a:defRPr>
            </a:pPr>
            <a:r>
              <a:rPr sz="2175" b="0">
                <a:solidFill>
                  <a:srgbClr val="29483E"/>
                </a:solidFill>
                <a:latin typeface="Arial"/>
                <a:ea typeface="Arial"/>
                <a:cs typeface="Arial"/>
              </a:rPr>
              <a:t>Pasti e spuntini intorno agli allenamenti. Uso degli alimenti disponibili. Idee di supporto nutrizionale e AI ancora da valutare.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24D2EB-B162-4714-AF3D-C91D0BB36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09800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A44628"/>
                </a:solidFill>
              </a:defRPr>
            </a:pPr>
            <a:r>
              <a:rPr sz="2100" b="1">
                <a:solidFill>
                  <a:srgbClr val="A44628"/>
                </a:solidFill>
                <a:latin typeface="Arial"/>
                <a:ea typeface="Arial"/>
                <a:cs typeface="Arial"/>
              </a:rPr>
              <a:t>Marco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32D67C-A92F-4AC1-BFDD-9FBB6BB72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705100"/>
            <a:ext cx="5048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9483E"/>
                </a:solidFill>
              </a:defRPr>
            </a:pPr>
            <a:r>
              <a:rPr sz="2175" b="0">
                <a:solidFill>
                  <a:srgbClr val="29483E"/>
                </a:solidFill>
                <a:latin typeface="Arial"/>
                <a:ea typeface="Arial"/>
                <a:cs typeface="Arial"/>
              </a:rPr>
              <a:t>Pasto a partire dagli alimenti in casa. Supporto modulabile su capacità e preferenze. Benefici attesi su sprechi e sforzo di scelta.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482C49-3475-4010-B1BF-979C39FB6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4345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0">
                <a:solidFill>
                  <a:srgbClr val="8B5D14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8B5D14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8B5D14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8B5D14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8B5D14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8B5D14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8B5D14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8B5D14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8B5D14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8B5D1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8B5D14"/>
                </a:solidFill>
              </a:defRPr>
            </a:pPr>
            <a:r>
              <a:rPr sz="2100" b="0">
                <a:solidFill>
                  <a:srgbClr val="8B5D14"/>
                </a:solidFill>
                <a:latin typeface="Arial"/>
                <a:ea typeface="Arial"/>
                <a:cs typeface="Arial"/>
              </a:rPr>
              <a:t>Contributi individuali da raccogliere: Gabriele, Rime, Emanuele ed Edoardo. Le bozze assistite presenti nella board restano distinguibili dalle loro proposte.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25958A-73BF-4760-906C-1694C9E79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38825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00" b="1">
                <a:solidFill>
                  <a:srgbClr val="8B5D14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8B5D14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8B5D14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8B5D14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8B5D14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8B5D14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8B5D14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8B5D14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8B5D14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8B5D1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8B5D14"/>
                </a:solidFill>
              </a:defRPr>
            </a:pPr>
            <a:r>
              <a:rPr sz="1800" b="1">
                <a:solidFill>
                  <a:srgbClr val="8B5D14"/>
                </a:solidFill>
                <a:latin typeface="Arial"/>
                <a:ea typeface="Arial"/>
                <a:cs typeface="Arial"/>
              </a:rPr>
              <a:t>Immagini del processo da acquisire dopo i commenti e il confronto effettivo.</a:t>
            </a:r>
          </a:p>
        </p:txBody>
      </p:sp>
    </p:spTree>
    <p:extLst>
      <p:ext uri="{BB962C8B-B14F-4D97-AF65-F5344CB8AC3E}">
        <p14:creationId xmlns:p14="http://schemas.microsoft.com/office/powerpoint/2010/main" val="26032940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AF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A07CF4-9E8B-47ED-8521-9513368A8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83D32"/>
                </a:solidFill>
              </a:defRPr>
            </a:pPr>
            <a:r>
              <a:rPr sz="3300" b="1">
                <a:solidFill>
                  <a:srgbClr val="183D32"/>
                </a:solidFill>
                <a:latin typeface="Arial"/>
                <a:ea typeface="Arial"/>
                <a:cs typeface="Arial"/>
              </a:rPr>
              <a:t>Tre direzioni concettuali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4AF9A2-24FE-4073-AFEC-43E89580C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86B62"/>
                </a:solidFill>
              </a:defRPr>
            </a:pPr>
            <a:r>
              <a:rPr sz="18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Alternative di supporto alle attività, prima delle scelte tecnologiche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C62E3B-9881-410A-8D66-4FF08B945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CIBY · Bozza di lavoro · 26 ottobre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3030CA-200A-499A-A518-C2815B2B6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29375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DC3994-F890-4951-BF43-F33B1361131A}"/>
              </a:ext>
            </a:extLst>
          </p:cNvPr>
          <p:cNvGraphicFramePr/>
          <p:nvPr/>
        </p:nvGraphicFramePr>
        <p:xfrm>
          <a:off xmlns:a="http://schemas.openxmlformats.org/drawingml/2006/main" x="685800" y="2114550"/>
          <a:ext xmlns:a="http://schemas.openxmlformats.org/drawingml/2006/main" cx="108204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762125"/>
                <a:gridCol w="3905250"/>
                <a:gridCol w="5153025"/>
              </a:tblGrid>
              <a:tr h="833438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</a:rPr>
                        <a:t>Direzione</a:t>
                      </a:r>
                    </a:p>
                  </a:txBody>
                  <a:tcPr marL="133350" marR="133350" marT="114300" marB="114300" anchor="t">
                    <a:lnL w="9525">
                      <a:solidFill>
                        <a:srgbClr val="D7DFD6"/>
                      </a:solidFill>
                      <a:prstDash val="solid"/>
                    </a:lnL>
                    <a:lnR w="9525">
                      <a:solidFill>
                        <a:srgbClr val="D7DFD6"/>
                      </a:solidFill>
                      <a:prstDash val="solid"/>
                    </a:lnR>
                    <a:lnT w="9525">
                      <a:solidFill>
                        <a:srgbClr val="D7DFD6"/>
                      </a:solidFill>
                      <a:prstDash val="solid"/>
                    </a:lnT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183D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</a:rPr>
                        <a:t>Punto di partenza</a:t>
                      </a:r>
                    </a:p>
                  </a:txBody>
                  <a:tcPr marL="133350" marR="133350" marT="114300" marB="114300" anchor="t">
                    <a:lnR w="9525">
                      <a:solidFill>
                        <a:srgbClr val="D7DFD6"/>
                      </a:solidFill>
                      <a:prstDash val="solid"/>
                    </a:lnR>
                    <a:lnT w="9525">
                      <a:solidFill>
                        <a:srgbClr val="D7DFD6"/>
                      </a:solidFill>
                      <a:prstDash val="solid"/>
                    </a:lnT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183D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</a:rPr>
                        <a:t>Attività centrale</a:t>
                      </a:r>
                    </a:p>
                  </a:txBody>
                  <a:tcPr marL="133350" marR="133350" marT="114300" marB="114300" anchor="t">
                    <a:lnR w="9525">
                      <a:solidFill>
                        <a:srgbClr val="D7DFD6"/>
                      </a:solidFill>
                      <a:prstDash val="solid"/>
                    </a:lnR>
                    <a:lnT w="9525">
                      <a:solidFill>
                        <a:srgbClr val="D7DFD6"/>
                      </a:solidFill>
                      <a:prstDash val="solid"/>
                    </a:lnT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183D32"/>
                    </a:solidFill>
                  </a:tcPr>
                </a:tc>
              </a:tr>
              <a:tr h="833438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9483E"/>
                          </a:solidFill>
                        </a:rPr>
                        <a:t>D1</a:t>
                      </a:r>
                    </a:p>
                  </a:txBody>
                  <a:tcPr marL="133350" marR="133350" marT="114300" marB="114300" anchor="t">
                    <a:lnL w="9525">
                      <a:solidFill>
                        <a:srgbClr val="D7DFD6"/>
                      </a:solidFill>
                      <a:prstDash val="solid"/>
                    </a:lnL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9483E"/>
                          </a:solidFill>
                        </a:rPr>
                        <a:t>Un alimento disponibile</a:t>
                      </a:r>
                    </a:p>
                  </a:txBody>
                  <a:tcPr marL="133350" marR="133350" marT="114300" marB="114300" anchor="t"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9483E"/>
                          </a:solidFill>
                        </a:rPr>
                        <a:t>Trovargli un prossimo utilizzo concreto</a:t>
                      </a:r>
                    </a:p>
                  </a:txBody>
                  <a:tcPr marL="133350" marR="133350" marT="114300" marB="114300" anchor="t"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FAF8F2"/>
                    </a:solidFill>
                  </a:tcPr>
                </a:tc>
              </a:tr>
              <a:tr h="833438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9483E"/>
                          </a:solidFill>
                        </a:rPr>
                        <a:t>D2</a:t>
                      </a:r>
                    </a:p>
                  </a:txBody>
                  <a:tcPr marL="133350" marR="133350" marT="114300" marB="114300" anchor="t">
                    <a:lnL w="9525">
                      <a:solidFill>
                        <a:srgbClr val="D7DFD6"/>
                      </a:solidFill>
                      <a:prstDash val="solid"/>
                    </a:lnL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9483E"/>
                          </a:solidFill>
                        </a:rPr>
                        <a:t>Il tempo e l’impegno possibili</a:t>
                      </a:r>
                    </a:p>
                  </a:txBody>
                  <a:tcPr marL="133350" marR="133350" marT="114300" marB="114300" anchor="t"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9483E"/>
                          </a:solidFill>
                        </a:rPr>
                        <a:t>Scegliere una preparazione praticabile</a:t>
                      </a:r>
                    </a:p>
                  </a:txBody>
                  <a:tcPr marL="133350" marR="133350" marT="114300" marB="114300" anchor="t"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FAF8F2"/>
                    </a:solidFill>
                  </a:tcPr>
                </a:tc>
              </a:tr>
              <a:tr h="833438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9483E"/>
                          </a:solidFill>
                        </a:rPr>
                        <a:t>D3</a:t>
                      </a:r>
                    </a:p>
                  </a:txBody>
                  <a:tcPr marL="133350" marR="133350" marT="114300" marB="114300" anchor="t">
                    <a:lnL w="9525">
                      <a:solidFill>
                        <a:srgbClr val="D7DFD6"/>
                      </a:solidFill>
                      <a:prstDash val="solid"/>
                    </a:lnL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9483E"/>
                          </a:solidFill>
                        </a:rPr>
                        <a:t>Un cambiamento di programma</a:t>
                      </a:r>
                    </a:p>
                  </a:txBody>
                  <a:tcPr marL="133350" marR="133350" marT="114300" marB="114300" anchor="t"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9483E"/>
                          </a:solidFill>
                        </a:rPr>
                        <a:t>Riorganizzare ingredienti, pasti successivi e acquisti</a:t>
                      </a:r>
                    </a:p>
                  </a:txBody>
                  <a:tcPr marL="133350" marR="133350" marT="114300" marB="114300" anchor="t"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FAF8F2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59232E-3FF6-41E6-8C1E-C11B50218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53100"/>
            <a:ext cx="10820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025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586B62"/>
                </a:solidFill>
              </a:defRPr>
            </a:pPr>
            <a:r>
              <a:rPr sz="2025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D3 collega soprattutto B03/B04 e usa B01/B02 per riconoscere priorità e fattibilità.</a:t>
            </a:r>
          </a:p>
        </p:txBody>
      </p:sp>
    </p:spTree>
    <p:extLst>
      <p:ext uri="{BB962C8B-B14F-4D97-AF65-F5344CB8AC3E}">
        <p14:creationId xmlns:p14="http://schemas.microsoft.com/office/powerpoint/2010/main" val="72109481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AF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A3A093-2389-446F-9761-13F0BC8C3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83D32"/>
                </a:solidFill>
              </a:defRPr>
            </a:pPr>
            <a:r>
              <a:rPr sz="3300" b="1">
                <a:solidFill>
                  <a:srgbClr val="183D32"/>
                </a:solidFill>
                <a:latin typeface="Arial"/>
                <a:ea typeface="Arial"/>
                <a:cs typeface="Arial"/>
              </a:rPr>
              <a:t>Il confronto con prodotti esistenti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F615D7-B7AE-43E1-8DCD-1C4ED08B2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86B62"/>
                </a:solidFill>
              </a:defRPr>
            </a:pPr>
            <a:r>
              <a:rPr sz="18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Confronto documentale di fonti ufficiali, aggiornato al 26 ottobre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BD04DD-745F-4A91-AEB8-10921D587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CIBY · Bozza di lavoro · 26 ottobre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C4DE6B-0112-4499-B22B-42A9C988A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29375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8C49AC-B7D3-4D26-B840-B47578A418DC}"/>
              </a:ext>
            </a:extLst>
          </p:cNvPr>
          <p:cNvGraphicFramePr/>
          <p:nvPr/>
        </p:nvGraphicFramePr>
        <p:xfrm>
          <a:off xmlns:a="http://schemas.openxmlformats.org/drawingml/2006/main" x="685800" y="2066925"/>
          <a:ext xmlns:a="http://schemas.openxmlformats.org/drawingml/2006/main" cx="1082040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7962900"/>
              </a:tblGrid>
              <a:tr h="714375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</a:rPr>
                        <a:t>Prodotto</a:t>
                      </a:r>
                    </a:p>
                  </a:txBody>
                  <a:tcPr marL="133350" marR="133350" marT="114300" marB="114300" anchor="t">
                    <a:lnL w="9525">
                      <a:solidFill>
                        <a:srgbClr val="D7DFD6"/>
                      </a:solidFill>
                      <a:prstDash val="solid"/>
                    </a:lnL>
                    <a:lnR w="9525">
                      <a:solidFill>
                        <a:srgbClr val="D7DFD6"/>
                      </a:solidFill>
                      <a:prstDash val="solid"/>
                    </a:lnR>
                    <a:lnT w="9525">
                      <a:solidFill>
                        <a:srgbClr val="D7DFD6"/>
                      </a:solidFill>
                      <a:prstDash val="solid"/>
                    </a:lnT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183D3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</a:rPr>
                        <a:t>Capacità descritte dalle fonti</a:t>
                      </a:r>
                    </a:p>
                  </a:txBody>
                  <a:tcPr marL="133350" marR="133350" marT="114300" marB="114300" anchor="t">
                    <a:lnR w="9525">
                      <a:solidFill>
                        <a:srgbClr val="D7DFD6"/>
                      </a:solidFill>
                      <a:prstDash val="solid"/>
                    </a:lnR>
                    <a:lnT w="9525">
                      <a:solidFill>
                        <a:srgbClr val="D7DFD6"/>
                      </a:solidFill>
                      <a:prstDash val="solid"/>
                    </a:lnT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183D32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29483E"/>
                          </a:solidFill>
                        </a:rPr>
                        <a:t>SuperCook</a:t>
                      </a:r>
                    </a:p>
                  </a:txBody>
                  <a:tcPr marL="133350" marR="133350" marT="114300" marB="114300" anchor="t">
                    <a:lnL w="9525">
                      <a:solidFill>
                        <a:srgbClr val="D7DFD6"/>
                      </a:solidFill>
                      <a:prstDash val="solid"/>
                    </a:lnL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29483E"/>
                          </a:solidFill>
                        </a:rPr>
                        <a:t>Ricette dagli ingredienti indicati e aggiornamento alla loro rimozione</a:t>
                      </a:r>
                    </a:p>
                  </a:txBody>
                  <a:tcPr marL="133350" marR="133350" marT="114300" marB="114300" anchor="t"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FAF8F2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29483E"/>
                          </a:solidFill>
                        </a:rPr>
                        <a:t>Samsung Food / Food+</a:t>
                      </a:r>
                    </a:p>
                  </a:txBody>
                  <a:tcPr marL="133350" marR="133350" marT="114300" marB="114300" anchor="t">
                    <a:lnL w="9525">
                      <a:solidFill>
                        <a:srgbClr val="D7DFD6"/>
                      </a:solidFill>
                      <a:prstDash val="solid"/>
                    </a:lnL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29483E"/>
                          </a:solidFill>
                        </a:rPr>
                        <a:t>Scorte e priorità, ricette anche senza data, assegnazione ai giorni e lista della spesa</a:t>
                      </a:r>
                    </a:p>
                  </a:txBody>
                  <a:tcPr marL="133350" marR="133350" marT="114300" marB="114300" anchor="t"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FAF8F2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29483E"/>
                          </a:solidFill>
                        </a:rPr>
                        <a:t>Sously</a:t>
                      </a:r>
                    </a:p>
                  </a:txBody>
                  <a:tcPr marL="133350" marR="133350" marT="114300" marB="114300" anchor="t">
                    <a:lnL w="9525">
                      <a:solidFill>
                        <a:srgbClr val="D7DFD6"/>
                      </a:solidFill>
                      <a:prstDash val="solid"/>
                    </a:lnL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>
                          <a:solidFill>
                            <a:srgbClr val="29483E"/>
                          </a:solidFill>
                        </a:rPr>
                        <a:t>Sostituzioni con proporzioni e conseguenze, pianificazione di ricette o ingredienti</a:t>
                      </a:r>
                    </a:p>
                  </a:txBody>
                  <a:tcPr marL="133350" marR="133350" marT="114300" marB="114300" anchor="t">
                    <a:lnR w="9525">
                      <a:solidFill>
                        <a:srgbClr val="D7DFD6"/>
                      </a:solidFill>
                      <a:prstDash val="solid"/>
                    </a:lnR>
                    <a:lnB w="9525">
                      <a:solidFill>
                        <a:srgbClr val="D7DFD6"/>
                      </a:solidFill>
                      <a:prstDash val="solid"/>
                    </a:lnB>
                    <a:solidFill>
                      <a:srgbClr val="FAF8F2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1CB47B-4664-492B-ABA4-2B2F82E9C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25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75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83D32"/>
                </a:solidFill>
              </a:defRPr>
            </a:pPr>
            <a:r>
              <a:rPr sz="2175" b="1">
                <a:solidFill>
                  <a:srgbClr val="183D32"/>
                </a:solidFill>
                <a:latin typeface="Arial"/>
                <a:ea typeface="Arial"/>
                <a:cs typeface="Arial"/>
              </a:rPr>
              <a:t>Ipotesi CIBY: confrontare prima della scelta le conseguenze di un cambiamento su ingredienti rimasti, pasti e acquisti.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454E02-85BB-4AB0-9D32-E2B45830D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72175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725" b="0">
                <a:solidFill>
                  <a:srgbClr val="8B5D14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8B5D14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8B5D14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8B5D14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8B5D14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8B5D14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8B5D14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8B5D14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8B5D14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8B5D1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8B5D14"/>
                </a:solidFill>
              </a:defRPr>
            </a:pPr>
            <a:r>
              <a:rPr sz="1725" b="0">
                <a:solidFill>
                  <a:srgbClr val="8B5D14"/>
                </a:solidFill>
                <a:latin typeface="Arial"/>
                <a:ea typeface="Arial"/>
                <a:cs typeface="Arial"/>
              </a:rPr>
              <a:t>App non provate. Il confronto non dimostra unicità o un vantaggio della soluzione.</a:t>
            </a:r>
          </a:p>
        </p:txBody>
      </p:sp>
    </p:spTree>
    <p:extLst>
      <p:ext uri="{BB962C8B-B14F-4D97-AF65-F5344CB8AC3E}">
        <p14:creationId xmlns:p14="http://schemas.microsoft.com/office/powerpoint/2010/main" val="199051357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AF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A29A97-BEDE-4377-8CA5-32D63EE02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83D32"/>
                </a:solidFill>
              </a:defRPr>
            </a:pPr>
            <a:r>
              <a:rPr sz="3300" b="1">
                <a:solidFill>
                  <a:srgbClr val="183D32"/>
                </a:solidFill>
                <a:latin typeface="Arial"/>
                <a:ea typeface="Arial"/>
                <a:cs typeface="Arial"/>
              </a:rPr>
              <a:t>La selezione della direzione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44840C-DE92-4152-8B65-24923460D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86B62"/>
                </a:solidFill>
              </a:defRPr>
            </a:pPr>
            <a:r>
              <a:rPr sz="18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D3 è la direzione di lavoro scelta da Andrea il 25 ottobre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9B930C-A708-4E3A-9F25-EF054D30A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CIBY · Bozza di lavoro · 26 ottobre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8B22AB-084D-47E0-9708-F2E119434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29375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1DD277-941D-4568-BB57-21C98D76E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A44628"/>
                </a:solidFill>
              </a:defRPr>
            </a:pPr>
            <a:r>
              <a:rPr sz="2100" b="1">
                <a:solidFill>
                  <a:srgbClr val="A44628"/>
                </a:solidFill>
                <a:latin typeface="Arial"/>
                <a:ea typeface="Arial"/>
                <a:cs typeface="Arial"/>
              </a:rPr>
              <a:t>Ragione progettuale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EBE50E-A882-4325-A359-2E5A9307B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5048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defPPr>
            <a:lvl1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1pPr>
            <a:lvl2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2pPr>
            <a:lvl3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3pPr>
            <a:lvl4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4pPr>
            <a:lvl5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5pPr>
            <a:lvl6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6pPr>
            <a:lvl7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7pPr>
            <a:lvl8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8pPr>
            <a:lvl9pPr>
              <a:defRPr sz="232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29483E"/>
                </a:solidFill>
              </a:defRPr>
            </a:pPr>
            <a:r>
              <a:rPr sz="2325" b="0">
                <a:solidFill>
                  <a:srgbClr val="29483E"/>
                </a:solidFill>
                <a:latin typeface="Arial"/>
                <a:ea typeface="Arial"/>
                <a:cs typeface="Arial"/>
              </a:rPr>
              <a:t>D3 rende esplicito il legame tra imprevisti, destinazione degli ingredienti e quantità ancora necessarie.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C305E7-EC9C-4566-A885-53ABB6018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190750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A4462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A44628"/>
                </a:solidFill>
              </a:defRPr>
            </a:pPr>
            <a:r>
              <a:rPr sz="2100" b="1">
                <a:solidFill>
                  <a:srgbClr val="A44628"/>
                </a:solidFill>
                <a:latin typeface="Arial"/>
                <a:ea typeface="Arial"/>
                <a:cs typeface="Arial"/>
              </a:rPr>
              <a:t>Confronto da chiudere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C28D63-0F41-44A9-B0CB-E74A3132C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686050"/>
            <a:ext cx="50482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2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29483E"/>
                </a:solidFill>
              </a:defRPr>
            </a:pPr>
            <a:r>
              <a:rPr sz="2250" b="0">
                <a:solidFill>
                  <a:srgbClr val="29483E"/>
                </a:solidFill>
                <a:latin typeface="Arial"/>
                <a:ea typeface="Arial"/>
                <a:cs typeface="Arial"/>
              </a:rPr>
              <a:t>Andrea e Marco danno priorità a B01 nei commenti recenti. Il gruppo deve chiarirne il rapporto con D3 e con il ruolo della spesa.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94E801-4596-4DD7-93E1-3317AE8BC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62525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00" b="0">
                <a:solidFill>
                  <a:srgbClr val="8B5D14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8B5D14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8B5D14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8B5D14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8B5D14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8B5D14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8B5D14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8B5D14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8B5D14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8B5D1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8B5D14"/>
                </a:solidFill>
              </a:defRPr>
            </a:pPr>
            <a:r>
              <a:rPr sz="2100" b="0">
                <a:solidFill>
                  <a:srgbClr val="8B5D14"/>
                </a:solidFill>
                <a:latin typeface="Arial"/>
                <a:ea typeface="Arial"/>
                <a:cs typeface="Arial"/>
              </a:rPr>
              <a:t>Da registrare: metodo realmente usato, contributi ed esito motivato del gruppo. Non disponiamo ancora di assegnazioni o conteggi condivisi.</a:t>
            </a:r>
          </a:p>
        </p:txBody>
      </p:sp>
    </p:spTree>
    <p:extLst>
      <p:ext uri="{BB962C8B-B14F-4D97-AF65-F5344CB8AC3E}">
        <p14:creationId xmlns:p14="http://schemas.microsoft.com/office/powerpoint/2010/main" val="151850906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AF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E03BE5-B046-46E0-8CAF-B82C35ACE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83D32"/>
                </a:solidFill>
              </a:defRPr>
            </a:pPr>
            <a:r>
              <a:rPr sz="3300" b="1">
                <a:solidFill>
                  <a:srgbClr val="183D32"/>
                </a:solidFill>
                <a:latin typeface="Arial"/>
                <a:ea typeface="Arial"/>
                <a:cs typeface="Arial"/>
              </a:rPr>
              <a:t>La soluzione concettuale di lavoro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0BD56F-513A-496E-B6C2-42E1221EB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86B62"/>
                </a:solidFill>
              </a:defRPr>
            </a:pPr>
            <a:r>
              <a:rPr sz="18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D3 · Riorganizzare pasti e acquisti dopo un cambiamento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6E896F-405E-4024-AAC5-F0ED898C1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CIBY · Bozza di lavoro · 26 ottobre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51C4D2-3933-4DDE-8EF4-4AE18F386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29375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A9602A-1347-4170-9B99-1F2981128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0275"/>
            <a:ext cx="108204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55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defPPr>
            <a:lvl1pPr>
              <a:defRPr sz="255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1pPr>
            <a:lvl2pPr>
              <a:defRPr sz="255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2pPr>
            <a:lvl3pPr>
              <a:defRPr sz="255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3pPr>
            <a:lvl4pPr>
              <a:defRPr sz="255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4pPr>
            <a:lvl5pPr>
              <a:defRPr sz="255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5pPr>
            <a:lvl6pPr>
              <a:defRPr sz="255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6pPr>
            <a:lvl7pPr>
              <a:defRPr sz="255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7pPr>
            <a:lvl8pPr>
              <a:defRPr sz="255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8pPr>
            <a:lvl9pPr>
              <a:defRPr sz="255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183D32"/>
                </a:solidFill>
              </a:defRPr>
            </a:pPr>
            <a:r>
              <a:rPr sz="2550" b="1">
                <a:solidFill>
                  <a:srgbClr val="183D32"/>
                </a:solidFill>
                <a:latin typeface="Arial"/>
                <a:ea typeface="Arial"/>
                <a:cs typeface="Arial"/>
              </a:rPr>
              <a:t>CIBY sostiene chi gestisce i propri pasti nel rivedere l’uso degli ingredienti quando cambia una preparazione o un’occasione di consumo.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5B82EB-CF46-4DC9-B77D-092AB0100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108204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4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defPPr>
            <a:lvl1pPr>
              <a:defRPr sz="24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29483E"/>
                </a:solidFill>
              </a:defRPr>
            </a:pPr>
            <a:r>
              <a:rPr sz="2400" b="0">
                <a:solidFill>
                  <a:srgbClr val="29483E"/>
                </a:solidFill>
                <a:latin typeface="Arial"/>
                <a:ea typeface="Arial"/>
                <a:cs typeface="Arial"/>
              </a:rPr>
              <a:t>Aiuta a confrontare alternative praticabili e comprenderne le conseguenze sugli ingredienti rimasti, sui pasti successivi e sulle quantità ancora da acquistare.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4BF7CB-7C09-4215-9C1E-9C580E461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50"/>
            <a:ext cx="10820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75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586B62"/>
                </a:solidFill>
              </a:defRPr>
            </a:pPr>
            <a:r>
              <a:rPr sz="1875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Sport: possibile contesto organizzativo degli allenamenti, esplorato con un caso simulato. Mascotte e AI restano ipotesi di realizzazione.</a:t>
            </a:r>
          </a:p>
        </p:txBody>
      </p:sp>
    </p:spTree>
    <p:extLst>
      <p:ext uri="{BB962C8B-B14F-4D97-AF65-F5344CB8AC3E}">
        <p14:creationId xmlns:p14="http://schemas.microsoft.com/office/powerpoint/2010/main" val="140811852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AF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5CF8F0-DD3B-44C3-9148-34AD2F58D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83D32"/>
                </a:solidFill>
              </a:defRPr>
            </a:pPr>
            <a:r>
              <a:rPr sz="3300" b="1">
                <a:solidFill>
                  <a:srgbClr val="183D32"/>
                </a:solidFill>
                <a:latin typeface="Arial"/>
                <a:ea typeface="Arial"/>
                <a:cs typeface="Arial"/>
              </a:rPr>
              <a:t>CIBY e la value proposition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57E727-23B6-4ABD-AA6A-E98EEF11B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86B62"/>
                </a:solidFill>
              </a:defRPr>
            </a:pPr>
            <a:r>
              <a:rPr sz="18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Frase di lavoro approvata da Andrea il 26 ottobre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77419C-280E-428B-9352-984EDE8DD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CIBY · Bozza di lavoro · 26 ottobre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BAE37E-6F70-45CC-AA37-9B3D56F70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29375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A9FF48-6653-4BEC-A901-1CEA89957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108204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45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defPPr>
            <a:lvl1pPr>
              <a:defRPr sz="345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1pPr>
            <a:lvl2pPr>
              <a:defRPr sz="345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2pPr>
            <a:lvl3pPr>
              <a:defRPr sz="345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3pPr>
            <a:lvl4pPr>
              <a:defRPr sz="345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4pPr>
            <a:lvl5pPr>
              <a:defRPr sz="345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5pPr>
            <a:lvl6pPr>
              <a:defRPr sz="345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6pPr>
            <a:lvl7pPr>
              <a:defRPr sz="345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7pPr>
            <a:lvl8pPr>
              <a:defRPr sz="345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8pPr>
            <a:lvl9pPr>
              <a:defRPr sz="345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83D32"/>
                </a:solidFill>
              </a:defRPr>
            </a:pPr>
            <a:r>
              <a:rPr sz="3450" b="1">
                <a:solidFill>
                  <a:srgbClr val="183D32"/>
                </a:solidFill>
                <a:latin typeface="Arial"/>
                <a:ea typeface="Arial"/>
                <a:cs typeface="Arial"/>
              </a:rPr>
              <a:t>CIBY ti aiuta a scegliere cosa preparare con gli alimenti che hai, adattando pasti e acquisti quando cambiano i programmi.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8F40D3-89FE-43C6-8735-1E8F9C16C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72075"/>
            <a:ext cx="108204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75" b="0">
                <a:solidFill>
                  <a:srgbClr val="8B5D14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8B5D14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8B5D14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8B5D14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8B5D14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8B5D14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8B5D14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8B5D14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8B5D14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8B5D1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8B5D14"/>
                </a:solidFill>
              </a:defRPr>
            </a:pPr>
            <a:r>
              <a:rPr sz="2175" b="0">
                <a:solidFill>
                  <a:srgbClr val="8B5D14"/>
                </a:solidFill>
                <a:latin typeface="Arial"/>
                <a:ea typeface="Arial"/>
                <a:cs typeface="Arial"/>
              </a:rPr>
              <a:t>Motivazione del nome: in attesa della spiegazione del gruppo.</a:t>
            </a:r>
          </a:p>
        </p:txBody>
      </p:sp>
    </p:spTree>
    <p:extLst>
      <p:ext uri="{BB962C8B-B14F-4D97-AF65-F5344CB8AC3E}">
        <p14:creationId xmlns:p14="http://schemas.microsoft.com/office/powerpoint/2010/main" val="195386418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AF8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7AF30E-035B-4333-A490-C47B45C3E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83D3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83D32"/>
                </a:solidFill>
              </a:defRPr>
            </a:pPr>
            <a:r>
              <a:rPr sz="3300" b="1">
                <a:solidFill>
                  <a:srgbClr val="183D32"/>
                </a:solidFill>
                <a:latin typeface="Arial"/>
                <a:ea typeface="Arial"/>
                <a:cs typeface="Arial"/>
              </a:rPr>
              <a:t>Fonti e stato della bozza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CCA226-9870-4C8E-AFD8-B127A77FE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86B62"/>
                </a:solidFill>
              </a:defRPr>
            </a:pPr>
            <a:r>
              <a:rPr sz="18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Materiali verificabili nella repository e nella board condivisa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64CB05-63CE-4892-881F-7DB6A81ED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CIBY · Bozza di lavoro · 26 ottobre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037C08-00EC-45DF-BB3B-63619959A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29375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86B62"/>
                </a:solidFill>
              </a:defRPr>
            </a:pPr>
            <a:r>
              <a:rPr sz="12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89B1E8-82FF-486E-BD7B-442EF662F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108204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defPPr>
            <a:lvl1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1pPr>
            <a:lvl2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2pPr>
            <a:lvl3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3pPr>
            <a:lvl4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4pPr>
            <a:lvl5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5pPr>
            <a:lvl6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6pPr>
            <a:lvl7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7pPr>
            <a:lvl8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8pPr>
            <a:lvl9pPr>
              <a:defRPr sz="2175" b="0">
                <a:solidFill>
                  <a:srgbClr val="29483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29483E"/>
                </a:solidFill>
              </a:defRPr>
            </a:pPr>
            <a:r>
              <a:rPr sz="2175" b="0">
                <a:solidFill>
                  <a:srgbClr val="29483E"/>
                </a:solidFill>
                <a:latin typeface="Arial"/>
                <a:ea typeface="Arial"/>
                <a:cs typeface="Arial"/>
              </a:rPr>
              <a:t>Ricerca: report C1 P01–P05 e analisi delle risposte specifiche.</a:t>
            </a:r>
          </a:p>
          <a:p xmlns:a="http://schemas.openxmlformats.org/drawingml/2006/main">
            <a:pPr>
              <a:defRPr sz="2175" b="0">
                <a:solidFill>
                  <a:srgbClr val="29483E"/>
                </a:solidFill>
              </a:defRPr>
            </a:pPr>
            <a:r>
              <a:rPr sz="2175" b="0">
                <a:solidFill>
                  <a:srgbClr val="29483E"/>
                </a:solidFill>
                <a:latin typeface="Arial"/>
                <a:ea typeface="Arial"/>
                <a:cs typeface="Arial"/>
              </a:rPr>
              <a:t>Sintesi progettuale: bisogni B01–B04, tre personas e quattro scenari.</a:t>
            </a:r>
          </a:p>
          <a:p xmlns:a="http://schemas.openxmlformats.org/drawingml/2006/main">
            <a:pPr>
              <a:defRPr sz="2175" b="0">
                <a:solidFill>
                  <a:srgbClr val="29483E"/>
                </a:solidFill>
              </a:defRPr>
            </a:pPr>
            <a:r>
              <a:rPr sz="2175" b="0">
                <a:solidFill>
                  <a:srgbClr val="29483E"/>
                </a:solidFill>
                <a:latin typeface="Arial"/>
                <a:ea typeface="Arial"/>
                <a:cs typeface="Arial"/>
              </a:rPr>
              <a:t>Processo: commenti e idee presenti nella board FigJam.</a:t>
            </a:r>
          </a:p>
          <a:p xmlns:a="http://schemas.openxmlformats.org/drawingml/2006/main">
            <a:pPr>
              <a:defRPr sz="2175" b="0">
                <a:solidFill>
                  <a:srgbClr val="29483E"/>
                </a:solidFill>
              </a:defRPr>
            </a:pPr>
            <a:r>
              <a:rPr sz="2175" b="0">
                <a:solidFill>
                  <a:srgbClr val="29483E"/>
                </a:solidFill>
                <a:latin typeface="Arial"/>
                <a:ea typeface="Arial"/>
                <a:cs typeface="Arial"/>
              </a:rPr>
              <a:t>Prodotti esistenti: descrizioni e guide ufficiali, consultate il 26 ottobre.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268FF3-92AF-4853-B0C7-26E0A76D5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48225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250" b="1">
                <a:solidFill>
                  <a:srgbClr val="8B5D14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8B5D14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8B5D14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8B5D14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8B5D14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8B5D14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8B5D14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8B5D14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8B5D14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8B5D1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8B5D14"/>
                </a:solidFill>
              </a:defRPr>
            </a:pPr>
            <a:r>
              <a:rPr sz="2250" b="1">
                <a:solidFill>
                  <a:srgbClr val="8B5D14"/>
                </a:solidFill>
                <a:latin typeface="Arial"/>
                <a:ea typeface="Arial"/>
                <a:cs typeface="Arial"/>
              </a:rPr>
              <a:t>Ancora da integrare: diario e analisi, contributi e selezione del gruppo, screenshot del processo, motivazione del nome.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8BCE5F-5C24-48AF-8C5F-309CDB030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15025"/>
            <a:ext cx="10820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586B6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86B62"/>
                </a:solidFill>
              </a:defRPr>
            </a:pPr>
            <a:r>
              <a:rPr sz="1800" b="0">
                <a:solidFill>
                  <a:srgbClr val="586B62"/>
                </a:solidFill>
                <a:latin typeface="Arial"/>
                <a:ea typeface="Arial"/>
                <a:cs typeface="Arial"/>
              </a:rPr>
              <a:t>Repository: github.com/andremauroo/CIBY · Cartella C2</a:t>
            </a:r>
          </a:p>
        </p:txBody>
      </p:sp>
    </p:spTree>
    <p:extLst>
      <p:ext uri="{BB962C8B-B14F-4D97-AF65-F5344CB8AC3E}">
        <p14:creationId xmlns:p14="http://schemas.microsoft.com/office/powerpoint/2010/main" val="4071277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2026-10-26T14:36:24.1440000Z</dcterms:created>
  <dcterms:modified xsi:type="dcterms:W3CDTF">2026-10-26T14:36:24.1440000Z</dcterms:modified>
</coreProperties>
</file>