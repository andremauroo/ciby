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451f65df0640ee" /><Relationship Type="http://schemas.openxmlformats.org/officeDocument/2006/relationships/extended-properties" Target="/docProps/app.xml" Id="R4259bd7109a34915" /><Relationship Type="http://schemas.openxmlformats.org/officeDocument/2006/relationships/officeDocument" Target="/ppt/presentation.xml" Id="Raefc9fa0316c4a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e58b127315471f"/>
  </p:sldMasterIdLst>
  <p:notesMasterIdLst>
    <p:notesMasterId xmlns:r="http://schemas.openxmlformats.org/officeDocument/2006/relationships" r:id="R6308aee0acd642a0"/>
  </p:notesMasterIdLst>
  <p:sldIdLst>
    <p:sldId xmlns:r="http://schemas.openxmlformats.org/officeDocument/2006/relationships" id="256" r:id="R260e4a17d17c4db2"/>
    <p:sldId xmlns:r="http://schemas.openxmlformats.org/officeDocument/2006/relationships" id="257" r:id="R1752a9cc44014cd9"/>
    <p:sldId xmlns:r="http://schemas.openxmlformats.org/officeDocument/2006/relationships" id="258" r:id="R9b44897db197403d"/>
    <p:sldId xmlns:r="http://schemas.openxmlformats.org/officeDocument/2006/relationships" id="259" r:id="R28613055461248d5"/>
    <p:sldId xmlns:r="http://schemas.openxmlformats.org/officeDocument/2006/relationships" id="260" r:id="R19b2963fe204465d"/>
    <p:sldId xmlns:r="http://schemas.openxmlformats.org/officeDocument/2006/relationships" id="261" r:id="R7d1fc2f76ca64c24"/>
    <p:sldId xmlns:r="http://schemas.openxmlformats.org/officeDocument/2006/relationships" id="262" r:id="R733b6f4f49054f4a"/>
    <p:sldId xmlns:r="http://schemas.openxmlformats.org/officeDocument/2006/relationships" id="263" r:id="Ree01b094ccc84da8"/>
    <p:sldId xmlns:r="http://schemas.openxmlformats.org/officeDocument/2006/relationships" id="264" r:id="Rec643f3741984f67"/>
    <p:sldId xmlns:r="http://schemas.openxmlformats.org/officeDocument/2006/relationships" id="265" r:id="R02a77dec2d014d9d"/>
    <p:sldId xmlns:r="http://schemas.openxmlformats.org/officeDocument/2006/relationships" id="266" r:id="R987e57864c0a4193"/>
    <p:sldId xmlns:r="http://schemas.openxmlformats.org/officeDocument/2006/relationships" id="267" r:id="R9c00e19682d34c16"/>
    <p:sldId xmlns:r="http://schemas.openxmlformats.org/officeDocument/2006/relationships" id="268" r:id="R8d71883477994069"/>
    <p:sldId xmlns:r="http://schemas.openxmlformats.org/officeDocument/2006/relationships" id="269" r:id="Rcad8c8d9a6034d24"/>
    <p:sldId xmlns:r="http://schemas.openxmlformats.org/officeDocument/2006/relationships" id="270" r:id="Rd21fb78e1ff94e8d"/>
    <p:sldId xmlns:r="http://schemas.openxmlformats.org/officeDocument/2006/relationships" id="271" r:id="R321849f8ae874c77"/>
    <p:sldId xmlns:r="http://schemas.openxmlformats.org/officeDocument/2006/relationships" id="272" r:id="Rabafdd1ef3914b70"/>
    <p:sldId xmlns:r="http://schemas.openxmlformats.org/officeDocument/2006/relationships" id="273" r:id="R7ab9cd22d6fa47c3"/>
    <p:sldId xmlns:r="http://schemas.openxmlformats.org/officeDocument/2006/relationships" id="274" r:id="Rdca9b67502784e54"/>
    <p:sldId xmlns:r="http://schemas.openxmlformats.org/officeDocument/2006/relationships" id="275" r:id="R5897e4fb7eb24cf6"/>
    <p:sldId xmlns:r="http://schemas.openxmlformats.org/officeDocument/2006/relationships" id="276" r:id="Rccfcbfa8b0b4462d"/>
    <p:sldId xmlns:r="http://schemas.openxmlformats.org/officeDocument/2006/relationships" id="277" r:id="Rfbffee9d39e54f7c"/>
    <p:sldId xmlns:r="http://schemas.openxmlformats.org/officeDocument/2006/relationships" id="278" r:id="R60244ad9f67c48d1"/>
    <p:sldId xmlns:r="http://schemas.openxmlformats.org/officeDocument/2006/relationships" id="279" r:id="Rf3aabe92b8ef4af2"/>
    <p:sldId xmlns:r="http://schemas.openxmlformats.org/officeDocument/2006/relationships" id="280" r:id="R0e1910bf8c1740a8"/>
    <p:sldId xmlns:r="http://schemas.openxmlformats.org/officeDocument/2006/relationships" id="281" r:id="R25829516e8e545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e84188db2c44c6" /><Relationship Type="http://schemas.openxmlformats.org/officeDocument/2006/relationships/slideMaster" Target="/ppt/slideMasters/slideMaster1.xml" Id="R6ee58b127315471f" /><Relationship Type="http://schemas.openxmlformats.org/officeDocument/2006/relationships/notesMaster" Target="/ppt/notesMasters/notesMaster1.xml" Id="R6308aee0acd642a0" /><Relationship Type="http://schemas.openxmlformats.org/officeDocument/2006/relationships/presProps" Target="/ppt/presProps.xml" Id="R18a93491e92e4ad0" /><Relationship Type="http://schemas.openxmlformats.org/officeDocument/2006/relationships/tableStyles" Target="/ppt/tableStyles.xml" Id="R95f642e6fdc24231" /><Relationship Type="http://schemas.openxmlformats.org/officeDocument/2006/relationships/slide" Target="/ppt/slides/slide1.xml" Id="R260e4a17d17c4db2" /><Relationship Type="http://schemas.openxmlformats.org/officeDocument/2006/relationships/slide" Target="/ppt/slides/slide2.xml" Id="R1752a9cc44014cd9" /><Relationship Type="http://schemas.openxmlformats.org/officeDocument/2006/relationships/slide" Target="/ppt/slides/slide3.xml" Id="R9b44897db197403d" /><Relationship Type="http://schemas.openxmlformats.org/officeDocument/2006/relationships/slide" Target="/ppt/slides/slide4.xml" Id="R28613055461248d5" /><Relationship Type="http://schemas.openxmlformats.org/officeDocument/2006/relationships/slide" Target="/ppt/slides/slide5.xml" Id="R19b2963fe204465d" /><Relationship Type="http://schemas.openxmlformats.org/officeDocument/2006/relationships/slide" Target="/ppt/slides/slide6.xml" Id="R7d1fc2f76ca64c24" /><Relationship Type="http://schemas.openxmlformats.org/officeDocument/2006/relationships/slide" Target="/ppt/slides/slide7.xml" Id="R733b6f4f49054f4a" /><Relationship Type="http://schemas.openxmlformats.org/officeDocument/2006/relationships/slide" Target="/ppt/slides/slide8.xml" Id="Ree01b094ccc84da8" /><Relationship Type="http://schemas.openxmlformats.org/officeDocument/2006/relationships/slide" Target="/ppt/slides/slide9.xml" Id="Rec643f3741984f67" /><Relationship Type="http://schemas.openxmlformats.org/officeDocument/2006/relationships/slide" Target="/ppt/slides/slide10.xml" Id="R02a77dec2d014d9d" /><Relationship Type="http://schemas.openxmlformats.org/officeDocument/2006/relationships/slide" Target="/ppt/slides/slide11.xml" Id="R987e57864c0a4193" /><Relationship Type="http://schemas.openxmlformats.org/officeDocument/2006/relationships/slide" Target="/ppt/slides/slide12.xml" Id="R9c00e19682d34c16" /><Relationship Type="http://schemas.openxmlformats.org/officeDocument/2006/relationships/slide" Target="/ppt/slides/slide13.xml" Id="R8d71883477994069" /><Relationship Type="http://schemas.openxmlformats.org/officeDocument/2006/relationships/slide" Target="/ppt/slides/slide14.xml" Id="Rcad8c8d9a6034d24" /><Relationship Type="http://schemas.openxmlformats.org/officeDocument/2006/relationships/slide" Target="/ppt/slides/slide15.xml" Id="Rd21fb78e1ff94e8d" /><Relationship Type="http://schemas.openxmlformats.org/officeDocument/2006/relationships/slide" Target="/ppt/slides/slide16.xml" Id="R321849f8ae874c77" /><Relationship Type="http://schemas.openxmlformats.org/officeDocument/2006/relationships/slide" Target="/ppt/slides/slide17.xml" Id="Rabafdd1ef3914b70" /><Relationship Type="http://schemas.openxmlformats.org/officeDocument/2006/relationships/slide" Target="/ppt/slides/slide18.xml" Id="R7ab9cd22d6fa47c3" /><Relationship Type="http://schemas.openxmlformats.org/officeDocument/2006/relationships/slide" Target="/ppt/slides/slide19.xml" Id="Rdca9b67502784e54" /><Relationship Type="http://schemas.openxmlformats.org/officeDocument/2006/relationships/slide" Target="/ppt/slides/slide20.xml" Id="R5897e4fb7eb24cf6" /><Relationship Type="http://schemas.openxmlformats.org/officeDocument/2006/relationships/slide" Target="/ppt/slides/slide21.xml" Id="Rccfcbfa8b0b4462d" /><Relationship Type="http://schemas.openxmlformats.org/officeDocument/2006/relationships/slide" Target="/ppt/slides/slide22.xml" Id="Rfbffee9d39e54f7c" /><Relationship Type="http://schemas.openxmlformats.org/officeDocument/2006/relationships/slide" Target="/ppt/slides/slide23.xml" Id="R60244ad9f67c48d1" /><Relationship Type="http://schemas.openxmlformats.org/officeDocument/2006/relationships/slide" Target="/ppt/slides/slide24.xml" Id="Rf3aabe92b8ef4af2" /><Relationship Type="http://schemas.openxmlformats.org/officeDocument/2006/relationships/slide" Target="/ppt/slides/slide25.xml" Id="R0e1910bf8c1740a8" /><Relationship Type="http://schemas.openxmlformats.org/officeDocument/2006/relationships/slide" Target="/ppt/slides/slide26.xml" Id="R25829516e8e545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f22a3c10e344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b77ffa2eb54b22" /><Relationship Type="http://schemas.openxmlformats.org/officeDocument/2006/relationships/notesMaster" Target="/ppt/notesMasters/notesMaster1.xml" Id="R53f8da3fb6c143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af8204a8a048d1" /><Relationship Type="http://schemas.openxmlformats.org/officeDocument/2006/relationships/notesMaster" Target="/ppt/notesMasters/notesMaster1.xml" Id="Raaf98309440e42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eb59e75d9b4c9a" /><Relationship Type="http://schemas.openxmlformats.org/officeDocument/2006/relationships/notesMaster" Target="/ppt/notesMasters/notesMaster1.xml" Id="R7e0472be6a9748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c4a37a9f8d4a9e" /><Relationship Type="http://schemas.openxmlformats.org/officeDocument/2006/relationships/notesMaster" Target="/ppt/notesMasters/notesMaster1.xml" Id="Ra7ba4e8a82f541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e136505e434c8f" /><Relationship Type="http://schemas.openxmlformats.org/officeDocument/2006/relationships/notesMaster" Target="/ppt/notesMasters/notesMaster1.xml" Id="R7439669efe7c40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c3ff4cd6de4e5b" /><Relationship Type="http://schemas.openxmlformats.org/officeDocument/2006/relationships/notesMaster" Target="/ppt/notesMasters/notesMaster1.xml" Id="Rbb0f47ecd62449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3e8eeab8aa4aae" /><Relationship Type="http://schemas.openxmlformats.org/officeDocument/2006/relationships/notesMaster" Target="/ppt/notesMasters/notesMaster1.xml" Id="R052d60265a804b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285dd7091c4859" /><Relationship Type="http://schemas.openxmlformats.org/officeDocument/2006/relationships/notesMaster" Target="/ppt/notesMasters/notesMaster1.xml" Id="Rcf3d1dcc68be40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8a0c14884f4a25" /><Relationship Type="http://schemas.openxmlformats.org/officeDocument/2006/relationships/notesMaster" Target="/ppt/notesMasters/notesMaster1.xml" Id="Rab8a9698c14c4c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7bcbebe7264b7d" /><Relationship Type="http://schemas.openxmlformats.org/officeDocument/2006/relationships/notesMaster" Target="/ppt/notesMasters/notesMaster1.xml" Id="R710ee619d4f344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fd191b16478481e" /><Relationship Type="http://schemas.openxmlformats.org/officeDocument/2006/relationships/notesMaster" Target="/ppt/notesMasters/notesMaster1.xml" Id="Rb0a0393f632442f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4bd581eea34bd7" /><Relationship Type="http://schemas.openxmlformats.org/officeDocument/2006/relationships/notesMaster" Target="/ppt/notesMasters/notesMaster1.xml" Id="R1277b38fb3e949a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2c8ffbbdcc24b88" /><Relationship Type="http://schemas.openxmlformats.org/officeDocument/2006/relationships/notesMaster" Target="/ppt/notesMasters/notesMaster1.xml" Id="R1ab1845c105948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e6e35194d140b3" /><Relationship Type="http://schemas.openxmlformats.org/officeDocument/2006/relationships/notesMaster" Target="/ppt/notesMasters/notesMaster1.xml" Id="R84b9f286664c4d9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02eb3496e8f4724" /><Relationship Type="http://schemas.openxmlformats.org/officeDocument/2006/relationships/notesMaster" Target="/ppt/notesMasters/notesMaster1.xml" Id="R8fa69f301f8a495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6702c367ebb428e" /><Relationship Type="http://schemas.openxmlformats.org/officeDocument/2006/relationships/notesMaster" Target="/ppt/notesMasters/notesMaster1.xml" Id="R5054320ba5c14fc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aabd53da9644bf2" /><Relationship Type="http://schemas.openxmlformats.org/officeDocument/2006/relationships/notesMaster" Target="/ppt/notesMasters/notesMaster1.xml" Id="R81cf88394791441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d19bf6fa19a4496" /><Relationship Type="http://schemas.openxmlformats.org/officeDocument/2006/relationships/notesMaster" Target="/ppt/notesMasters/notesMaster1.xml" Id="Rabab4760f413481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0fc23a76e06495c" /><Relationship Type="http://schemas.openxmlformats.org/officeDocument/2006/relationships/notesMaster" Target="/ppt/notesMasters/notesMaster1.xml" Id="Rb79d1194a1a84fb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a2a35a1c52c4ae4" /><Relationship Type="http://schemas.openxmlformats.org/officeDocument/2006/relationships/notesMaster" Target="/ppt/notesMasters/notesMaster1.xml" Id="R7710bf58952343b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227c04a4cb24b48" /><Relationship Type="http://schemas.openxmlformats.org/officeDocument/2006/relationships/notesMaster" Target="/ppt/notesMasters/notesMaster1.xml" Id="Ra63a48bfb29245f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2c7de38dc03462a" /><Relationship Type="http://schemas.openxmlformats.org/officeDocument/2006/relationships/notesMaster" Target="/ppt/notesMasters/notesMaster1.xml" Id="R57f7d63ad2ee42e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05302f1e6294c29" /><Relationship Type="http://schemas.openxmlformats.org/officeDocument/2006/relationships/notesMaster" Target="/ppt/notesMasters/notesMaster1.xml" Id="R448088d36bd4411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c7f93c37ca64c7b" /><Relationship Type="http://schemas.openxmlformats.org/officeDocument/2006/relationships/notesMaster" Target="/ppt/notesMasters/notesMaster1.xml" Id="R8238893a73a04ac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edbc1359f2e4628" /><Relationship Type="http://schemas.openxmlformats.org/officeDocument/2006/relationships/notesMaster" Target="/ppt/notesMasters/notesMaster1.xml" Id="R91ba86ed09f1499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566679d7f02440a" /><Relationship Type="http://schemas.openxmlformats.org/officeDocument/2006/relationships/notesMaster" Target="/ppt/notesMasters/notesMaster1.xml" Id="R5e417c9cd86d40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riferimento operativo del corso. Consegna C2 del 26 ottobre 2026.</a:t>
            </a:r>
          </a:p>
          <a:p xmlns:a="http://schemas.openxmlformats.org/drawingml/2006/main">
            <a:r>
              <a:t>https://github.com/andremauroo/CIBY/blob/main/C2/README.md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https://github.com/andremauroo/CIBY/blob/main/C1/presentazione/CIBY-C1.pdf, p. 2. Foto e nomi ripresi dalla presentazione pubblicata.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riferimento operativo del corso. Consegna C2 del 26 ottobre 2026.</a:t>
            </a:r>
          </a:p>
          <a:p xmlns:a="http://schemas.openxmlformats.org/drawingml/2006/main">
            <a:r>
              <a:t>https://github.com/andremauroo/CIBY/blob/main/C2/preparazione/focus-e-decisioni.md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riferimento operativo del corso. Consegna C2 del 26 ottobre 2026.</a:t>
            </a:r>
          </a:p>
          <a:p xmlns:a="http://schemas.openxmlformats.org/drawingml/2006/main">
            <a:r>
              <a:t>https://github.com/andremauroo/CIBY/blob/main/C2/preparazione/requisiti-e-piano.md</a:t>
            </a:r>
          </a:p>
          <a:p xmlns:a="http://schemas.openxmlformats.org/drawingml/2006/main">
            <a:r>
              <a:t>Aggiornamento del 26 ottobre: diario non ancora ricevuto.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riferimento operativo del corso. Consegna C2 del 26 ottobre 2026.</a:t>
            </a:r>
          </a:p>
          <a:p xmlns:a="http://schemas.openxmlformats.org/drawingml/2006/main">
            <a:r>
              <a:t>https://github.com/andremauroo/CIBY/blob/main/C2/preparazione/requisiti-e-piano.md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https://github.com/andremauroo/CIBY/blob/main/C2/preparazione/evidenze-e-bisogni.md</a:t>
            </a:r>
          </a:p>
          <a:p xmlns:a="http://schemas.openxmlformats.org/drawingml/2006/main">
            <a:r>
              <a:t>Compito2-focus.pdf, pp. 1-2, riferimento operativo del corso. Consegna C2 del 26 ottobre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https://github.com/andremauroo/CIBY/blob/main/C2/preparazione/brainstorming-bisogni.md</a:t>
            </a:r>
          </a:p>
          <a:p xmlns:a="http://schemas.openxmlformats.org/drawingml/2006/main">
            <a:r>
              <a:t>https://www.figma.com/board/Aa9cVd9wI6ifqZyzO30I9m/Compito-2?node-id=121-228</a:t>
            </a:r>
          </a:p>
          <a:p xmlns:a="http://schemas.openxmlformats.org/drawingml/2006/main">
            <a:r>
              <a:t>Immagine del processo al 26 ottobre: confronto ancora in corso. Versione ad alta risoluzione in C2/altro/immagini-processo.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https://github.com/andremauroo/CIBY/blob/main/C2/preparazione/evidenze-e-bisogni.md</a:t>
            </a:r>
          </a:p>
          <a:p xmlns:a="http://schemas.openxmlformats.org/drawingml/2006/main">
            <a:r>
              <a:t>Candidati e collocazioni della rilettura C1. Nuovi dati e confronto potranno modificarle.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https://github.com/andremauroo/CIBY/blob/main/C2/preparazione/evidenze-e-bisogni.md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https://github.com/andremauroo/CIBY/blob/main/C2/preparazione/evidenze-e-bisogni.md</a:t>
            </a:r>
          </a:p>
          <a:p xmlns:a="http://schemas.openxmlformats.org/drawingml/2006/main">
            <a:r>
              <a:t>https://github.com/andremauroo/CIBY/blob/main/C2/preparazione/focus-e-decisioni.md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P01-E03/E05/E08/E09. P05-E03/E04/E11.</a:t>
            </a:r>
          </a:p>
          <a:p xmlns:a="http://schemas.openxmlformats.org/drawingml/2006/main">
            <a:r>
              <a:t>Scenario concettuale: dettagli, supporto ed esito sono costruzioni progettuali, non episodi osservati.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P01-E01/E09. P02-E03/E10/E12. P03-E12/E13. P05-E06.</a:t>
            </a:r>
          </a:p>
          <a:p xmlns:a="http://schemas.openxmlformats.org/drawingml/2006/main">
            <a:r>
              <a:t>Scenario concettuale: dettagli, supporto ed esito sono costruzioni progettuali, non episodi osservati.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P02-E07/E08 e C01. P03-E04/E08. Non si assume che la panna di P03 sia stata eliminata.</a:t>
            </a:r>
          </a:p>
          <a:p xmlns:a="http://schemas.openxmlformats.org/drawingml/2006/main">
            <a:r>
              <a:t>Scenario concettuale: dettagli, supporto ed esito sono costruzioni progettuali, non episodi osservati.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P02-E06/E07. P03-E05/E07. Formati, invito e scelta specifica sono dettagli narrativi, non un acquisto osservato.</a:t>
            </a:r>
          </a:p>
          <a:p xmlns:a="http://schemas.openxmlformats.org/drawingml/2006/main">
            <a:r>
              <a:t>Scenario concettuale: dettagli, supporto ed esito sono costruzioni progettuali, non episodi osservati.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https://github.com/andremauroo/CIBY/blob/main/C2/preparazione/brainstorming-e-scelta.md</a:t>
            </a:r>
          </a:p>
          <a:p xmlns:a="http://schemas.openxmlformats.org/drawingml/2006/main">
            <a:r>
              <a:t>https://www.figma.com/board/Aa9cVd9wI6ifqZyzO30I9m/Compito-2?node-id=101-228</a:t>
            </a:r>
          </a:p>
          <a:p xmlns:a="http://schemas.openxmlformats.org/drawingml/2006/main">
            <a:r>
              <a:t>Le proposte gialle sono bozze ancora da discutere. Necessità dell’AI e benefici su spreco o tempo sono ipotesi degli spunti, non risultati della ricerca.</a:t>
            </a:r>
          </a:p>
          <a:p xmlns:a="http://schemas.openxmlformats.org/drawingml/2006/main">
            <a:br/>
            <a:r>
              <a:t>Ulteriori contributi individuali di Gabriele, Rime ed Edoardo riletti nella board il 26 ottobre. Sintesi e collegamenti agli originali in C2/preparazione/brainstorming-e-scelta.md. Mancano ancora le idee di Emanuele e la documentazione della selezione conclusiva. Le immagini mostrano gli esempi iniziali di Andrea e Marco.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https://github.com/andremauroo/CIBY/blob/main/C2/preparazione/alternative-soluzione.md</a:t>
            </a:r>
          </a:p>
          <a:p xmlns:a="http://schemas.openxmlformats.org/drawingml/2006/main">
            <a:r>
              <a:t>https://github.com/andremauroo/CIBY/blob/main/C2/preparazione/soluzione-concettuale.md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https://github.com/andremauroo/CIBY/blob/main/C2/preparazione/confronto-soluzioni-esistenti.md</a:t>
            </a:r>
          </a:p>
          <a:p xmlns:a="http://schemas.openxmlformats.org/drawingml/2006/main">
            <a:r>
              <a:t>https://apps.apple.com/us/app/supercook-recipe-by-ingredient/id1477747816</a:t>
            </a:r>
          </a:p>
          <a:p xmlns:a="http://schemas.openxmlformats.org/drawingml/2006/main">
            <a:r>
              <a:t>https://samsungfood.com/foodplus-promo/uk/</a:t>
            </a:r>
          </a:p>
          <a:p xmlns:a="http://schemas.openxmlformats.org/drawingml/2006/main">
            <a:r>
              <a:t>https://support.samsungfood.com/hc/en-us/articles/30025317487508-Getting-Started-with-Food-List</a:t>
            </a:r>
          </a:p>
          <a:p xmlns:a="http://schemas.openxmlformats.org/drawingml/2006/main">
            <a:r>
              <a:t>https://support.samsungfood.com/hc/en-us/articles/35369657798548-Getting-Started-with-Meal-Planner</a:t>
            </a:r>
          </a:p>
          <a:p xmlns:a="http://schemas.openxmlformats.org/drawingml/2006/main">
            <a:r>
              <a:t>https://www.sously.app/help/substitute-ingredients/</a:t>
            </a:r>
          </a:p>
          <a:p xmlns:a="http://schemas.openxmlformats.org/drawingml/2006/main">
            <a:r>
              <a:t>https://www.sously.app/help/plan-your-week/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https://github.com/andremauroo/CIBY/blob/main/C2/preparazione/brainstorming-e-scelta.md</a:t>
            </a:r>
          </a:p>
          <a:p xmlns:a="http://schemas.openxmlformats.org/drawingml/2006/main">
            <a:r>
              <a:t>https://github.com/andremauroo/CIBY/blob/main/C2/preparazione/focus-e-decisioni.md</a:t>
            </a:r>
          </a:p>
          <a:p xmlns:a="http://schemas.openxmlformats.org/drawingml/2006/main">
            <a:r>
              <a:t>Compito2-focus.pdf, pp. 1-2, riferimento operativo del corso. Consegna C2 del 26 ottobre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https://github.com/andremauroo/CIBY/blob/main/C2/preparazione/soluzione-concettuale.md</a:t>
            </a:r>
          </a:p>
          <a:p xmlns:a="http://schemas.openxmlformats.org/drawingml/2006/main">
            <a:r>
              <a:t>https://github.com/andremauroo/CIBY/blob/main/C2/preparazione/approfondimento-sportivo-simulato.md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https://github.com/andremauroo/CIBY/blob/main/C2/preparazione/value-proposition.md</a:t>
            </a:r>
          </a:p>
          <a:p xmlns:a="http://schemas.openxmlformats.org/drawingml/2006/main">
            <a:r>
              <a:t>https://github.com/andremauroo/CIBY/blob/main/C2/preparazione/brainstorming-e-scelta.md</a:t>
            </a:r>
          </a:p>
          <a:p xmlns:a="http://schemas.openxmlformats.org/drawingml/2006/main">
            <a:br/>
            <a:r>
              <a:t>Il nome richiama il cibo, al centro dell’esperienza. Il suono amichevole è collegato alla possibilità di una futura mascotte o di un elemento caratteristico chiamato CIBY. La mascotte resta un’idea per la realizzazione successiva.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riferimento operativo del corso. Consegna C2 del 26 ottobre 2026.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https://github.com/andremauroo/CIBY/blob/main/C2/preparazione/confronto-soluzioni-esistenti.md</a:t>
            </a:r>
          </a:p>
          <a:p xmlns:a="http://schemas.openxmlformats.org/drawingml/2006/main">
            <a:r>
              <a:t>https://www.figma.com/board/Aa9cVd9wI6ifqZyzO30I9m/Compito-2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Archetipo sintetico sui temi C1. Nome, età e dettagli narrativi non identificano singoli partecipanti.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Archetipo sintetico sui temi C1. Nome, età e dettagli narrativi non identificano singoli partecipanti.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Archetipo sintetico sui temi C1. Nome, età e dettagli narrativi non identificano singoli partecipanti.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https://apps.apple.com/us/app/supercook-recipe-by-ingredient/id1477747816</a:t>
            </a:r>
          </a:p>
          <a:p xmlns:a="http://schemas.openxmlformats.org/drawingml/2006/main">
            <a:r>
              <a:t>https://samsungfood.com/foodplus-promo/uk/</a:t>
            </a:r>
          </a:p>
          <a:p xmlns:a="http://schemas.openxmlformats.org/drawingml/2006/main">
            <a:r>
              <a:t>https://support.samsungfood.com/hc/en-us/articles/30025317487508-Getting-Started-with-Food-List</a:t>
            </a:r>
          </a:p>
          <a:p xmlns:a="http://schemas.openxmlformats.org/drawingml/2006/main">
            <a:r>
              <a:t>https://support.samsungfood.com/hc/en-us/articles/35369657798548-Getting-Started-with-Meal-Planner</a:t>
            </a:r>
          </a:p>
          <a:p xmlns:a="http://schemas.openxmlformats.org/drawingml/2006/main">
            <a:r>
              <a:t>https://www.sously.app/help/substitute-ingredients/</a:t>
            </a:r>
          </a:p>
          <a:p xmlns:a="http://schemas.openxmlformats.org/drawingml/2006/main">
            <a:r>
              <a:t>https://www.sously.app/help/plan-your-week/</a:t>
            </a:r>
          </a:p>
          <a:p xmlns:a="http://schemas.openxmlformats.org/drawingml/2006/main">
            <a:r>
              <a:t>Confronto documentale: nessuna prova delle app o misurazione dei risultati. Dettagli in https://github.com/andremauroo/CIBY/blob/main/C2/preparazione/confronto-soluzioni-esistenti.md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e09c4a79fd466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5b80b8b85e42f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09edb25e364a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85575d66d54c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2d3d929d8547e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b90169dc240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E3F3BF-098F-4DD5-AF2E-8F6B6D0227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8FA611A-E9E0-4BCF-A7F8-1967938B93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F923FBF-9B39-4906-BC00-096E80A0E1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B6032C5-EFC6-4F68-A3C5-6DF24D929E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403EEBA-FA9D-40A9-A9E5-DCFEA281B1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A9B5CD9-55EF-4C93-9565-5746FBF8BC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894EAF-3419-48D8-84BF-7C3A66F809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508579-D56F-4AFF-B253-EA0C71DC59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F153BA-FBAE-4A84-84C8-BFE7713B21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42A00A2-90F4-4746-8E45-D53233CD1A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3f12aae93d4273" /><Relationship Type="http://schemas.openxmlformats.org/officeDocument/2006/relationships/slideLayout" Target="/ppt/slideLayouts/slideLayout1.xml" Id="R3623602fe89648bb" /><Relationship Type="http://schemas.openxmlformats.org/officeDocument/2006/relationships/slideLayout" Target="/ppt/slideLayouts/slideLayout2.xml" Id="Ree2a254368bc4038" /><Relationship Type="http://schemas.openxmlformats.org/officeDocument/2006/relationships/slideLayout" Target="/ppt/slideLayouts/slideLayout3.xml" Id="Rea0f3a1c81094feb" /><Relationship Type="http://schemas.openxmlformats.org/officeDocument/2006/relationships/slideLayout" Target="/ppt/slideLayouts/slideLayout4.xml" Id="R576fa38295ff4eac" /><Relationship Type="http://schemas.openxmlformats.org/officeDocument/2006/relationships/slideLayout" Target="/ppt/slideLayouts/slideLayout5.xml" Id="R233deda0b3dd4a22" /><Relationship Type="http://schemas.openxmlformats.org/officeDocument/2006/relationships/slideLayout" Target="/ppt/slideLayouts/slideLayout6.xml" Id="Rdb9ed0d68ca94e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23602fe89648bb"/>
    <p:sldLayoutId xmlns:r="http://schemas.openxmlformats.org/officeDocument/2006/relationships" id="2147483650" r:id="Ree2a254368bc4038"/>
    <p:sldLayoutId xmlns:r="http://schemas.openxmlformats.org/officeDocument/2006/relationships" id="2147483651" r:id="Rea0f3a1c81094feb"/>
    <p:sldLayoutId xmlns:r="http://schemas.openxmlformats.org/officeDocument/2006/relationships" id="2147483652" r:id="R576fa38295ff4eac"/>
    <p:sldLayoutId xmlns:r="http://schemas.openxmlformats.org/officeDocument/2006/relationships" id="2147483653" r:id="R233deda0b3dd4a22"/>
    <p:sldLayoutId xmlns:r="http://schemas.openxmlformats.org/officeDocument/2006/relationships" id="2147483654" r:id="Rdb9ed0d68ca94e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a9c2e8cd36492d" /><Relationship Type="http://schemas.openxmlformats.org/officeDocument/2006/relationships/notesSlide" Target="/ppt/notesSlides/notesSlide1.xml" Id="R34c353e900f841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98980d55d44cdb" /><Relationship Type="http://schemas.openxmlformats.org/officeDocument/2006/relationships/image" Target="/ppt/media/image.jpeg" Id="Rb7a0d53d90524527" /><Relationship Type="http://schemas.openxmlformats.org/officeDocument/2006/relationships/image" Target="/ppt/media/image2.jpeg" Id="Rbd9849fe54c24a47" /><Relationship Type="http://schemas.openxmlformats.org/officeDocument/2006/relationships/image" Target="/ppt/media/image3.jpeg" Id="R1ee2252854da40e6" /><Relationship Type="http://schemas.openxmlformats.org/officeDocument/2006/relationships/image" Target="/ppt/media/image4.jpeg" Id="Rdb0be71c1eaa415e" /><Relationship Type="http://schemas.openxmlformats.org/officeDocument/2006/relationships/image" Target="/ppt/media/image5.jpeg" Id="R4291972244164d89" /><Relationship Type="http://schemas.openxmlformats.org/officeDocument/2006/relationships/image" Target="/ppt/media/image6.jpeg" Id="Rdf43e836703c409f" /><Relationship Type="http://schemas.openxmlformats.org/officeDocument/2006/relationships/notesSlide" Target="/ppt/notesSlides/notesSlide2.xml" Id="Rab277600e6094c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5e63b97bd64675" /><Relationship Type="http://schemas.openxmlformats.org/officeDocument/2006/relationships/notesSlide" Target="/ppt/notesSlides/notesSlide3.xml" Id="R24e3a9ddda9f47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e270868cd24146" /><Relationship Type="http://schemas.openxmlformats.org/officeDocument/2006/relationships/notesSlide" Target="/ppt/notesSlides/notesSlide4.xml" Id="Rd98402f932d946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9b9a0b86e64084" /><Relationship Type="http://schemas.openxmlformats.org/officeDocument/2006/relationships/notesSlide" Target="/ppt/notesSlides/notesSlide5.xml" Id="Ra60d73c25d8243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287381f52a45bc" /><Relationship Type="http://schemas.openxmlformats.org/officeDocument/2006/relationships/notesSlide" Target="/ppt/notesSlides/notesSlide6.xml" Id="Rfa89289f173146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564cee34474379" /><Relationship Type="http://schemas.openxmlformats.org/officeDocument/2006/relationships/image" Target="/ppt/media/image.png" Id="R9e985aa096834069" /><Relationship Type="http://schemas.openxmlformats.org/officeDocument/2006/relationships/notesSlide" Target="/ppt/notesSlides/notesSlide7.xml" Id="R343e0b32df9442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0b7fa784ba4f70" /><Relationship Type="http://schemas.openxmlformats.org/officeDocument/2006/relationships/notesSlide" Target="/ppt/notesSlides/notesSlide8.xml" Id="R9d79770afced48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0c12b6563b4840" /><Relationship Type="http://schemas.openxmlformats.org/officeDocument/2006/relationships/notesSlide" Target="/ppt/notesSlides/notesSlide9.xml" Id="R649b0efad72748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2afe5d607b46ae" /><Relationship Type="http://schemas.openxmlformats.org/officeDocument/2006/relationships/notesSlide" Target="/ppt/notesSlides/notesSlide10.xml" Id="R7c306266cb6147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0ea33a8d1346db" /><Relationship Type="http://schemas.openxmlformats.org/officeDocument/2006/relationships/notesSlide" Target="/ppt/notesSlides/notesSlide11.xml" Id="Rba0088c873f0430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383c8984f54b77" /><Relationship Type="http://schemas.openxmlformats.org/officeDocument/2006/relationships/notesSlide" Target="/ppt/notesSlides/notesSlide12.xml" Id="R75e3abfc8bd144e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9f744f10c94b1f" /><Relationship Type="http://schemas.openxmlformats.org/officeDocument/2006/relationships/notesSlide" Target="/ppt/notesSlides/notesSlide13.xml" Id="Rdde796424d3746d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92ae3792a4473f" /><Relationship Type="http://schemas.openxmlformats.org/officeDocument/2006/relationships/notesSlide" Target="/ppt/notesSlides/notesSlide14.xml" Id="R77e93b01395d49e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5edcb558ae4a53" /><Relationship Type="http://schemas.openxmlformats.org/officeDocument/2006/relationships/notesSlide" Target="/ppt/notesSlides/notesSlide15.xml" Id="R960afe44737244c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3834d6e0fa4976" /><Relationship Type="http://schemas.openxmlformats.org/officeDocument/2006/relationships/image" Target="/ppt/media/image2.png" Id="R3645406033eb42d9" /><Relationship Type="http://schemas.openxmlformats.org/officeDocument/2006/relationships/image" Target="/ppt/media/image3.png" Id="Rf43b40f027c6410f" /><Relationship Type="http://schemas.openxmlformats.org/officeDocument/2006/relationships/notesSlide" Target="/ppt/notesSlides/notesSlide16.xml" Id="Ra228e526b8f149b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52efe31dd044f4" /><Relationship Type="http://schemas.openxmlformats.org/officeDocument/2006/relationships/notesSlide" Target="/ppt/notesSlides/notesSlide17.xml" Id="Rf1dcad2082f1476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32923400de4dc2" /><Relationship Type="http://schemas.openxmlformats.org/officeDocument/2006/relationships/notesSlide" Target="/ppt/notesSlides/notesSlide18.xml" Id="R82eac59d71bc44b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bb200f0cbd4e95" /><Relationship Type="http://schemas.openxmlformats.org/officeDocument/2006/relationships/notesSlide" Target="/ppt/notesSlides/notesSlide19.xml" Id="Rb9ba1199095c4dd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3542162a6a4fdb" /><Relationship Type="http://schemas.openxmlformats.org/officeDocument/2006/relationships/notesSlide" Target="/ppt/notesSlides/notesSlide20.xml" Id="Rf53a74cf505e447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abac11e2b94b23" /><Relationship Type="http://schemas.openxmlformats.org/officeDocument/2006/relationships/notesSlide" Target="/ppt/notesSlides/notesSlide21.xml" Id="Rf609da1eb3a148f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6868c2df4842ea" /><Relationship Type="http://schemas.openxmlformats.org/officeDocument/2006/relationships/notesSlide" Target="/ppt/notesSlides/notesSlide22.xml" Id="Ra77639bceb83446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96e934473a41ae" /><Relationship Type="http://schemas.openxmlformats.org/officeDocument/2006/relationships/notesSlide" Target="/ppt/notesSlides/notesSlide23.xml" Id="R226cd0c8ed86408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4bfbe432874d79" /><Relationship Type="http://schemas.openxmlformats.org/officeDocument/2006/relationships/notesSlide" Target="/ppt/notesSlides/notesSlide24.xml" Id="R5d4c847fa6c64d3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2d165107bb4051" /><Relationship Type="http://schemas.openxmlformats.org/officeDocument/2006/relationships/notesSlide" Target="/ppt/notesSlides/notesSlide25.xml" Id="R5eec304adab848a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ac53f54e9e4eb1" /><Relationship Type="http://schemas.openxmlformats.org/officeDocument/2006/relationships/hyperlink" Target="https://apps.apple.com/us/app/supercook-recipe-by-ingredient/id1477747816" TargetMode="External" Id="R5341bc50cf564450" /><Relationship Type="http://schemas.openxmlformats.org/officeDocument/2006/relationships/hyperlink" Target="https://samsungfood.com/foodplus-promo/uk/" TargetMode="External" Id="R7ca992d197584c91" /><Relationship Type="http://schemas.openxmlformats.org/officeDocument/2006/relationships/hyperlink" Target="https://support.samsungfood.com/hc/en-us/articles/30025317487508-Getting-Started-with-Food-List" TargetMode="External" Id="R9be5be7b72734800" /><Relationship Type="http://schemas.openxmlformats.org/officeDocument/2006/relationships/hyperlink" Target="https://support.samsungfood.com/hc/en-us/articles/35369657798548-Getting-Started-with-Meal-Planner" TargetMode="External" Id="Rb3ccd7b9f4d54575" /><Relationship Type="http://schemas.openxmlformats.org/officeDocument/2006/relationships/hyperlink" Target="https://www.sously.app/help/substitute-ingredients/" TargetMode="External" Id="R1a4406e9c1a0439d" /><Relationship Type="http://schemas.openxmlformats.org/officeDocument/2006/relationships/hyperlink" Target="https://www.sously.app/help/plan-your-week/" TargetMode="External" Id="Re59305d45dc74653" /><Relationship Type="http://schemas.openxmlformats.org/officeDocument/2006/relationships/notesSlide" Target="/ppt/notesSlides/notesSlide26.xml" Id="Rd903364274b842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388C8F-A224-4A54-A20F-F8D452FA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47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75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CIBY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2873A-15E5-48E9-A414-AD3BF51F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330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Gestione flessibile dei pasti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FDFB2-7A50-4B64-A558-C3C5ECC0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C2 Raffinamento e focus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A53ACC-6A0D-45BC-BAC0-17A443A4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9595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rPr>
              <a:t>Fondamenti di Human-Computer Interaction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D7E5DD"/>
                </a:solidFill>
                <a:latin typeface="Noto Sans"/>
                <a:ea typeface="Noto Sans"/>
                <a:cs typeface="Noto Sans"/>
              </a:rPr>
              <a:t>Politecnico di Milano, 26 ottobre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2BC36C-84A7-47AB-A3D0-98FD9DA8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62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D7E5DD"/>
                </a:solidFill>
                <a:latin typeface="Noto Sans"/>
                <a:ea typeface="Noto Sans"/>
                <a:cs typeface="Noto Sans"/>
              </a:rPr>
              <a:t>Bozza di lavoro</a:t>
            </a:r>
          </a:p>
        </p:txBody>
      </p:sp>
    </p:spTree>
    <p:extLst>
      <p:ext uri="{BB962C8B-B14F-4D97-AF65-F5344CB8AC3E}">
        <p14:creationId xmlns:p14="http://schemas.microsoft.com/office/powerpoint/2010/main" val="8647390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8ACF2C-2A09-41EE-BBF7-D59309A7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Il gruppo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CC2E1-8C37-4453-BFF1-0C07BFE4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MAGGICAL. Fotografie già utilizzate nella C1 · Bozza C2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4F01F-8F5F-4859-9010-2DD6A3FC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642D2-4527-4A23-A36D-8FAB816084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a0d53d90524527"/>
          <a:srcRect xmlns:a="http://schemas.openxmlformats.org/drawingml/2006/main" l="23500" t="26333" r="59735" b="53667"/>
          <a:stretch xmlns:a="http://schemas.openxmlformats.org/drawingml/2006/main"/>
        </p:blipFill>
        <p:spPr>
          <a:xfrm xmlns:a="http://schemas.openxmlformats.org/drawingml/2006/main">
            <a:off x="666750" y="1457325"/>
            <a:ext cx="1809750" cy="1619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9F8DC-809B-4203-9FF7-9C030E29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004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Andrea Mauro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62812F-CAA5-4A67-866E-35A98D2D13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849fe54c24a47"/>
          <a:srcRect xmlns:a="http://schemas.openxmlformats.org/drawingml/2006/main" l="20000" t="4500" r="20000" b="61000"/>
          <a:stretch xmlns:a="http://schemas.openxmlformats.org/drawingml/2006/main"/>
        </p:blipFill>
        <p:spPr>
          <a:xfrm xmlns:a="http://schemas.openxmlformats.org/drawingml/2006/main">
            <a:off x="4419600" y="1457325"/>
            <a:ext cx="1809750" cy="1619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A10EA-1434-42F6-8456-FEF049E1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004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Marco Macherelli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BC79E-21FC-439E-969A-6A146C61F6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2252854da40e6"/>
          <a:srcRect xmlns:a="http://schemas.openxmlformats.org/drawingml/2006/main" l="0" t="18000" r="0" b="14000"/>
          <a:stretch xmlns:a="http://schemas.openxmlformats.org/drawingml/2006/main"/>
        </p:blipFill>
        <p:spPr>
          <a:xfrm xmlns:a="http://schemas.openxmlformats.org/drawingml/2006/main">
            <a:off x="8172450" y="1457325"/>
            <a:ext cx="1809750" cy="16192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F841E-143F-426E-A116-350DDBC7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Gabriele Martignoni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18C46-887B-4357-943D-1EB40F9E45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0be71c1eaa415e"/>
          <a:srcRect xmlns:a="http://schemas.openxmlformats.org/drawingml/2006/main" l="0" t="0" r="0" b="19122"/>
          <a:stretch xmlns:a="http://schemas.openxmlformats.org/drawingml/2006/main"/>
        </p:blipFill>
        <p:spPr>
          <a:xfrm xmlns:a="http://schemas.openxmlformats.org/drawingml/2006/main">
            <a:off x="666750" y="3724275"/>
            <a:ext cx="1809750" cy="16192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B49512-9F50-4701-B140-94D0F831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Rime Chamkar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379703-8781-4AEE-B707-1EAE656A66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1972244164d89"/>
          <a:srcRect xmlns:a="http://schemas.openxmlformats.org/drawingml/2006/main" l="0" t="3000" r="0" b="7500"/>
          <a:stretch xmlns:a="http://schemas.openxmlformats.org/drawingml/2006/main"/>
        </p:blipFill>
        <p:spPr>
          <a:xfrm xmlns:a="http://schemas.openxmlformats.org/drawingml/2006/main">
            <a:off x="4419600" y="3724275"/>
            <a:ext cx="1809750" cy="16192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F5A0AC-6D22-4FB4-BECE-15154832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4673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Emanuele Marcantonio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0D82FF-3B90-4BBF-9D7D-067CF1DC5C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43e836703c409f"/>
          <a:srcRect xmlns:a="http://schemas.openxmlformats.org/drawingml/2006/main" l="37917" t="39063" r="37083" b="44188"/>
          <a:stretch xmlns:a="http://schemas.openxmlformats.org/drawingml/2006/main"/>
        </p:blipFill>
        <p:spPr>
          <a:xfrm xmlns:a="http://schemas.openxmlformats.org/drawingml/2006/main">
            <a:off x="8172450" y="3724275"/>
            <a:ext cx="1809750" cy="161925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7C4DD3-CAD6-417F-8D53-C572FDE6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673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Edoardo Ughi</a:t>
            </a:r>
          </a:p>
        </p:txBody>
      </p:sp>
    </p:spTree>
    <p:extLst>
      <p:ext uri="{BB962C8B-B14F-4D97-AF65-F5344CB8AC3E}">
        <p14:creationId xmlns:p14="http://schemas.microsoft.com/office/powerpoint/2010/main" val="9258929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CF059C-7503-4EF2-9541-870E5B09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Dominio e approfondimento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A46EE8-E5DE-4040-A830-3C8900B1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Giovani adulti che si occupano della propria spesa e dei pasti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6937E-D904-4B46-B62B-CB002C44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Base: report C1 P01-P05 e feedback dei docenti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C583A5-1D36-435D-8C02-ABED50A8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DB24D-B281-4670-9397-F5D7F9B3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0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Base C1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6AA3B0-CEE9-4BD4-BCF1-09AD455A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000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9483E"/>
                </a:solidFill>
              </a:defRPr>
            </a:pPr>
            <a:r>
              <a: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Nella C1 abbiamo esplorato acquisti, preparazioni quotidiane e gestione degli alimenti attraverso cinque interviste.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50D97A-BF98-4B4F-9EE0-88B734AA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86000"/>
            <a:ext cx="500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Domanda C2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B8C698-5BCA-426F-966F-E53ADF97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81300"/>
            <a:ext cx="5000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9483E"/>
                </a:solidFill>
              </a:defRPr>
            </a:pPr>
            <a:r>
              <a: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Quando un programma cambia, come decidono che cosa cucinare e che cosa fare degli ingredienti?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4FDCB6-D4D1-49C1-991E-E1CB82AB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586B62"/>
                </a:solidFill>
              </a:defRPr>
            </a:pPr>
            <a:r>
              <a: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Feedback C1: approfondire la routine con un diario di spesa e preparazioni. Nel racconto, presentare le ragioni prima delle scelte.</a:t>
            </a:r>
          </a:p>
        </p:txBody>
      </p:sp>
    </p:spTree>
    <p:extLst>
      <p:ext uri="{BB962C8B-B14F-4D97-AF65-F5344CB8AC3E}">
        <p14:creationId xmlns:p14="http://schemas.microsoft.com/office/powerpoint/2010/main" val="8287096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F18824-BB7C-40CA-A2DB-4D8503E2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Approfondimento con P02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DAB01-FD77-4006-A7D1-404927D4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Materiale in attesa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AF7DD-C892-4CE6-9B3F-31492A51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Scheda P02-C2-D01. Materiale in attesa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A9AB75-A3D2-46DA-B485-9947A30C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8B2E0D-2743-4E3A-AA9F-D54A1BF4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38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83D32"/>
                </a:solidFill>
              </a:defRPr>
            </a:pPr>
            <a:r>
              <a: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Diario di circa 3–4 giorni su spesa e alimenti preparati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E035C8-0A52-4523-BF35-0464F31F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Informazioni da registrare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C5012-75E1-4A9C-BEB3-8382EF1A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50958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Periodo effettivo, contesto e modalità di raccolta. Distinguere annotazioni quotidiane da ricostruzione a posteriori.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064FF-E03B-4861-9904-822F25B5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67100"/>
            <a:ext cx="500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Pertinenza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D8BA-3F22-4890-8437-C924DB81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62400"/>
            <a:ext cx="50006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P02 ha già partecipato alla C1 e gestisce spesa e pasti. Il diario potrà descrivere decisioni e cambiamenti nella sua routine.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D928D-6508-4733-9FAC-9466A637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8B5D14"/>
                </a:solidFill>
              </a:defRPr>
            </a:pPr>
            <a:r>
              <a: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Al momento non disponiamo di nuove osservazioni con utenti.</a:t>
            </a:r>
          </a:p>
        </p:txBody>
      </p:sp>
    </p:spTree>
    <p:extLst>
      <p:ext uri="{BB962C8B-B14F-4D97-AF65-F5344CB8AC3E}">
        <p14:creationId xmlns:p14="http://schemas.microsoft.com/office/powerpoint/2010/main" val="7548844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E3906-0C9E-4913-8BD6-78548D8C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Episodi del diario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483EE-D3EC-42CE-AEC1-D1BEDC2E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Da compilare soltanto dopo aver ricevuto il materiale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7829F-3819-422E-AEA2-25BB783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Diario P02. Episodi da integrare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53300-61FC-49ED-BE67-A098B12E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03F10-9A37-4C1A-AB2E-E4CF6172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83D32"/>
                </a:solidFill>
              </a:defRPr>
            </a:pPr>
            <a:r>
              <a:rPr sz="285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Estratti e occasioni reali di consumo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4016D-6586-4125-8987-F4C4AC0A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9483E"/>
                </a:solidFill>
              </a:defRPr>
            </a:pPr>
            <a:r>
              <a: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Per ogni episodio: che cosa era disponibile, che cosa P02 aveva previsto e che cosa ha preparato o acquistato.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944B6-24C9-4D59-843B-2DF5DCFF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8B5D14"/>
                </a:solidFill>
              </a:defRPr>
            </a:pPr>
            <a:r>
              <a:rPr sz="225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Conservare anche le strategie che funzionano e gli episodi che contraddicono le ipotesi iniziali.</a:t>
            </a:r>
          </a:p>
        </p:txBody>
      </p:sp>
    </p:spTree>
    <p:extLst>
      <p:ext uri="{BB962C8B-B14F-4D97-AF65-F5344CB8AC3E}">
        <p14:creationId xmlns:p14="http://schemas.microsoft.com/office/powerpoint/2010/main" val="3871662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D8FF2-D92C-46F7-BAB0-E226F01F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Integrazione con l’analisi C1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ECFFC4-AE5F-4075-9EAE-0701DA9F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Schema di analisi predisposto. Gli esiti del diario sono ancora da ricavare.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4E74FC-CF0B-4D47-BD6D-104D8308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Report C1 e schema di integrazione tematica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1D645-C5F2-4F7E-A4B4-1B544633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06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2CA52-B07A-4A3A-83EC-40BE4E7E0AA0}"/>
              </a:ext>
            </a:extLst>
          </p:cNvPr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5953125"/>
                <a:gridCol w="2390775"/>
              </a:tblGrid>
              <a:tr h="4953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Tema C1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Che cosa cercare nel diario</a:t>
                      </a:r>
                    </a:p>
                  </a:txBody>
                  <a:tcPr marL="114300" marR="114300" marT="76200" marB="762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Esito</a:t>
                      </a:r>
                    </a:p>
                  </a:txBody>
                  <a:tcPr marL="114300" marR="114300" marT="76200" marB="762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Alimenti disponibili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Prodotti riconosciuti, trascurati o usati prima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Da analizzare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Pasto praticabile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Tempo, impegno e preparazioni già familiari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Da analizzare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Cambiamenti e quantità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Rinvii, destinazioni successive, acquisti e consumo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Da analizzare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E7378C-D873-415D-8C78-35A475A4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8B5D14"/>
                </a:solidFill>
              </a:defRPr>
            </a:pPr>
            <a:r>
              <a:rPr sz="1875" b="1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Aggiornare bisogni e priorità in base ai riscontri, senza presupporre che confermino D3.</a:t>
            </a:r>
          </a:p>
        </p:txBody>
      </p:sp>
    </p:spTree>
    <p:extLst>
      <p:ext uri="{BB962C8B-B14F-4D97-AF65-F5344CB8AC3E}">
        <p14:creationId xmlns:p14="http://schemas.microsoft.com/office/powerpoint/2010/main" val="60486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B96CC-06A0-40A4-9C1A-59695B66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Brainstorming sui bisogni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358CA-C8F9-4FD4-B959-B81F3CE2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Rilettura C1, raggruppamenti e confronto in corso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EDF85-92DA-4C5D-8459-CC89040F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FigJam 121:236. Tutti gli otto candidati e primi commenti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972F18-2432-4E4D-927B-5929A140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07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6CA7DB-87E2-4310-8B2F-B0BAC393D8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985aa096834069"/>
          <a:stretch xmlns:a="http://schemas.openxmlformats.org/drawingml/2006/main"/>
        </p:blipFill>
        <p:spPr>
          <a:xfrm xmlns:a="http://schemas.openxmlformats.org/drawingml/2006/main">
            <a:off x="2018399" y="1952625"/>
            <a:ext cx="8155202" cy="37623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0D4CB7-B887-48A3-B1CD-46815BB8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B01-B04 selezionati. C05 dentro B02, C06 come vincolo, C07 come contesto e C08 rinviato.</a:t>
            </a:r>
          </a:p>
        </p:txBody>
      </p:sp>
    </p:spTree>
    <p:extLst>
      <p:ext uri="{BB962C8B-B14F-4D97-AF65-F5344CB8AC3E}">
        <p14:creationId xmlns:p14="http://schemas.microsoft.com/office/powerpoint/2010/main" val="15877026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C2F49B-EAD2-48F8-BE0E-C0A1F63B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Candidati integrati, trasversali o rinviati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4C48C-79F9-42FF-A03E-097477D8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Abbiamo mantenuto le ragioni anche per i bisogni non selezionati come attività autonome.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3C9E0C-348F-4F6A-87B4-D75A465DA146}"/>
              </a:ext>
            </a:extLst>
          </p:cNvPr>
          <p:cNvGraphicFramePr/>
          <p:nvPr/>
        </p:nvGraphicFramePr>
        <p:xfrm>
          <a:off xmlns:a="http://schemas.openxmlformats.org/drawingml/2006/main" x="609600" y="2209800"/>
          <a:ext xmlns:a="http://schemas.openxmlformats.org/drawingml/2006/main" cx="109728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4143375"/>
                <a:gridCol w="5162550"/>
              </a:tblGrid>
              <a:tr h="4953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Candidato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Attività</a:t>
                      </a:r>
                    </a:p>
                  </a:txBody>
                  <a:tcPr marL="114300" marR="114300" marT="76200" marB="762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Collocazione e ragione</a:t>
                      </a:r>
                    </a:p>
                  </a:txBody>
                  <a:tcPr marL="114300" marR="114300" marT="76200" marB="762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C05</a:t>
                      </a:r>
                    </a:p>
                  </a:txBody>
                  <a:tcPr marL="114300" marR="114300" marT="57150" marB="5715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Valutare e adattare una ricetta</a:t>
                      </a:r>
                    </a:p>
                  </a:txBody>
                  <a:tcPr marL="114300" marR="114300" marT="57150" marB="5715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Dentro B02: chiarisce fattibilità e familiarità</a:t>
                      </a:r>
                    </a:p>
                  </a:txBody>
                  <a:tcPr marL="114300" marR="114300" marT="57150" marB="5715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C06</a:t>
                      </a:r>
                    </a:p>
                  </a:txBody>
                  <a:tcPr marL="114300" marR="114300" marT="57150" marB="5715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Ottenere supporto con sforzo sostenibile</a:t>
                      </a:r>
                    </a:p>
                  </a:txBody>
                  <a:tcPr marL="114300" marR="114300" marT="57150" marB="5715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Vincolo trasversale: riscontro soprattutto in P01</a:t>
                      </a:r>
                    </a:p>
                  </a:txBody>
                  <a:tcPr marL="114300" marR="114300" marT="57150" marB="5715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C07</a:t>
                      </a:r>
                    </a:p>
                  </a:txBody>
                  <a:tcPr marL="114300" marR="114300" marT="57150" marB="5715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Organizzare il pasto fuori casa</a:t>
                      </a:r>
                    </a:p>
                  </a:txBody>
                  <a:tcPr marL="114300" marR="114300" marT="57150" marB="5715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Contesto di B02/B03, con strategie già efficaci</a:t>
                      </a:r>
                    </a:p>
                  </a:txBody>
                  <a:tcPr marL="114300" marR="114300" marT="57150" marB="5715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C08</a:t>
                      </a:r>
                    </a:p>
                  </a:txBody>
                  <a:tcPr marL="114300" marR="114300" marT="57150" marB="5715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Coordinare menu nella coppia</a:t>
                      </a:r>
                    </a:p>
                  </a:txBody>
                  <a:tcPr marL="114300" marR="114300" marT="57150" marB="5715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263B34"/>
                          </a:solidFill>
                          <a:latin typeface="Noto Sans"/>
                          <a:ea typeface="Noto Sans"/>
                          <a:cs typeface="Noto Sans"/>
                        </a:rPr>
                        <a:t>Rinviato: preoccupazione futura in P01</a:t>
                      </a:r>
                    </a:p>
                  </a:txBody>
                  <a:tcPr marL="114300" marR="114300" marT="57150" marB="5715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AC8839-7FEB-4995-9295-DAB258AE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B01-B04 restano quattro attività distinte, presentate nelle slide successive.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EDC40C-61CE-4524-9EBC-DF8ED897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P02-E10/E12; P03-E10/E11/E12; P01-E02/E03/E04/E07/E09; P04-E02/E04 · Bozza C2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0D16F-AACF-4FFA-9954-06C2D8AC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690481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EC08C-3783-4343-B7F6-C0763BBA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Riconoscere gli alimenti e scegliere il pasto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51B03-D5E9-4342-867E-AE2DDC76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B01 e B02 sono attività distinte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328DF-4496-45EA-8720-0C8E97B8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P01-E05; P05-E03/E04/E11. P02-E03/E10/E12; P03-E12/E13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3B33F-68C5-4B38-84AA-475BF508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D1252-1FA0-4F71-A0BA-DA67396B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B01 · Disponibilità e priorità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D4EA0-0F74-41AC-BE8C-80760BFC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9483E"/>
                </a:solidFill>
              </a:defRPr>
            </a:pPr>
            <a:r>
              <a: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Riconoscere gli alimenti presenti e stabilire quali utilizzare prima.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17A12-2107-4BBA-A7FF-C792ECA9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P01-E05: yogurt non visto, riacquistato e poi eliminato.</a:t>
            </a:r>
          </a:p>
          <a:p xmlns:a="http://schemas.openxmlformats.org/drawingml/2006/main">
            <a:pPr>
              <a:buNone/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P05-E03/E04/E11: prodotti trascurati e strategia di portare davanti quelli più vecchi.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5410A9-BCD3-44EF-BD6B-4450A26F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526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B02 · Pasto praticabile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838AB-9B2B-47CB-AB10-2902D8FA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47950"/>
            <a:ext cx="5048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9483E"/>
                </a:solidFill>
              </a:defRPr>
            </a:pPr>
            <a:r>
              <a: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Scegliere una preparazione compatibile con ingredienti, tempo, impegno e preferenze.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50292-84DE-4279-A0FE-5B32C7EF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000500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P02-E03/E10/E12: valuta lo sforzo e si affida a ricette conosciute.</a:t>
            </a:r>
          </a:p>
          <a:p xmlns:a="http://schemas.openxmlformats.org/drawingml/2006/main">
            <a:pPr>
              <a:buNone/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P03-E12/E13: desiderio di varietà e preparazioni semplici.</a:t>
            </a:r>
          </a:p>
        </p:txBody>
      </p:sp>
    </p:spTree>
    <p:extLst>
      <p:ext uri="{BB962C8B-B14F-4D97-AF65-F5344CB8AC3E}">
        <p14:creationId xmlns:p14="http://schemas.microsoft.com/office/powerpoint/2010/main" val="18579710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81B498-6E73-46FE-97AB-F1B6DBB8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Adattare i pasti e valutare le quantità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B1414-2D77-45BE-BE1F-6FD69047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B03 e B04 collegano ingredienti e occasioni di consumo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01935-2E09-4F01-A834-0CC7AA03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P02-E06/E07/E08 e C01; P03-E04/E05/E07/E08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4B25D-6CC9-475E-91CC-53D2ABAE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04D7C-DB06-4152-BD2D-C619D8E0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B03 · Dopo un cambiamento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1AE89-A36C-47B9-B501-6CB7225A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5048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Riorganizzare l’utilizzo degli ingredienti quando cambia una preparazione o un pasto.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577358-D298-4064-9F06-52622270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048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9483E"/>
                </a:solidFill>
              </a:defRPr>
            </a:pPr>
            <a:r>
              <a: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P02-E07/E08: confezioni avanzate e programmi cambiati.</a:t>
            </a:r>
          </a:p>
          <a:p xmlns:a="http://schemas.openxmlformats.org/drawingml/2006/main">
            <a:pPr>
              <a:buNone/>
              <a:defRPr sz="1875" b="0">
                <a:solidFill>
                  <a:srgbClr val="29483E"/>
                </a:solidFill>
              </a:defRPr>
            </a:pPr>
            <a:r>
              <a: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P03-E04: rinvio del pollo riuscito. P03-E08: panna inutilizzata per un ingrediente mancante, senza eliminazione accertata.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7BF678-4829-4974-A4CC-81F80B7E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B04 · Prima dell’acquisto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CC2D0-77EC-4379-8EC5-0A31AC79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9850"/>
            <a:ext cx="5048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Valutare quantità compatibili con ciò che si possiede e con occasioni realistiche di consumo.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D053FA-9AF8-44A2-8512-322B5142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57625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P02-E06/E07: quantità minime e confezioni grandi.</a:t>
            </a:r>
          </a:p>
          <a:p xmlns:a="http://schemas.openxmlformats.org/drawingml/2006/main">
            <a:pPr>
              <a:buNone/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P03-E05/E07: tempi di consumo dei freschi e confezioni che superano l’uso previsto.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0467A-F644-4A0C-BD67-AA50F7C1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388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A44628"/>
                </a:solidFill>
              </a:defRPr>
            </a:pPr>
            <a:r>
              <a:rPr sz="18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Il nostro focus: gestione flessibile dei pasti.</a:t>
            </a:r>
          </a:p>
        </p:txBody>
      </p:sp>
    </p:spTree>
    <p:extLst>
      <p:ext uri="{BB962C8B-B14F-4D97-AF65-F5344CB8AC3E}">
        <p14:creationId xmlns:p14="http://schemas.microsoft.com/office/powerpoint/2010/main" val="2005062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8BD2D-C131-47FE-9438-E2CD18B3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Tre personas con obiettivi distinti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410187-4120-4ED3-9432-F5EA3E81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Archetipi progettuali fondati sui temi C1, con nomi e dettagli narrativi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2A3B42-CDC9-4C26-B7EF-6B77D313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Personas: sintesi dei temi C1. Schede complete in appendice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117A0F-85C6-4749-927E-8554D27D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DD5A6D-B861-4D0F-AB59-FF0DED14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Luca · Primaria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F5CD5-8D94-4D06-8986-E1341C83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7475"/>
            <a:ext cx="3333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21 anni, studente.</a:t>
            </a:r>
          </a:p>
          <a:p xmlns:a="http://schemas.openxmlformats.org/drawingml/2006/main">
            <a:pPr>
              <a:buNone/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Riorganizza ingredienti e pasti e valuta le quantità prima dell’acquisto.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600071-6AE2-4F01-9EAC-4124230C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1621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Gianfranco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823C7-FCB7-4C1B-8D5A-4C86430B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657475"/>
            <a:ext cx="3333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21 anni, studente fuori sede.</a:t>
            </a:r>
          </a:p>
          <a:p xmlns:a="http://schemas.openxmlformats.org/drawingml/2006/main">
            <a:pPr>
              <a:buNone/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Sceglie una cena praticabile tra preparazioni familiari e desiderio di variare.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28F74-CCAF-4FAE-9521-49CDEEF7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6217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Marta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81681-686E-4429-970A-3ABA0858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57475"/>
            <a:ext cx="32194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26 anni, studia e lavora.</a:t>
            </a:r>
          </a:p>
          <a:p xmlns:a="http://schemas.openxmlformats.org/drawingml/2006/main">
            <a:pPr>
              <a:buNone/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Coordina cena per due e pranzo del giorno dopo, includendo alimenti fuori routine.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FED00-B76C-402D-AB07-E1C36454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86B62"/>
                </a:solidFill>
              </a:defRPr>
            </a:pPr>
            <a:r>
              <a: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Luca collega B03 e B04. La sua priorità è una scelta progettuale di lavoro da riesaminare insieme al confronto sui bisogni.</a:t>
            </a:r>
          </a:p>
        </p:txBody>
      </p:sp>
    </p:spTree>
    <p:extLst>
      <p:ext uri="{BB962C8B-B14F-4D97-AF65-F5344CB8AC3E}">
        <p14:creationId xmlns:p14="http://schemas.microsoft.com/office/powerpoint/2010/main" val="11585993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606EC-B8A8-4EF6-9E5C-93AA6242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M · Cena e pranzo del giorno dopo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ECFCC-D4C2-4BD0-A7D9-6A6BDF70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Marta · B01 · Scenario concettuale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7BFAC-2409-4A9C-A7D9-013DE9BD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P01-E03/E05/E08/E09; P05-E03/E04/E11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9A4B7F-BB47-478F-9EDB-919CF86F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49E57-20B7-4ACD-97BC-8861C5AB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Marta deve preparare la cena per due e il proprio pranzo da portare al lavoro. Nota un prodotto fresco fuori dalle abitudini che rischiava di restare escluso dalla scelta.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91B7FE-005A-4F87-8BF1-66171531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Decisione da sostenere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320F8-8975-4127-9761-3308AAD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Valutare la priorità dell’alimento e decidere in quale preparazione inserirlo.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858AE-69BC-4320-8829-51F9F45B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719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Esito desiderato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E8B9F-BDD8-4C06-A053-DC706A85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67225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Riconoscere il prodotto trascurato e assegnargli un utilizzo, mantenendo la routine.</a:t>
            </a:r>
          </a:p>
        </p:txBody>
      </p:sp>
    </p:spTree>
    <p:extLst>
      <p:ext uri="{BB962C8B-B14F-4D97-AF65-F5344CB8AC3E}">
        <p14:creationId xmlns:p14="http://schemas.microsoft.com/office/powerpoint/2010/main" val="19646112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D1A25B-DF04-4BC2-BA7E-897E96A1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G · La cena dopo le lezioni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456082-49FB-4435-82F3-15D320C2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Gianfranco · B02 · Scenario concettuale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ED954-0E90-415D-B3B4-163BA972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P01-E01/E09; P02-E03/E10/E12; P03-E12/E13; P05-E06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81DD5-E192-4912-A94B-60E56008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D09AC5-0002-4EA1-8F1B-DB3CDF84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Gianfranco rientra dopo le lezioni e deve cenare prima di riprendere a studiare. Una ricetta interessante richiederebbe più lavoro di quanto vuole dedicare alla serata.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553395-5926-450A-82AE-27ECB9D3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Decisione da sostenere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365C4-5E9E-47B1-8A99-5E6E5120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Confrontare alternative rispetto a ingredienti, tempo, passaggi e impegno.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8F681-0FE2-4749-B044-AC17B674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719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Esito desiderato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FC7DDA-2BC9-49A7-8237-7192F890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67225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Scegliere una preparazione e spiegare perché è compatibile con la situazione.</a:t>
            </a:r>
          </a:p>
        </p:txBody>
      </p:sp>
    </p:spTree>
    <p:extLst>
      <p:ext uri="{BB962C8B-B14F-4D97-AF65-F5344CB8AC3E}">
        <p14:creationId xmlns:p14="http://schemas.microsoft.com/office/powerpoint/2010/main" val="16345924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C7C77-3176-44B0-BE47-1399E576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L · Manca un ingrediente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512BC-72BC-42D4-A5E3-B2DF25CD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Luca · B03 · Scenario concettuale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533F5-9C58-4386-97AF-E46A7012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P02-E07/E08 e C01; P03-E04/E08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A8DD3-D03D-4490-AA68-214C6B63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B7914-6399-4D59-A3BF-037A2851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Luca scopre che manca un ingrediente per la cena prevista. Gli altri acquisti sono già disponibili e uscire di nuovo cambierebbe i tempi della serata.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5EED2-C8F4-4404-83AD-BACBFEF1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Decisione da sostenere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66836-3091-4421-8403-8961D50E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Confrontare una preparazione diversa con il rinvio, chiarendo che cosa resta da utilizzare.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9DEF4D-1BD1-4CD7-9D7D-5581D46E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719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Esito desiderato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111CC0-03D0-4CF3-97D0-54EFEC7B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67225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Adattare la cena e assegnare agli ingredienti rinviati un altro pasto effettivamente previsto.</a:t>
            </a:r>
          </a:p>
        </p:txBody>
      </p:sp>
    </p:spTree>
    <p:extLst>
      <p:ext uri="{BB962C8B-B14F-4D97-AF65-F5344CB8AC3E}">
        <p14:creationId xmlns:p14="http://schemas.microsoft.com/office/powerpoint/2010/main" val="9512182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04164-53C6-480B-A965-67F453E3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A · La confezione e i pasti previsti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1CD8B-6F59-4A4E-864F-63EA0071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Luca · B04 · Scenario concettuale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A7EFE-2695-4218-BA38-608F54BC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P02-E06/E07; P03-E05/E07. Dettagli dell’acquisto narrativi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465756-31D4-444D-B46B-2198F4D5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1A6FD-37DB-46A6-B6AF-F472B5B4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Luca fa la spesa e ha già un alimento fresco a casa. Prevede poche cene certe e una ancora incerta. Confronta una confezione conveniente grande con un formato più piccolo.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390319-3668-43DA-9415-03B003BA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Decisione da sostenere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81785-D532-4A0A-9382-A094C800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Valutare quantità, scorte e occasioni confermate o incerte prima di comprare.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272DF-BCAD-4233-9B0F-BD38A70C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719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Esito desiderato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7869E-8169-498F-9ACE-750E1766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67225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Motivare una quantità che abbia un utilizzo concreto, lasciando un eventuale acquisto a quando servirà.</a:t>
            </a:r>
          </a:p>
        </p:txBody>
      </p:sp>
    </p:spTree>
    <p:extLst>
      <p:ext uri="{BB962C8B-B14F-4D97-AF65-F5344CB8AC3E}">
        <p14:creationId xmlns:p14="http://schemas.microsoft.com/office/powerpoint/2010/main" val="17898133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84DA2-833B-40B8-BA83-7C55AD60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Idee individuali e confronto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7150E-43D9-41DE-A906-12C48F1B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Contributi disponibili e proposte ancora in bozza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5EDC9-4A57-437A-AC17-9E51D49E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FigJam 101:238 e 101:241. Stato del 26 ottobre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1E6A15-1AFE-41A8-B430-8B73C626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0CC66-D06A-4FAD-AEAD-65E3B79B7F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45406033eb42d9"/>
          <a:stretch xmlns:a="http://schemas.openxmlformats.org/drawingml/2006/main"/>
        </p:blipFill>
        <p:spPr>
          <a:xfrm xmlns:a="http://schemas.openxmlformats.org/drawingml/2006/main">
            <a:off x="1125294" y="1952625"/>
            <a:ext cx="4207362" cy="3810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E39F8C-D988-4736-A435-2DD79CB197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3b40f027c6410f"/>
          <a:stretch xmlns:a="http://schemas.openxmlformats.org/drawingml/2006/main"/>
        </p:blipFill>
        <p:spPr>
          <a:xfrm xmlns:a="http://schemas.openxmlformats.org/drawingml/2006/main">
            <a:off x="6343650" y="1962503"/>
            <a:ext cx="5238750" cy="310444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37F921-B8DB-442E-BF87-4CDD9FDD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38750"/>
            <a:ext cx="523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Già presenti anche Gabriele, Rime ed Edoardo. Restano Emanuele e la selezione.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D8C32-B91A-4FCF-B2CB-0D4C5EDB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60102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725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65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725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AI e benefici sono ipotesi da valutare.</a:t>
            </a:r>
          </a:p>
        </p:txBody>
      </p:sp>
    </p:spTree>
    <p:extLst>
      <p:ext uri="{BB962C8B-B14F-4D97-AF65-F5344CB8AC3E}">
        <p14:creationId xmlns:p14="http://schemas.microsoft.com/office/powerpoint/2010/main" val="2603294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A07CF4-9E8B-47ED-8521-9513368A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Tre direzioni concettuali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AF9A2-24FE-4073-AFEC-43E89580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Alternative di supporto alle attività, prima delle scelte tecnologiche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62E3B-9881-410A-8D66-4FF08B94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Scenari M/G/L/A e proposte PRE-01-PRE-08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030CA-200A-499A-A518-C2815B2B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17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1DC72-EC16-4340-B1CD-F6BB6FC0A1A7}"/>
              </a:ext>
            </a:extLst>
          </p:cNvPr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3905250"/>
                <a:gridCol w="5153025"/>
              </a:tblGrid>
              <a:tr h="4953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</a:rPr>
                        <a:t>Direzione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</a:rPr>
                        <a:t>Punto di partenza</a:t>
                      </a:r>
                    </a:p>
                  </a:txBody>
                  <a:tcPr marL="114300" marR="114300" marT="76200" marB="762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</a:rPr>
                        <a:t>Attività centrale</a:t>
                      </a:r>
                    </a:p>
                  </a:txBody>
                  <a:tcPr marL="114300" marR="114300" marT="76200" marB="762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B34"/>
                          </a:solidFill>
                        </a:rPr>
                        <a:t>D1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B34"/>
                          </a:solidFill>
                        </a:rPr>
                        <a:t>Un alimento disponibile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B34"/>
                          </a:solidFill>
                        </a:rPr>
                        <a:t>Trovargli un prossimo utilizzo concreto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B34"/>
                          </a:solidFill>
                        </a:rPr>
                        <a:t>D2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B34"/>
                          </a:solidFill>
                        </a:rPr>
                        <a:t>Il tempo e l’impegno possibili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B34"/>
                          </a:solidFill>
                        </a:rPr>
                        <a:t>Scegliere una preparazione praticabile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B34"/>
                          </a:solidFill>
                        </a:rPr>
                        <a:t>D3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B34"/>
                          </a:solidFill>
                        </a:rPr>
                        <a:t>Un cambiamento di programma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B34"/>
                          </a:solidFill>
                        </a:rPr>
                        <a:t>Riorganizzare ingredienti, pasti successivi e acquisti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9232E-3FF6-41E6-8C1E-C11B5021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586B62"/>
                </a:solidFill>
              </a:defRPr>
            </a:pPr>
            <a:r>
              <a:rPr sz="202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D3 collega soprattutto B03/B04 e usa B01/B02 per riconoscere priorità e fattibilità.</a:t>
            </a:r>
          </a:p>
        </p:txBody>
      </p:sp>
    </p:spTree>
    <p:extLst>
      <p:ext uri="{BB962C8B-B14F-4D97-AF65-F5344CB8AC3E}">
        <p14:creationId xmlns:p14="http://schemas.microsoft.com/office/powerpoint/2010/main" val="7210948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A3A093-2389-446F-9761-13F0BC8C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Il confronto con prodotti esistenti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F615D7-B7AE-43E1-8DCD-1C4ED08B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Confronto documentale di fonti ufficiali, aggiornato al 26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D04DD-745F-4A91-AEB8-10921D58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Fonti ufficiali dei prodotti. Confronto documentale, 26 ottobre 2026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4DE6B-0112-4499-B22B-42A9C988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18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3CA55-D80F-4868-909D-F056BF2A1700}"/>
              </a:ext>
            </a:extLst>
          </p:cNvPr>
          <p:cNvGraphicFramePr/>
          <p:nvPr/>
        </p:nvGraphicFramePr>
        <p:xfrm>
          <a:off xmlns:a="http://schemas.openxmlformats.org/drawingml/2006/main" x="685800" y="2066925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7962900"/>
              </a:tblGrid>
              <a:tr h="4953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Prodotto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Capacità descritte dalle fonti</a:t>
                      </a:r>
                    </a:p>
                  </a:txBody>
                  <a:tcPr marL="114300" marR="114300" marT="76200" marB="762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2D6551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SuperCook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Ricette dagli ingredienti indicati e aggiornamento alla loro rimozione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Samsung Food / Food+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Scorte e priorità, ricette anche senza data, assegnazione ai giorni e lista della spesa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Sously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63B34"/>
                          </a:solidFill>
                        </a:rPr>
                        <a:t>Sostituzioni con proporzioni e conseguenze, pianificazione di ricette o ingredienti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1CB47B-4664-492B-ABA4-2B2F82E9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3D32"/>
                </a:solidFill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Ipotesi CIBY: confrontare prima della scelta le conseguenze di un cambiamento su ingredienti rimasti, pasti e acquisti.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54E02-85BB-4AB0-9D32-E2B45830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8B5D14"/>
                </a:solidFill>
              </a:defRPr>
            </a:pPr>
            <a:r>
              <a:rPr sz="172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App non provate. Il confronto non dimostra unicità o un vantaggio della soluzione.</a:t>
            </a:r>
          </a:p>
        </p:txBody>
      </p:sp>
    </p:spTree>
    <p:extLst>
      <p:ext uri="{BB962C8B-B14F-4D97-AF65-F5344CB8AC3E}">
        <p14:creationId xmlns:p14="http://schemas.microsoft.com/office/powerpoint/2010/main" val="199051357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A29A97-BEDE-4377-8CA5-32D63EE0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Confronto e selezione della direzione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4840C-DE92-4152-8B65-24923460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D3 è la direzione che stiamo sviluppando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B930C-A708-4E3A-9F25-EF054D30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Confronto conclusivo da registrare con il metodo effettivamente usato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8B22AB-084D-47E0-9708-F2E11943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DD277-941D-4568-BB57-21C98D76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Ragione progettuale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EBE50E-A882-4325-A359-2E5A9307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048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D3 rende esplicito il legame tra imprevisti, destinazione degli ingredienti e quantità ancora necessarie.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C305E7-EC9C-4566-A885-53ABB601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907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Confronto da chiudere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28D63-0F41-44A9-B0CB-E74A3132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86050"/>
            <a:ext cx="5048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9483E"/>
                </a:solidFill>
              </a:defRPr>
            </a:pPr>
            <a:r>
              <a:rPr sz="22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Nei commenti B01 emerge come priorità. Dobbiamo chiarire il suo rapporto con D3 e il ruolo successivo della spesa.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94E801-4596-4DD7-93E1-3317AE8B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8B5D14"/>
                </a:solidFill>
              </a:defRPr>
            </a:pPr>
            <a:r>
              <a: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Da registrare: metodo realmente usato, contributi ed esito motivato del gruppo. Non disponiamo ancora di assegnazioni o conteggi condivisi.</a:t>
            </a:r>
          </a:p>
        </p:txBody>
      </p:sp>
    </p:spTree>
    <p:extLst>
      <p:ext uri="{BB962C8B-B14F-4D97-AF65-F5344CB8AC3E}">
        <p14:creationId xmlns:p14="http://schemas.microsoft.com/office/powerpoint/2010/main" val="151850906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E03BE5-B046-46E0-8CAF-B82C35AC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La soluzione concettuale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0BD56F-513A-496E-B6C2-42E1221E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D3 · Riorganizzare pasti e acquisti dopo un cambiamento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E896F-405E-4024-AAC5-F0ED898C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B03/B04, scenari L/A. B01/B02 per priorità e fattibilità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1C4D2-3933-4DDE-8EF4-4AE18F38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A9602A-1347-4170-9B99-1F298112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8204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83D32"/>
                </a:solidFill>
              </a:defRPr>
            </a:pPr>
            <a:r>
              <a:rPr sz="255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CIBY sostiene chi gestisce i propri pasti nel rivedere l’uso degli ingredienti quando cambia una preparazione o un’occasione di consumo.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B82EB-CF46-4DC9-B77D-092AB010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9483E"/>
                </a:solidFill>
              </a:defRPr>
            </a:pPr>
            <a:r>
              <a:rPr sz="24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Aiuta a confrontare alternative praticabili e comprenderne le conseguenze sugli ingredienti rimasti, sui pasti successivi e sulle quantità ancora da acquistare.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BF7CB-7C09-4215-9C1E-9C580E46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86B62"/>
                </a:solidFill>
              </a:defRPr>
            </a:pPr>
            <a:r>
              <a: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Sport: possibile contesto organizzativo degli allenamenti, esplorato con un caso simulato. Mascotte e AI restano ipotesi di realizzazione.</a:t>
            </a:r>
          </a:p>
        </p:txBody>
      </p:sp>
    </p:spTree>
    <p:extLst>
      <p:ext uri="{BB962C8B-B14F-4D97-AF65-F5344CB8AC3E}">
        <p14:creationId xmlns:p14="http://schemas.microsoft.com/office/powerpoint/2010/main" val="14081185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5CF8F0-DD3B-44C3-9148-34AD2F58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CIBY e la value proposition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7E727-23B6-4ABD-AA6A-E98EEF11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Beneficio che vogliamo comunicare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7419C-280E-428B-9352-984EDE8D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Nome CIBY e value proposition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AE37E-6F70-45CC-AA37-9B3D56F7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9FF48-6653-4BEC-A901-1CEA8995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8204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3D32"/>
                </a:solidFill>
              </a:defRPr>
            </a:pPr>
            <a:r>
              <a:rPr sz="345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CIBY ti aiuta a scegliere cosa preparare con gli alimenti che hai, adattando pasti e acquisti quando cambiano i programmi.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F40D3-89FE-43C6-8735-1E8F9C16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0820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>
              <a:buNone/>
              <a:defRPr sz="21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>
              <a:buNone/>
              <a:defRPr sz="21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>
              <a:buNone/>
              <a:defRPr sz="21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>
              <a:buNone/>
              <a:defRPr sz="21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>
              <a:buNone/>
              <a:defRPr sz="21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>
              <a:buNone/>
              <a:defRPr sz="21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>
              <a:buNone/>
              <a:defRPr sz="21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>
              <a:buNone/>
              <a:defRPr sz="21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>
              <a:buNone/>
              <a:defRPr sz="21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8B5D14"/>
                </a:solidFill>
              </a:defRPr>
            </a:pPr>
            <a:r>
              <a:rPr sz="195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Abbiamo scelto CIBY perché richiama il cibo, al centro dell’esperienza. Il suono amichevole si lega all’idea di una futura mascotte, o di un elemento caratteristico del progetto, che potrebbe chiamarsi CIBY.</a:t>
            </a:r>
          </a:p>
        </p:txBody>
      </p:sp>
    </p:spTree>
    <p:extLst>
      <p:ext uri="{BB962C8B-B14F-4D97-AF65-F5344CB8AC3E}">
        <p14:creationId xmlns:p14="http://schemas.microsoft.com/office/powerpoint/2010/main" val="195386418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0E03B-285D-449E-BBA3-4E3CE312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Fonti e materiali di riferimento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D7735-43DE-4EA8-A8E2-3BA98F27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Repository: github.com/andremauroo/CIBY · Bozza C2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63FBE-ACF4-4A7F-BE63-6E12178B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0B4BB-F704-496F-AE08-2D9E7475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Ricerca e analisi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3997F5-ECCA-4BCC-A439-E870FC24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23875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Report C1 P01-P05, con estratti e artefatti.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Bisogni B01-B04 e loro risposte specifiche.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Diario P02 e integrazione tematica: in attesa.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A2A90-2AFE-4487-8F97-04E07DA2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240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Processo e progettazione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47254-1DFF-45A0-9F39-983AAAA7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5105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Board FigJam e immagini del confronto.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Tre personas e quattro scenari concettuali.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Confronto documentale con prodotti esistenti. Fonti ufficiali in appendice.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E8B2C-55EC-4375-AE2F-DA6E5818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Riferimenti del corso: Compito2-focus.pdf, pp. 1-2, e dispense Requisiti, Personas e Scenari.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DC0496-A37D-4AF6-9694-94B03A25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Integrazioni ancora aperte: diario e analisi, contributi individuali e confronto conclusivo.</a:t>
            </a:r>
          </a:p>
        </p:txBody>
      </p:sp>
    </p:spTree>
    <p:extLst>
      <p:ext uri="{BB962C8B-B14F-4D97-AF65-F5344CB8AC3E}">
        <p14:creationId xmlns:p14="http://schemas.microsoft.com/office/powerpoint/2010/main" val="4071277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092094-C149-458E-8598-E075E47C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Luca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4CCE7-81EA-4867-85BD-67EE3B58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Persona primaria di lavoro · 21 anni, studente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7E9BA-331E-47D2-BBE9-223827F2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P02-E06/E07/E08/E10/E12; P03-E04/E05/E07/E08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721D1-31FF-4F4E-B984-238712FB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46C5CC-2530-4841-918B-A74F33B8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Gestisce principalmente acquisti e pasti personali. Compra pensando all’utilizzo, ma un cambiamento può lasciare ingredienti senza una destinazione.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A5D6E5-7754-4B5B-9D3E-45C06347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Desidera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60D7E9-62EE-4657-A1D3-9157654A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Usare gli acquisti mantenendo flessibilità.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Rivedere i pasti senza ricostruire tutto il programma.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94740-2251-4320-8974-21E14DF4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38500"/>
            <a:ext cx="5105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Ha bisogno di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38A68-628E-47C2-A37C-B676CA6F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14750"/>
            <a:ext cx="5105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Confrontare adattamento e rinvio.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Assegnare un uso agli ingredienti rimasti.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Valutare quantità e occasioni prima della spesa.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A47EA-11F6-452E-BD4A-977E79C4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Frustrazioni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4C6135-4C85-4538-B324-7132C9B7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Rimandare senza una nuova occasione concreta.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Trovare confezioni oltre le possibilità di utilizzo.</a:t>
            </a:r>
          </a:p>
        </p:txBody>
      </p:sp>
    </p:spTree>
    <p:extLst>
      <p:ext uri="{BB962C8B-B14F-4D97-AF65-F5344CB8AC3E}">
        <p14:creationId xmlns:p14="http://schemas.microsoft.com/office/powerpoint/2010/main" val="35152595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B90A7C-7665-4AA1-98B4-C7F82AA1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Gianfranco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D82709-9F6C-446E-ACC4-913CD22D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Persona complementare · 21 anni, studente fuori sede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8F7A8-877D-4FF5-A4AB-15BF47D3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P01-E01/E09; P02-E03/E10/E12; P03-E12/E13; P05-E06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E1FDF-72AA-4FD5-B70B-3A424B27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4674F-6E23-491B-B8FC-A4CEA2BF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Si occupa di acquisti e pasti propri. Usa preparazioni familiari e vorrebbe variare, ma deve valutare l’impegno possibile nella singola serata.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FAAD0-56B4-4D60-B61B-C77C0976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Desidera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E8ED2-EA41-4D6B-9EA1-D5B768B6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Preparare una cena soddisfacente.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Variare gradualmente con un impegno sostenibile.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58D60-289C-46CC-B919-FD52C6EA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38500"/>
            <a:ext cx="5105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Ha bisogno di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6B6678-2E5F-40FB-BDB9-3D57574D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14750"/>
            <a:ext cx="5105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Confrontare ingredienti, tempo e passaggi.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Capire l’impegno prima di scegliere.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Collegare un alimento a un pasto fattibile.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CAECE4-EB29-4B86-A120-BE74E664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Frustrazioni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F61DA0-5F65-4EC4-B7B5-1ABEBEC3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Scoprire tardi che una ricetta è troppo impegnativa.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Ripetere gli stessi piatti per lo sforzo di scelta.</a:t>
            </a:r>
          </a:p>
        </p:txBody>
      </p:sp>
    </p:spTree>
    <p:extLst>
      <p:ext uri="{BB962C8B-B14F-4D97-AF65-F5344CB8AC3E}">
        <p14:creationId xmlns:p14="http://schemas.microsoft.com/office/powerpoint/2010/main" val="115203963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33BB79-D0D8-47EC-A19A-31826892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Marta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3E4C71-5126-4965-823F-AB7FF0CF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Persona complementare · 26 anni, studia e lavora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49E32-7923-4762-A2AD-ECEBFFA7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P01-E01/E03/E05/E08/E09; P05-E03/E04/E11 · Bozza C2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87D0B-05EE-4E02-82AB-B09AEA60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DCB6E-7FB6-40D1-9C12-070727B8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Vive con il partner e gestisce buona parte dei pasti per due. Prepara la sera il pranzo da portare al lavoro; gli alimenti fuori routine possono restare meno visibili.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0357DF-AD6B-4281-B0E0-AC92BCD0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Desidera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8FADA-1471-4B83-B629-4E0CA668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Conciliare cena per due e pranzo anticipato.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Mantenere pratica la propria organizzazione.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9CFEA8-087B-488F-BC93-F3E477AF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38500"/>
            <a:ext cx="5105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Ha bisogno di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B92D55-107B-4933-95D7-2B84E595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14750"/>
            <a:ext cx="5105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Riconoscere prodotti fuori routine e priorità.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Assegnare gli ingredienti ai pasti effettivi.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Coordinare preparazioni e quantità.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4821D1-0D8C-402C-A835-7312C77C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Frustrazioni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77FDA-6EE8-4710-AF0F-8575BD45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Dover scegliere quando ha poche energie.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263B34"/>
                </a:solidFill>
                <a:latin typeface="Noto Sans"/>
                <a:ea typeface="Noto Sans"/>
                <a:cs typeface="Noto Sans"/>
              </a:rPr>
              <a:t>Ritrovare troppo tardi un alimento trascurato.</a:t>
            </a:r>
          </a:p>
        </p:txBody>
      </p:sp>
    </p:spTree>
    <p:extLst>
      <p:ext uri="{BB962C8B-B14F-4D97-AF65-F5344CB8AC3E}">
        <p14:creationId xmlns:p14="http://schemas.microsoft.com/office/powerpoint/2010/main" val="116955498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5BFCCE-AC9F-476F-B5C7-B163C053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Fonti del confronto documentale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0EDD27-83F9-45A6-BB02-E0BF0941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22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Fonti ufficiali consultate il 26 ottobre 2026 · Bozza C2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FB40E7-02B7-411E-84D8-A7D88B31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6645D"/>
                </a:solidFill>
                <a:latin typeface="Noto Sans"/>
                <a:ea typeface="Noto Sans"/>
                <a:cs typeface="Noto Sans"/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D0537-1FDF-4702-8CA6-600C99A2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SuperCook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1D0AF-B04C-43CC-A82C-760D53AC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76375"/>
            <a:ext cx="8058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pPr>
            <a:r>
              <a:rPr sz="1950" u="sng">
                <a:solidFill>
                  <a:srgbClr val="2D6551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5341bc50cf564450"/>
              </a:rPr>
              <a:t>Descrizione dello sviluppatore nell’App Store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D1F78-4EB8-409B-A824-113834FE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Samsung Food+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86408-4AC0-49DC-A212-4224EE81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0275"/>
            <a:ext cx="8058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pPr>
            <a:r>
              <a:rPr sz="1950" u="sng">
                <a:solidFill>
                  <a:srgbClr val="2D6551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7ca992d197584c91"/>
              </a:rPr>
              <a:t>Food+ e priorità degli alimenti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FF802-6E52-43F6-BA98-3E7F6436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Samsung Food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F539E5-316F-487B-92FC-6724361A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924175"/>
            <a:ext cx="8058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pPr>
            <a:r>
              <a:rPr sz="1950" u="sng">
                <a:solidFill>
                  <a:srgbClr val="2D6551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9be5be7b72734800"/>
              </a:rPr>
              <a:t>Food List e gestione delle scorte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7B90C4-733A-4815-80DA-2E2D0061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Samsung Food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ADD1B5-37F4-4445-A461-43FEFE7E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48075"/>
            <a:ext cx="8058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pPr>
            <a:r>
              <a:rPr sz="1950" u="sng">
                <a:solidFill>
                  <a:srgbClr val="2D6551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b3ccd7b9f4d54575"/>
              </a:rPr>
              <a:t>Meal Planner e ricette senza 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790E39-4D6D-4F12-84AA-A2E18896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Sously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34206-5C6C-44DA-AC04-5E057A95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71975"/>
            <a:ext cx="8058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pPr>
            <a:r>
              <a:rPr sz="1950" u="sng">
                <a:solidFill>
                  <a:srgbClr val="2D6551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1a4406e9c1a0439d"/>
              </a:rPr>
              <a:t>Sostituzioni e conseguenze sulla preparazione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DADA1-09E3-443A-B94A-FFEF311E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73A30"/>
                </a:solidFill>
                <a:latin typeface="Noto Sans"/>
                <a:ea typeface="Noto Sans"/>
                <a:cs typeface="Noto Sans"/>
              </a:rPr>
              <a:t>Sously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055CE3-0709-4948-B8C7-A23D204D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95875"/>
            <a:ext cx="8058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defPPr>
            <a:lvl1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1pPr>
            <a:lvl2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2pPr>
            <a:lvl3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3pPr>
            <a:lvl4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4pPr>
            <a:lvl5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5pPr>
            <a:lvl6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6pPr>
            <a:lvl7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7pPr>
            <a:lvl8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8pPr>
            <a:lvl9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2D6551"/>
                </a:solidFill>
                <a:latin typeface="Noto Sans"/>
                <a:ea typeface="Noto Sans"/>
                <a:cs typeface="Noto Sans"/>
              </a:defRPr>
            </a:pPr>
            <a:r>
              <a:rPr sz="1950" u="sng">
                <a:solidFill>
                  <a:srgbClr val="2D6551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e59305d45dc74653"/>
              </a:rPr>
              <a:t>Pianificazione di ricette o ingredienti</a:t>
            </a:r>
          </a:p>
        </p:txBody>
      </p:sp>
    </p:spTree>
    <p:extLst>
      <p:ext uri="{BB962C8B-B14F-4D97-AF65-F5344CB8AC3E}">
        <p14:creationId xmlns:p14="http://schemas.microsoft.com/office/powerpoint/2010/main" val="5152940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2026-10-26T18:34:42.8660000Z</dcterms:created>
  <dcterms:modified xsi:type="dcterms:W3CDTF">2026-10-26T18:34:42.8660000Z</dcterms:modified>
</coreProperties>
</file>